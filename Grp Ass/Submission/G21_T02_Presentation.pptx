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5143500" cx="9144000"/>
  <p:notesSz cx="6858000" cy="9144000"/>
  <p:embeddedFontLst>
    <p:embeddedFont>
      <p:font typeface="Alexandria Medium"/>
      <p:regular r:id="rId87"/>
      <p:bold r:id="rId88"/>
    </p:embeddedFont>
    <p:embeddedFont>
      <p:font typeface="Albert Sans"/>
      <p:regular r:id="rId89"/>
      <p:bold r:id="rId90"/>
      <p:italic r:id="rId91"/>
      <p:boldItalic r:id="rId92"/>
    </p:embeddedFont>
    <p:embeddedFont>
      <p:font typeface="Alexandria"/>
      <p:regular r:id="rId93"/>
      <p:bold r:id="rId94"/>
    </p:embeddedFont>
    <p:embeddedFont>
      <p:font typeface="Roboto Mono"/>
      <p:regular r:id="rId95"/>
      <p:bold r:id="rId96"/>
      <p:italic r:id="rId97"/>
      <p:boldItalic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58B469-A7CC-4DD4-B106-2F5731AF3B14}">
  <a:tblStyle styleId="{FC58B469-A7CC-4DD4-B106-2F5731AF3B1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obotoMono-regular.fntdata"/><Relationship Id="rId94" Type="http://schemas.openxmlformats.org/officeDocument/2006/relationships/font" Target="fonts/Alexandria-bold.fntdata"/><Relationship Id="rId97" Type="http://schemas.openxmlformats.org/officeDocument/2006/relationships/font" Target="fonts/RobotoMono-italic.fntdata"/><Relationship Id="rId96"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98"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AlbertSans-italic.fntdata"/><Relationship Id="rId90" Type="http://schemas.openxmlformats.org/officeDocument/2006/relationships/font" Target="fonts/AlbertSans-bold.fntdata"/><Relationship Id="rId93" Type="http://schemas.openxmlformats.org/officeDocument/2006/relationships/font" Target="fonts/Alexandria-regular.fntdata"/><Relationship Id="rId92" Type="http://schemas.openxmlformats.org/officeDocument/2006/relationships/font" Target="fonts/Albert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font" Target="fonts/AlexandriaMedium-bold.fntdata"/><Relationship Id="rId87" Type="http://schemas.openxmlformats.org/officeDocument/2006/relationships/font" Target="fonts/AlexandriaMedium-regular.fntdata"/><Relationship Id="rId89" Type="http://schemas.openxmlformats.org/officeDocument/2006/relationships/font" Target="fonts/AlbertSans-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558abb5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558abb5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553b51d4f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553b51d4f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58abb5fb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58abb5fb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63ad9cd2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763ad9cd2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Sub</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63ad9cd2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63ad9cd2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Sub</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763ad9cd23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763ad9cd23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Sub</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7568763ba4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7568763ba4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568763ba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7568763ba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64100fc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764100fc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rice _display is not </a:t>
            </a:r>
            <a:r>
              <a:rPr lang="en"/>
              <a:t>useful</a:t>
            </a:r>
            <a:r>
              <a:rPr lang="en"/>
              <a:t> for prediction-</a:t>
            </a:r>
            <a:r>
              <a:rPr lang="en">
                <a:solidFill>
                  <a:schemeClr val="dk1"/>
                </a:solidFill>
              </a:rPr>
              <a:t>The price_display column is not useful because it's a form of data leakage. It's essentially a copy or a slightly different format of your target variable, price</a:t>
            </a:r>
            <a:br>
              <a:rPr lang="en"/>
            </a:br>
            <a:r>
              <a:rPr lang="en"/>
              <a:t>Id,title and body -These columns are not useful because they are either random identifiers or contain text that is too unique to each apartment. This makes them poor predictors for a general model</a:t>
            </a:r>
            <a:endParaRPr/>
          </a:p>
          <a:p>
            <a:pPr indent="0" lvl="0" marL="0" rtl="0" algn="l">
              <a:spcBef>
                <a:spcPts val="0"/>
              </a:spcBef>
              <a:spcAft>
                <a:spcPts val="0"/>
              </a:spcAft>
              <a:buNone/>
            </a:pPr>
            <a:r>
              <a:rPr lang="en"/>
              <a:t>median is used as it is </a:t>
            </a:r>
            <a:r>
              <a:rPr lang="en"/>
              <a:t>less sensitive to outliers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quare_feet might range from 500 to 3000.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bathrooms might range from 1 to 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a machine learning model, a change of +500 in square_feet looks huge compared to a change of +1 in bathrooms. The model might mistakenly believe that square_feet is hundreds of times more important than bathrooms simply because its numbers are bigger.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64100fc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764100fc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prepare our data, we used a ColumnTransformer to automatically scale our numeric features and one-hot encode our text categories. This single step transformed our raw data into a clean, purely numerical format, ensuring it was consistent and ready for model training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568763ba4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7568763ba4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568763ba4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7568763ba4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Gather data on the dependent and independent variables,fit linear equation to data,use linear equation to predict the data</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568763ba4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568763ba4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568763ba4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568763ba4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764100fc8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764100fc8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7568763ba4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7568763ba4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764100fc8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764100fc8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568763ba4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7568763ba4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764100fc8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764100fc8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7568763ba4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7568763ba4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763ad9cd2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763ad9cd2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763ad9cd23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763ad9cd23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Wen mi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63ad9cd2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763ad9cd2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763ad9cd2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763ad9cd2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763ad9cd23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763ad9cd23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763ad9cd23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763ad9cd23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763ad9cd23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763ad9cd23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763ad9cd23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763ad9cd23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763ad9cd23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763ad9cd23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63ad9cd23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763ad9cd23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63ad9cd23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763ad9cd23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763ad9cd23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763ad9cd23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763ad9cd23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763ad9cd23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763ad9cd2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763ad9cd2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763ad9cd23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763ad9cd23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763ad9cd2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763ad9cd2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Wen mi</a:t>
            </a:r>
            <a:endParaRPr sz="1200">
              <a:solidFill>
                <a:srgbClr val="15110E"/>
              </a:solidFill>
              <a:latin typeface="Albert Sans"/>
              <a:ea typeface="Albert Sans"/>
              <a:cs typeface="Albert Sans"/>
              <a:sym typeface="Albert Sans"/>
            </a:endParaRPr>
          </a:p>
          <a:p>
            <a:pPr indent="0" lvl="0" marL="0" rtl="0" algn="l">
              <a:spcBef>
                <a:spcPts val="0"/>
              </a:spcBef>
              <a:spcAft>
                <a:spcPts val="0"/>
              </a:spcAft>
              <a:buClr>
                <a:schemeClr val="dk1"/>
              </a:buClr>
              <a:buSzPts val="1100"/>
              <a:buFont typeface="Arial"/>
              <a:buNone/>
            </a:pPr>
            <a:r>
              <a:rPr lang="en" sz="1200">
                <a:solidFill>
                  <a:srgbClr val="15110E"/>
                </a:solidFill>
                <a:latin typeface="Albert Sans"/>
                <a:ea typeface="Albert Sans"/>
                <a:cs typeface="Albert Sans"/>
                <a:sym typeface="Albert Sans"/>
              </a:rPr>
              <a:t>2 criterias: </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All categorical columns iterated must contained at least 2 distinct value.</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All numerical columns iterated must not contained empty value.</a:t>
            </a:r>
            <a:endParaRPr sz="1200">
              <a:solidFill>
                <a:srgbClr val="15110E"/>
              </a:solidFill>
              <a:latin typeface="Albert Sans"/>
              <a:ea typeface="Albert Sans"/>
              <a:cs typeface="Albert Sans"/>
              <a:sym typeface="Albert Sans"/>
            </a:endParaRPr>
          </a:p>
          <a:p>
            <a:pPr indent="0" lvl="0" marL="0" rtl="0" algn="l">
              <a:spcBef>
                <a:spcPts val="1600"/>
              </a:spcBef>
              <a:spcAft>
                <a:spcPts val="0"/>
              </a:spcAft>
              <a:buNone/>
            </a:pPr>
            <a:r>
              <a:rPr lang="en" sz="1200">
                <a:solidFill>
                  <a:srgbClr val="15110E"/>
                </a:solidFill>
                <a:latin typeface="Albert Sans"/>
                <a:ea typeface="Albert Sans"/>
                <a:cs typeface="Albert Sans"/>
                <a:sym typeface="Albert Sans"/>
              </a:rPr>
              <a:t>Symbols for the R-like formula:</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 Separates the target from features (e.g. work as: =)</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 Concatenate terms. If "+0", this will remove the intercept.</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 Removes a term, "-1" will remove the intercept.</a:t>
            </a:r>
            <a:endParaRPr sz="1200">
              <a:solidFill>
                <a:srgbClr val="15110E"/>
              </a:solidFill>
              <a:latin typeface="Albert Sans"/>
              <a:ea typeface="Albert Sans"/>
              <a:cs typeface="Albert Sans"/>
              <a:sym typeface="Albert Sans"/>
            </a:endParaRPr>
          </a:p>
          <a:p>
            <a:pPr indent="-213359" lvl="0" marL="274320" rtl="0" algn="l">
              <a:spcBef>
                <a:spcPts val="0"/>
              </a:spcBef>
              <a:spcAft>
                <a:spcPts val="0"/>
              </a:spcAft>
              <a:buClr>
                <a:srgbClr val="5296B8"/>
              </a:buClr>
              <a:buSzPts val="1200"/>
              <a:buFont typeface="Albert Sans"/>
              <a:buChar char="■"/>
            </a:pPr>
            <a:r>
              <a:rPr lang="en" sz="1200">
                <a:solidFill>
                  <a:srgbClr val="15110E"/>
                </a:solidFill>
                <a:latin typeface="Albert Sans"/>
                <a:ea typeface="Albert Sans"/>
                <a:cs typeface="Albert Sans"/>
                <a:sym typeface="Albert Sans"/>
              </a:rPr>
              <a:t>`:` Allow to create interactions between columns (e.g. y ~ a + b + a:b will correspond to y = w0 + (w1 x a) + (w2 x b) + (w3 x a x b), where the w's are coefficients)</a:t>
            </a:r>
            <a:endParaRPr sz="1200">
              <a:solidFill>
                <a:srgbClr val="15110E"/>
              </a:solidFill>
              <a:latin typeface="Albert Sans"/>
              <a:ea typeface="Albert Sans"/>
              <a:cs typeface="Albert Sans"/>
              <a:sym typeface="Albert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763ad9cd23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763ad9cd23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763ad9cd23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763ad9cd23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763ad9cd23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763ad9cd23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763ad9cd23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763ad9cd2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65c076b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765c076b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765c076b8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765c076b8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765c076b8d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765c076b8d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765c076b8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765c076b8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765c076b8d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765c076b8d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765c076b8d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765c076b8d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765c076b8d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765c076b8d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765c076b8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765c076b8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765c076b8d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765c076b8d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765c076b8d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765c076b8d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765c076b8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765c076b8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765c076b8d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765c076b8d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765c076b8d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765c076b8d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763ad9cd23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763ad9cd23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wm</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767ff936d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767ff936d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763ad9cd23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763ad9cd23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763ad9cd23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763ad9cd23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763ad9cd23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763ad9cd23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763ad9cd23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763ad9cd23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766b8f36c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766b8f36c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766b8f36c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766b8f36c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764100fc8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764100fc8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764100fc8a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764100fc8a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766b8f36c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766b8f36c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763ad9cd23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763ad9cd23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Harshita</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763ad9cd23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763ad9cd23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Harshita</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763ad9cd23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763ad9cd23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Harshita</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765c076b8d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765c076b8d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7568763ba4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7568763ba4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25685abcf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25685abcf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765c076b8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765c076b8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765c076b8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765c076b8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765c076b8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765c076b8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765c076b8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765c076b8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765c076b8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765c076b8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Basil and Kishore</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764100fc8a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764100fc8a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767ff936d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767ff936d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767ff936d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767ff936d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767ff936d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767ff936d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767ff936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767ff936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767ff936d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767ff936d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b="2272" l="-19689" r="19690" t="41478"/>
          <a:stretch/>
        </p:blipFill>
        <p:spPr>
          <a:xfrm>
            <a:off x="0" y="0"/>
            <a:ext cx="9144000" cy="5143500"/>
          </a:xfrm>
          <a:prstGeom prst="rect">
            <a:avLst/>
          </a:prstGeom>
          <a:noFill/>
          <a:ln>
            <a:noFill/>
          </a:ln>
        </p:spPr>
      </p:pic>
      <p:sp>
        <p:nvSpPr>
          <p:cNvPr id="11" name="Google Shape;11;p2"/>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b="-40" l="36283" r="-6" t="30"/>
          <a:stretch/>
        </p:blipFill>
        <p:spPr>
          <a:xfrm rot="10800000">
            <a:off x="5864950" y="-3275"/>
            <a:ext cx="3279050" cy="5146775"/>
          </a:xfrm>
          <a:prstGeom prst="rect">
            <a:avLst/>
          </a:prstGeom>
          <a:noFill/>
          <a:ln>
            <a:noFill/>
          </a:ln>
        </p:spPr>
      </p:pic>
      <p:sp>
        <p:nvSpPr>
          <p:cNvPr id="16" name="Google Shape;16;p3"/>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715100" y="2074250"/>
            <a:ext cx="7708800" cy="1253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6000"/>
              <a:buNone/>
              <a:defRPr sz="7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9"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b="41635" l="174697" r="177064" t="-83399"/>
          <a:stretch/>
        </p:blipFill>
        <p:spPr>
          <a:xfrm>
            <a:off x="1325" y="-1637"/>
            <a:ext cx="9141450" cy="5146775"/>
          </a:xfrm>
          <a:prstGeom prst="rect">
            <a:avLst/>
          </a:prstGeom>
          <a:noFill/>
          <a:ln>
            <a:noFill/>
          </a:ln>
        </p:spPr>
      </p:pic>
      <p:sp>
        <p:nvSpPr>
          <p:cNvPr id="21" name="Google Shape;21;p4"/>
          <p:cNvSpPr txBox="1"/>
          <p:nvPr>
            <p:ph type="title"/>
          </p:nvPr>
        </p:nvSpPr>
        <p:spPr>
          <a:xfrm>
            <a:off x="715100" y="535000"/>
            <a:ext cx="3856800" cy="9489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2" name="Google Shape;22;p4"/>
          <p:cNvSpPr txBox="1"/>
          <p:nvPr>
            <p:ph idx="1" type="body"/>
          </p:nvPr>
        </p:nvSpPr>
        <p:spPr>
          <a:xfrm>
            <a:off x="715100" y="1636300"/>
            <a:ext cx="3856800" cy="18948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23" name="Google Shape;23;p4"/>
          <p:cNvSpPr/>
          <p:nvPr>
            <p:ph idx="2" type="pic"/>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
        <p:nvSpPr>
          <p:cNvPr id="26" name="Google Shape;26;p5"/>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8" name="Google Shape;28;p5"/>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47851" l="104756" r="280062" t="-108210"/>
          <a:stretch/>
        </p:blipFill>
        <p:spPr>
          <a:xfrm rot="10800000">
            <a:off x="1325" y="-1637"/>
            <a:ext cx="9141450" cy="5146775"/>
          </a:xfrm>
          <a:prstGeom prst="rect">
            <a:avLst/>
          </a:prstGeom>
          <a:noFill/>
          <a:ln>
            <a:noFill/>
          </a:ln>
        </p:spPr>
      </p:pic>
      <p:sp>
        <p:nvSpPr>
          <p:cNvPr id="31" name="Google Shape;31;p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34585" l="130683" r="175247" t="-50527"/>
          <a:stretch/>
        </p:blipFill>
        <p:spPr>
          <a:xfrm>
            <a:off x="1325" y="-1637"/>
            <a:ext cx="9141450" cy="5146775"/>
          </a:xfrm>
          <a:prstGeom prst="rect">
            <a:avLst/>
          </a:prstGeom>
          <a:noFill/>
          <a:ln>
            <a:noFill/>
          </a:ln>
        </p:spPr>
      </p:pic>
      <p:sp>
        <p:nvSpPr>
          <p:cNvPr id="34" name="Google Shape;34;p7"/>
          <p:cNvSpPr txBox="1"/>
          <p:nvPr>
            <p:ph type="title"/>
          </p:nvPr>
        </p:nvSpPr>
        <p:spPr>
          <a:xfrm>
            <a:off x="715100" y="535000"/>
            <a:ext cx="3856800" cy="954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35" name="Google Shape;35;p7"/>
          <p:cNvSpPr txBox="1"/>
          <p:nvPr>
            <p:ph idx="1" type="body"/>
          </p:nvPr>
        </p:nvSpPr>
        <p:spPr>
          <a:xfrm>
            <a:off x="715100" y="1641400"/>
            <a:ext cx="3856800" cy="7263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36" name="Google Shape;36;p7"/>
          <p:cNvSpPr/>
          <p:nvPr>
            <p:ph idx="2" type="pic"/>
          </p:nvPr>
        </p:nvSpPr>
        <p:spPr>
          <a:xfrm>
            <a:off x="5714900" y="-7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37"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b="2272" l="-19689" r="19690" t="41478"/>
          <a:stretch/>
        </p:blipFill>
        <p:spPr>
          <a:xfrm>
            <a:off x="0" y="0"/>
            <a:ext cx="9144000" cy="5143500"/>
          </a:xfrm>
          <a:prstGeom prst="rect">
            <a:avLst/>
          </a:prstGeom>
          <a:noFill/>
          <a:ln>
            <a:noFill/>
          </a:ln>
        </p:spPr>
      </p:pic>
      <p:sp>
        <p:nvSpPr>
          <p:cNvPr id="39" name="Google Shape;39;p8"/>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26994" l="7043" r="-48486" t="47434"/>
          <a:stretch/>
        </p:blipFill>
        <p:spPr>
          <a:xfrm flipH="1" rot="10800000">
            <a:off x="-12" y="-2285"/>
            <a:ext cx="9144000" cy="5148070"/>
          </a:xfrm>
          <a:prstGeom prst="rect">
            <a:avLst/>
          </a:prstGeom>
          <a:noFill/>
          <a:ln>
            <a:noFill/>
          </a:ln>
        </p:spPr>
      </p:pic>
      <p:sp>
        <p:nvSpPr>
          <p:cNvPr id="42" name="Google Shape;42;p9"/>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3" name="Google Shape;43;p9"/>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p:nvPr>
            <p:ph idx="2" type="pic"/>
          </p:nvPr>
        </p:nvSpPr>
        <p:spPr>
          <a:xfrm>
            <a:off x="0" y="0"/>
            <a:ext cx="9144000" cy="5143500"/>
          </a:xfrm>
          <a:prstGeom prst="rect">
            <a:avLst/>
          </a:prstGeom>
          <a:noFill/>
          <a:ln>
            <a:noFill/>
          </a:ln>
        </p:spPr>
      </p:sp>
      <p:sp>
        <p:nvSpPr>
          <p:cNvPr id="46" name="Google Shape;46;p10"/>
          <p:cNvSpPr txBox="1"/>
          <p:nvPr>
            <p:ph type="title"/>
          </p:nvPr>
        </p:nvSpPr>
        <p:spPr>
          <a:xfrm>
            <a:off x="715100" y="4059800"/>
            <a:ext cx="7713600" cy="548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500"/>
              <a:buNone/>
              <a:defRPr/>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47"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b="-6811" l="-55210" r="55209" t="50562"/>
          <a:stretch/>
        </p:blipFill>
        <p:spPr>
          <a:xfrm flipH="1" rot="10800000">
            <a:off x="0" y="0"/>
            <a:ext cx="9144000" cy="5143500"/>
          </a:xfrm>
          <a:prstGeom prst="rect">
            <a:avLst/>
          </a:prstGeom>
          <a:noFill/>
          <a:ln>
            <a:noFill/>
          </a:ln>
        </p:spPr>
      </p:pic>
      <p:sp>
        <p:nvSpPr>
          <p:cNvPr id="50" name="Google Shape;50;p11"/>
          <p:cNvSpPr txBox="1"/>
          <p:nvPr>
            <p:ph hasCustomPrompt="1" type="title"/>
          </p:nvPr>
        </p:nvSpPr>
        <p:spPr>
          <a:xfrm>
            <a:off x="715100" y="3068600"/>
            <a:ext cx="7713900" cy="15399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55" name="Google Shape;55;p13"/>
          <p:cNvSpPr txBox="1"/>
          <p:nvPr>
            <p:ph hasCustomPrompt="1" type="title"/>
          </p:nvPr>
        </p:nvSpPr>
        <p:spPr>
          <a:xfrm>
            <a:off x="1070650"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idx="1" type="subTitle"/>
          </p:nvPr>
        </p:nvSpPr>
        <p:spPr>
          <a:xfrm>
            <a:off x="1609075"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57" name="Google Shape;57;p13"/>
          <p:cNvSpPr txBox="1"/>
          <p:nvPr>
            <p:ph idx="2"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58" name="Google Shape;58;p13"/>
          <p:cNvSpPr txBox="1"/>
          <p:nvPr>
            <p:ph hasCustomPrompt="1" idx="3" type="title"/>
          </p:nvPr>
        </p:nvSpPr>
        <p:spPr>
          <a:xfrm>
            <a:off x="1070650" y="21035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p:nvPr>
            <p:ph idx="4" type="subTitle"/>
          </p:nvPr>
        </p:nvSpPr>
        <p:spPr>
          <a:xfrm>
            <a:off x="1609075" y="2103524"/>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0" name="Google Shape;60;p13"/>
          <p:cNvSpPr txBox="1"/>
          <p:nvPr>
            <p:ph hasCustomPrompt="1" idx="5" type="title"/>
          </p:nvPr>
        </p:nvSpPr>
        <p:spPr>
          <a:xfrm>
            <a:off x="1070650" y="28397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idx="6" type="subTitle"/>
          </p:nvPr>
        </p:nvSpPr>
        <p:spPr>
          <a:xfrm>
            <a:off x="1609075" y="28397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2" name="Google Shape;62;p13"/>
          <p:cNvSpPr txBox="1"/>
          <p:nvPr>
            <p:ph hasCustomPrompt="1" idx="7" type="title"/>
          </p:nvPr>
        </p:nvSpPr>
        <p:spPr>
          <a:xfrm>
            <a:off x="1070650" y="35759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idx="8" type="subTitle"/>
          </p:nvPr>
        </p:nvSpPr>
        <p:spPr>
          <a:xfrm>
            <a:off x="1609075" y="35759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4" name="Google Shape;64;p13"/>
          <p:cNvSpPr txBox="1"/>
          <p:nvPr>
            <p:ph hasCustomPrompt="1" idx="9" type="title"/>
          </p:nvPr>
        </p:nvSpPr>
        <p:spPr>
          <a:xfrm>
            <a:off x="4927449"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idx="13" type="subTitle"/>
          </p:nvPr>
        </p:nvSpPr>
        <p:spPr>
          <a:xfrm>
            <a:off x="5465950"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6" name="Google Shape;66;p13"/>
          <p:cNvSpPr txBox="1"/>
          <p:nvPr>
            <p:ph hasCustomPrompt="1" idx="14" type="title"/>
          </p:nvPr>
        </p:nvSpPr>
        <p:spPr>
          <a:xfrm>
            <a:off x="4927449" y="2103522"/>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idx="15" type="subTitle"/>
          </p:nvPr>
        </p:nvSpPr>
        <p:spPr>
          <a:xfrm>
            <a:off x="5465950" y="2103519"/>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8" name="Google Shape;68;p13"/>
          <p:cNvSpPr txBox="1"/>
          <p:nvPr>
            <p:ph hasCustomPrompt="1" idx="16" type="title"/>
          </p:nvPr>
        </p:nvSpPr>
        <p:spPr>
          <a:xfrm>
            <a:off x="4927449" y="2839728"/>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idx="17" type="subTitle"/>
          </p:nvPr>
        </p:nvSpPr>
        <p:spPr>
          <a:xfrm>
            <a:off x="5465950" y="2839721"/>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0" name="Google Shape;70;p13"/>
          <p:cNvSpPr txBox="1"/>
          <p:nvPr>
            <p:ph hasCustomPrompt="1" idx="18" type="title"/>
          </p:nvPr>
        </p:nvSpPr>
        <p:spPr>
          <a:xfrm>
            <a:off x="4927449" y="35759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p:nvPr>
            <p:ph idx="19" type="subTitle"/>
          </p:nvPr>
        </p:nvSpPr>
        <p:spPr>
          <a:xfrm>
            <a:off x="5465950" y="3575916"/>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b="-35825" l="-6643" r="27548" t="13471"/>
          <a:stretch/>
        </p:blipFill>
        <p:spPr>
          <a:xfrm>
            <a:off x="5819050" y="0"/>
            <a:ext cx="3324950" cy="5143500"/>
          </a:xfrm>
          <a:prstGeom prst="rect">
            <a:avLst/>
          </a:prstGeom>
          <a:noFill/>
          <a:ln>
            <a:noFill/>
          </a:ln>
        </p:spPr>
      </p:pic>
      <p:pic>
        <p:nvPicPr>
          <p:cNvPr id="74" name="Google Shape;74;p14"/>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75" name="Google Shape;75;p14"/>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76" name="Google Shape;76;p14"/>
          <p:cNvSpPr txBox="1"/>
          <p:nvPr>
            <p:ph idx="2" type="subTitle"/>
          </p:nvPr>
        </p:nvSpPr>
        <p:spPr>
          <a:xfrm>
            <a:off x="715100" y="3965300"/>
            <a:ext cx="5930100" cy="456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77"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b="2272" l="-19689" r="19690" t="41478"/>
          <a:stretch/>
        </p:blipFill>
        <p:spPr>
          <a:xfrm flipH="1" rot="10800000">
            <a:off x="0" y="-2285"/>
            <a:ext cx="9144000" cy="5148070"/>
          </a:xfrm>
          <a:prstGeom prst="rect">
            <a:avLst/>
          </a:prstGeom>
          <a:noFill/>
          <a:ln>
            <a:noFill/>
          </a:ln>
        </p:spPr>
      </p:pic>
      <p:sp>
        <p:nvSpPr>
          <p:cNvPr id="79" name="Google Shape;79;p15"/>
          <p:cNvSpPr txBox="1"/>
          <p:nvPr>
            <p:ph type="title"/>
          </p:nvPr>
        </p:nvSpPr>
        <p:spPr>
          <a:xfrm>
            <a:off x="715100" y="2259575"/>
            <a:ext cx="4276800" cy="2317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70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0" name="Google Shape;80;p15"/>
          <p:cNvSpPr txBox="1"/>
          <p:nvPr>
            <p:ph idx="1" type="body"/>
          </p:nvPr>
        </p:nvSpPr>
        <p:spPr>
          <a:xfrm>
            <a:off x="4572000" y="535000"/>
            <a:ext cx="3856500" cy="809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4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lt1"/>
        </a:solidFill>
      </p:bgPr>
    </p:bg>
    <p:spTree>
      <p:nvGrpSpPr>
        <p:cNvPr id="8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b="-26994" l="7043" r="-48486" t="47434"/>
          <a:stretch/>
        </p:blipFill>
        <p:spPr>
          <a:xfrm flipH="1" rot="10800000">
            <a:off x="-12" y="-2285"/>
            <a:ext cx="9144000" cy="5148070"/>
          </a:xfrm>
          <a:prstGeom prst="rect">
            <a:avLst/>
          </a:prstGeom>
          <a:noFill/>
          <a:ln>
            <a:noFill/>
          </a:ln>
        </p:spPr>
      </p:pic>
      <p:sp>
        <p:nvSpPr>
          <p:cNvPr id="83" name="Google Shape;83;p16"/>
          <p:cNvSpPr txBox="1"/>
          <p:nvPr>
            <p:ph type="title"/>
          </p:nvPr>
        </p:nvSpPr>
        <p:spPr>
          <a:xfrm>
            <a:off x="715100"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4" name="Google Shape;84;p16"/>
          <p:cNvSpPr txBox="1"/>
          <p:nvPr>
            <p:ph idx="1" type="body"/>
          </p:nvPr>
        </p:nvSpPr>
        <p:spPr>
          <a:xfrm>
            <a:off x="715100"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85"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87" name="Google Shape;87;p17"/>
          <p:cNvSpPr txBox="1"/>
          <p:nvPr>
            <p:ph type="title"/>
          </p:nvPr>
        </p:nvSpPr>
        <p:spPr>
          <a:xfrm>
            <a:off x="43022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8" name="Google Shape;88;p17"/>
          <p:cNvSpPr txBox="1"/>
          <p:nvPr>
            <p:ph idx="1" type="body"/>
          </p:nvPr>
        </p:nvSpPr>
        <p:spPr>
          <a:xfrm>
            <a:off x="43022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lt1"/>
        </a:solidFill>
      </p:bgPr>
    </p:bg>
    <p:spTree>
      <p:nvGrpSpPr>
        <p:cNvPr id="89"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
        <p:nvSpPr>
          <p:cNvPr id="91" name="Google Shape;91;p18"/>
          <p:cNvSpPr txBox="1"/>
          <p:nvPr>
            <p:ph type="title"/>
          </p:nvPr>
        </p:nvSpPr>
        <p:spPr>
          <a:xfrm>
            <a:off x="15454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2" name="Google Shape;92;p18"/>
          <p:cNvSpPr txBox="1"/>
          <p:nvPr>
            <p:ph idx="1" type="body"/>
          </p:nvPr>
        </p:nvSpPr>
        <p:spPr>
          <a:xfrm>
            <a:off x="15454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93"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95" name="Google Shape;95;p19"/>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9"/>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7" name="Google Shape;97;p19"/>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 name="Google Shape;98;p19"/>
          <p:cNvSpPr txBox="1"/>
          <p:nvPr>
            <p:ph idx="3" type="subTitle"/>
          </p:nvPr>
        </p:nvSpPr>
        <p:spPr>
          <a:xfrm>
            <a:off x="715100" y="16667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99" name="Google Shape;99;p19"/>
          <p:cNvSpPr txBox="1"/>
          <p:nvPr>
            <p:ph idx="4" type="subTitle"/>
          </p:nvPr>
        </p:nvSpPr>
        <p:spPr>
          <a:xfrm>
            <a:off x="715100" y="29192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lt1"/>
        </a:solidFill>
      </p:bgPr>
    </p:bg>
    <p:spTree>
      <p:nvGrpSpPr>
        <p:cNvPr id="100"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b="-108521" l="-235242" r="44460" t="44962"/>
          <a:stretch/>
        </p:blipFill>
        <p:spPr>
          <a:xfrm flipH="1" rot="10800000">
            <a:off x="-4572" y="-2437"/>
            <a:ext cx="9153145" cy="5148375"/>
          </a:xfrm>
          <a:prstGeom prst="rect">
            <a:avLst/>
          </a:prstGeom>
          <a:noFill/>
          <a:ln>
            <a:noFill/>
          </a:ln>
        </p:spPr>
      </p:pic>
      <p:sp>
        <p:nvSpPr>
          <p:cNvPr id="103" name="Google Shape;103;p20"/>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2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05" name="Google Shape;105;p20"/>
          <p:cNvSpPr txBox="1"/>
          <p:nvPr>
            <p:ph idx="2" type="subTitle"/>
          </p:nvPr>
        </p:nvSpPr>
        <p:spPr>
          <a:xfrm>
            <a:off x="7151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6" name="Google Shape;106;p20"/>
          <p:cNvSpPr txBox="1"/>
          <p:nvPr>
            <p:ph idx="3" type="subTitle"/>
          </p:nvPr>
        </p:nvSpPr>
        <p:spPr>
          <a:xfrm>
            <a:off x="3506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20"/>
          <p:cNvSpPr txBox="1"/>
          <p:nvPr>
            <p:ph idx="4" type="subTitle"/>
          </p:nvPr>
        </p:nvSpPr>
        <p:spPr>
          <a:xfrm>
            <a:off x="3506099"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8" name="Google Shape;108;p20"/>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20"/>
          <p:cNvSpPr txBox="1"/>
          <p:nvPr>
            <p:ph idx="6" type="subTitle"/>
          </p:nvPr>
        </p:nvSpPr>
        <p:spPr>
          <a:xfrm>
            <a:off x="62972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lt1"/>
        </a:solidFill>
      </p:bgPr>
    </p:bg>
    <p:spTree>
      <p:nvGrpSpPr>
        <p:cNvPr id="110"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112" name="Google Shape;112;p21"/>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2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14" name="Google Shape;114;p21"/>
          <p:cNvSpPr txBox="1"/>
          <p:nvPr>
            <p:ph idx="2" type="subTitle"/>
          </p:nvPr>
        </p:nvSpPr>
        <p:spPr>
          <a:xfrm>
            <a:off x="7151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5" name="Google Shape;115;p21"/>
          <p:cNvSpPr txBox="1"/>
          <p:nvPr>
            <p:ph idx="3" type="subTitle"/>
          </p:nvPr>
        </p:nvSpPr>
        <p:spPr>
          <a:xfrm>
            <a:off x="3506099"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21"/>
          <p:cNvSpPr txBox="1"/>
          <p:nvPr>
            <p:ph idx="4" type="subTitle"/>
          </p:nvPr>
        </p:nvSpPr>
        <p:spPr>
          <a:xfrm>
            <a:off x="3506099"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7" name="Google Shape;117;p21"/>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21"/>
          <p:cNvSpPr txBox="1"/>
          <p:nvPr>
            <p:ph idx="6" type="subTitle"/>
          </p:nvPr>
        </p:nvSpPr>
        <p:spPr>
          <a:xfrm>
            <a:off x="62972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47851" l="104756" r="280062" t="-108210"/>
          <a:stretch/>
        </p:blipFill>
        <p:spPr>
          <a:xfrm rot="10800000">
            <a:off x="1325" y="-1637"/>
            <a:ext cx="9141450" cy="5146775"/>
          </a:xfrm>
          <a:prstGeom prst="rect">
            <a:avLst/>
          </a:prstGeom>
          <a:noFill/>
          <a:ln>
            <a:noFill/>
          </a:ln>
        </p:spPr>
      </p:pic>
      <p:sp>
        <p:nvSpPr>
          <p:cNvPr id="121" name="Google Shape;121;p22"/>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2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23" name="Google Shape;123;p22"/>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2"/>
          <p:cNvSpPr txBox="1"/>
          <p:nvPr>
            <p:ph idx="3" type="subTitle"/>
          </p:nvPr>
        </p:nvSpPr>
        <p:spPr>
          <a:xfrm>
            <a:off x="7151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5" name="Google Shape;125;p22"/>
          <p:cNvSpPr txBox="1"/>
          <p:nvPr>
            <p:ph idx="4" type="subTitle"/>
          </p:nvPr>
        </p:nvSpPr>
        <p:spPr>
          <a:xfrm>
            <a:off x="7151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6" name="Google Shape;126;p22"/>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22"/>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22"/>
          <p:cNvSpPr txBox="1"/>
          <p:nvPr>
            <p:ph idx="7" type="subTitle"/>
          </p:nvPr>
        </p:nvSpPr>
        <p:spPr>
          <a:xfrm>
            <a:off x="46483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9" name="Google Shape;129;p22"/>
          <p:cNvSpPr txBox="1"/>
          <p:nvPr>
            <p:ph idx="8" type="subTitle"/>
          </p:nvPr>
        </p:nvSpPr>
        <p:spPr>
          <a:xfrm>
            <a:off x="46483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lt1"/>
        </a:solidFill>
      </p:bgPr>
    </p:bg>
    <p:spTree>
      <p:nvGrpSpPr>
        <p:cNvPr id="130" name="Shape 130"/>
        <p:cNvGrpSpPr/>
        <p:nvPr/>
      </p:nvGrpSpPr>
      <p:grpSpPr>
        <a:xfrm>
          <a:off x="0" y="0"/>
          <a:ext cx="0" cy="0"/>
          <a:chOff x="0" y="0"/>
          <a:chExt cx="0" cy="0"/>
        </a:xfrm>
      </p:grpSpPr>
      <p:sp>
        <p:nvSpPr>
          <p:cNvPr id="131" name="Google Shape;131;p23"/>
          <p:cNvSpPr txBox="1"/>
          <p:nvPr>
            <p:ph idx="1" type="subTitle"/>
          </p:nvPr>
        </p:nvSpPr>
        <p:spPr>
          <a:xfrm>
            <a:off x="715100"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23"/>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33" name="Google Shape;133;p23"/>
          <p:cNvSpPr txBox="1"/>
          <p:nvPr>
            <p:ph idx="2" type="subTitle"/>
          </p:nvPr>
        </p:nvSpPr>
        <p:spPr>
          <a:xfrm>
            <a:off x="715100"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4" name="Google Shape;134;p23"/>
          <p:cNvSpPr txBox="1"/>
          <p:nvPr>
            <p:ph idx="3" type="subTitle"/>
          </p:nvPr>
        </p:nvSpPr>
        <p:spPr>
          <a:xfrm>
            <a:off x="7151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5" name="Google Shape;135;p23"/>
          <p:cNvSpPr txBox="1"/>
          <p:nvPr>
            <p:ph idx="4" type="subTitle"/>
          </p:nvPr>
        </p:nvSpPr>
        <p:spPr>
          <a:xfrm>
            <a:off x="7151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6" name="Google Shape;136;p23"/>
          <p:cNvSpPr txBox="1"/>
          <p:nvPr>
            <p:ph idx="5" type="subTitle"/>
          </p:nvPr>
        </p:nvSpPr>
        <p:spPr>
          <a:xfrm>
            <a:off x="3355799"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7" name="Google Shape;137;p23"/>
          <p:cNvSpPr txBox="1"/>
          <p:nvPr>
            <p:ph idx="6" type="subTitle"/>
          </p:nvPr>
        </p:nvSpPr>
        <p:spPr>
          <a:xfrm>
            <a:off x="3355799"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23"/>
          <p:cNvSpPr txBox="1"/>
          <p:nvPr>
            <p:ph idx="7" type="subTitle"/>
          </p:nvPr>
        </p:nvSpPr>
        <p:spPr>
          <a:xfrm>
            <a:off x="33558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9" name="Google Shape;139;p23"/>
          <p:cNvSpPr txBox="1"/>
          <p:nvPr>
            <p:ph idx="8" type="subTitle"/>
          </p:nvPr>
        </p:nvSpPr>
        <p:spPr>
          <a:xfrm>
            <a:off x="33558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0" name="Google Shape;140;p23"/>
          <p:cNvSpPr txBox="1"/>
          <p:nvPr>
            <p:ph idx="9" type="subTitle"/>
          </p:nvPr>
        </p:nvSpPr>
        <p:spPr>
          <a:xfrm>
            <a:off x="5996501"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23"/>
          <p:cNvSpPr txBox="1"/>
          <p:nvPr>
            <p:ph idx="13" type="subTitle"/>
          </p:nvPr>
        </p:nvSpPr>
        <p:spPr>
          <a:xfrm>
            <a:off x="5996501"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3"/>
          <p:cNvSpPr txBox="1"/>
          <p:nvPr>
            <p:ph idx="14" type="subTitle"/>
          </p:nvPr>
        </p:nvSpPr>
        <p:spPr>
          <a:xfrm>
            <a:off x="5996503"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3" name="Google Shape;143;p23"/>
          <p:cNvSpPr txBox="1"/>
          <p:nvPr>
            <p:ph idx="15" type="subTitle"/>
          </p:nvPr>
        </p:nvSpPr>
        <p:spPr>
          <a:xfrm>
            <a:off x="5996503"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44"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146" name="Google Shape;146;p24"/>
          <p:cNvSpPr txBox="1"/>
          <p:nvPr>
            <p:ph hasCustomPrompt="1" type="title"/>
          </p:nvPr>
        </p:nvSpPr>
        <p:spPr>
          <a:xfrm>
            <a:off x="715100" y="9830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7" name="Google Shape;147;p24"/>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24"/>
          <p:cNvSpPr txBox="1"/>
          <p:nvPr>
            <p:ph hasCustomPrompt="1" idx="2" type="title"/>
          </p:nvPr>
        </p:nvSpPr>
        <p:spPr>
          <a:xfrm>
            <a:off x="715100" y="29216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9" name="Google Shape;149;p24"/>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152" name="Google Shape;152;p2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153" name="Google Shape;153;p25"/>
          <p:cNvSpPr txBox="1"/>
          <p:nvPr>
            <p:ph hasCustomPrompt="1" idx="2" type="title"/>
          </p:nvPr>
        </p:nvSpPr>
        <p:spPr>
          <a:xfrm>
            <a:off x="7151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4" name="Google Shape;154;p25"/>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25"/>
          <p:cNvSpPr txBox="1"/>
          <p:nvPr>
            <p:ph idx="3" type="subTitle"/>
          </p:nvPr>
        </p:nvSpPr>
        <p:spPr>
          <a:xfrm>
            <a:off x="7151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6" name="Google Shape;156;p25"/>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25"/>
          <p:cNvSpPr txBox="1"/>
          <p:nvPr>
            <p:ph idx="5" type="subTitle"/>
          </p:nvPr>
        </p:nvSpPr>
        <p:spPr>
          <a:xfrm>
            <a:off x="46483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8" name="Google Shape;158;p25"/>
          <p:cNvSpPr txBox="1"/>
          <p:nvPr>
            <p:ph hasCustomPrompt="1" idx="6" type="title"/>
          </p:nvPr>
        </p:nvSpPr>
        <p:spPr>
          <a:xfrm>
            <a:off x="46483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lt1"/>
        </a:solidFill>
      </p:bgPr>
    </p:bg>
    <p:spTree>
      <p:nvGrpSpPr>
        <p:cNvPr id="159" name="Shape 159"/>
        <p:cNvGrpSpPr/>
        <p:nvPr/>
      </p:nvGrpSpPr>
      <p:grpSpPr>
        <a:xfrm>
          <a:off x="0" y="0"/>
          <a:ext cx="0" cy="0"/>
          <a:chOff x="0" y="0"/>
          <a:chExt cx="0" cy="0"/>
        </a:xfrm>
      </p:grpSpPr>
      <p:sp>
        <p:nvSpPr>
          <p:cNvPr id="160" name="Google Shape;160;p2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solidFill>
          <a:schemeClr val="lt1"/>
        </a:solidFill>
      </p:bgPr>
    </p:bg>
    <p:spTree>
      <p:nvGrpSpPr>
        <p:cNvPr id="16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pic>
        <p:nvPicPr>
          <p:cNvPr id="163" name="Google Shape;163;p27"/>
          <p:cNvPicPr preferRelativeResize="0"/>
          <p:nvPr/>
        </p:nvPicPr>
        <p:blipFill rotWithShape="1">
          <a:blip r:embed="rId2">
            <a:alphaModFix/>
          </a:blip>
          <a:srcRect b="-108521" l="-235242" r="44460" t="44962"/>
          <a:stretch/>
        </p:blipFill>
        <p:spPr>
          <a:xfrm flipH="1" rot="10800000">
            <a:off x="-4572" y="-2437"/>
            <a:ext cx="9153145" cy="5148375"/>
          </a:xfrm>
          <a:prstGeom prst="rect">
            <a:avLst/>
          </a:prstGeom>
          <a:noFill/>
          <a:ln>
            <a:noFill/>
          </a:ln>
        </p:spPr>
      </p:pic>
      <p:sp>
        <p:nvSpPr>
          <p:cNvPr id="164" name="Google Shape;164;p27"/>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bg>
      <p:bgPr>
        <a:solidFill>
          <a:schemeClr val="lt1"/>
        </a:solidFill>
      </p:bgPr>
    </p:bg>
    <p:spTree>
      <p:nvGrpSpPr>
        <p:cNvPr id="165"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b="-11170" l="-6643" r="27548" t="-11183"/>
          <a:stretch/>
        </p:blipFill>
        <p:spPr>
          <a:xfrm>
            <a:off x="5819050" y="0"/>
            <a:ext cx="3324950" cy="5143500"/>
          </a:xfrm>
          <a:prstGeom prst="rect">
            <a:avLst/>
          </a:prstGeom>
          <a:noFill/>
          <a:ln>
            <a:noFill/>
          </a:ln>
        </p:spPr>
      </p:pic>
      <p:sp>
        <p:nvSpPr>
          <p:cNvPr id="167" name="Google Shape;167;p28"/>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68"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170" name="Google Shape;170;p29"/>
          <p:cNvPicPr preferRelativeResize="0"/>
          <p:nvPr/>
        </p:nvPicPr>
        <p:blipFill rotWithShape="1">
          <a:blip r:embed="rId2">
            <a:alphaModFix/>
          </a:blip>
          <a:srcRect b="-6811" l="-55210" r="55209" t="50562"/>
          <a:stretch/>
        </p:blipFill>
        <p:spPr>
          <a:xfrm flipH="1" rot="10800000">
            <a:off x="0" y="0"/>
            <a:ext cx="9144000" cy="5143500"/>
          </a:xfrm>
          <a:prstGeom prst="rect">
            <a:avLst/>
          </a:prstGeom>
          <a:noFill/>
          <a:ln>
            <a:noFill/>
          </a:ln>
        </p:spPr>
      </p:pic>
      <p:sp>
        <p:nvSpPr>
          <p:cNvPr id="171" name="Google Shape;171;p2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2" name="Google Shape;172;p2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73" name="Google Shape;173;p29"/>
          <p:cNvSpPr txBox="1"/>
          <p:nvPr/>
        </p:nvSpPr>
        <p:spPr>
          <a:xfrm>
            <a:off x="4571863" y="2278000"/>
            <a:ext cx="2683800" cy="498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b="1" lang="en" sz="9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Slidesgo</a:t>
            </a:r>
            <a:r>
              <a:rPr lang="en" sz="900">
                <a:solidFill>
                  <a:schemeClr val="dk1"/>
                </a:solidFill>
                <a:latin typeface="Albert Sans"/>
                <a:ea typeface="Albert Sans"/>
                <a:cs typeface="Albert Sans"/>
                <a:sym typeface="Albert Sans"/>
              </a:rPr>
              <a:t>, and includes icons by </a:t>
            </a:r>
            <a:r>
              <a:rPr b="1" lang="en" sz="9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Flaticon</a:t>
            </a:r>
            <a:r>
              <a:rPr b="1" lang="en" sz="900">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b="1" lang="en" sz="900">
                <a:solidFill>
                  <a:schemeClr val="dk1"/>
                </a:solidFill>
                <a:uFill>
                  <a:noFill/>
                </a:uFill>
                <a:latin typeface="Albert Sans"/>
                <a:ea typeface="Albert Sans"/>
                <a:cs typeface="Albert Sans"/>
                <a:sym typeface="Albert Sans"/>
                <a:hlinkClick r:id="rId5">
                  <a:extLst>
                    <a:ext uri="{A12FA001-AC4F-418D-AE19-62706E023703}">
                      <ahyp:hlinkClr val="tx"/>
                    </a:ext>
                  </a:extLst>
                </a:hlinkClick>
              </a:rPr>
              <a:t>Freepik</a:t>
            </a:r>
            <a:endParaRPr b="1" sz="900">
              <a:solidFill>
                <a:schemeClr val="dk1"/>
              </a:solidFill>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74"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b="-35825" l="-6643" r="27548" t="13471"/>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b="-108521" l="-235242" r="44460" t="44962"/>
          <a:stretch/>
        </p:blipFill>
        <p:spPr>
          <a:xfrm flipH="1" rot="10800000">
            <a:off x="-10680" y="-2437"/>
            <a:ext cx="9144080" cy="51483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177"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b="-6811" l="-55210" r="55209" t="5056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p:txBody>
      </p:sp>
      <p:sp>
        <p:nvSpPr>
          <p:cNvPr id="7" name="Google Shape;7;p1"/>
          <p:cNvSpPr txBox="1"/>
          <p:nvPr>
            <p:ph idx="1" type="body"/>
          </p:nvPr>
        </p:nvSpPr>
        <p:spPr>
          <a:xfrm>
            <a:off x="715100" y="1083700"/>
            <a:ext cx="7713900" cy="35247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hyperlink" Target="https://www.kaggle.com/datasets/shashanks1202/apartment-rent-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2.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4.pn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5.png"/><Relationship Id="rId4" Type="http://schemas.openxmlformats.org/officeDocument/2006/relationships/image" Target="../media/image5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 Id="rId3"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6.xml"/><Relationship Id="rId3" Type="http://schemas.openxmlformats.org/officeDocument/2006/relationships/hyperlink" Target="http://no.of" TargetMode="External"/><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 Id="rId3"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3.png"/><Relationship Id="rId4" Type="http://schemas.openxmlformats.org/officeDocument/2006/relationships/image" Target="../media/image55.png"/><Relationship Id="rId5" Type="http://schemas.openxmlformats.org/officeDocument/2006/relationships/image" Target="../media/image4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6.xml"/><Relationship Id="rId3" Type="http://schemas.openxmlformats.org/officeDocument/2006/relationships/image" Target="../media/image47.png"/><Relationship Id="rId4" Type="http://schemas.openxmlformats.org/officeDocument/2006/relationships/image" Target="../media/image46.png"/><Relationship Id="rId5" Type="http://schemas.openxmlformats.org/officeDocument/2006/relationships/image" Target="../media/image4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7.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6.png"/><Relationship Id="rId7"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7.xml"/><Relationship Id="rId3" Type="http://schemas.openxmlformats.org/officeDocument/2006/relationships/hyperlink" Target="https://medium.com/@wl8380/how-to-mount-google-drive-in-google-colab-c688ec8eccb7" TargetMode="External"/><Relationship Id="rId4" Type="http://schemas.openxmlformats.org/officeDocument/2006/relationships/hyperlink" Target="https://spark.apache.org/docs/latest/sql-data-sources-csv.html" TargetMode="External"/><Relationship Id="rId9" Type="http://schemas.openxmlformats.org/officeDocument/2006/relationships/hyperlink" Target="https://spark.apache.org/docs/latest/sql-data-sources-csv.html" TargetMode="External"/><Relationship Id="rId5" Type="http://schemas.openxmlformats.org/officeDocument/2006/relationships/hyperlink" Target="https://www.geeksforgeeks.org/python/detect-encoding-of-csv-file-in-python" TargetMode="External"/><Relationship Id="rId6" Type="http://schemas.openxmlformats.org/officeDocument/2006/relationships/hyperlink" Target="https://www.geeksforgeeks.org/computer-science-fundamentals/reading-rows-from-a-csv-file-in-python/" TargetMode="External"/><Relationship Id="rId7" Type="http://schemas.openxmlformats.org/officeDocument/2006/relationships/hyperlink" Target="https://sparkbyexamples.com/pyspark/how-to-import-pyspark-in-python-script" TargetMode="External"/><Relationship Id="rId8" Type="http://schemas.openxmlformats.org/officeDocument/2006/relationships/hyperlink" Target="https://www.datacamp.com/tutorial/pyspark-read-csv" TargetMode="External"/><Relationship Id="rId11" Type="http://schemas.openxmlformats.org/officeDocument/2006/relationships/hyperlink" Target="https://spark.apache.org/docs/latest/sql-ref-datatypes.html" TargetMode="External"/><Relationship Id="rId10" Type="http://schemas.openxmlformats.org/officeDocument/2006/relationships/hyperlink" Target="https://www.datacamp.com/tutorial/pyspark-read-csv" TargetMode="External"/><Relationship Id="rId13" Type="http://schemas.openxmlformats.org/officeDocument/2006/relationships/hyperlink" Target="https://sparkbyexamples.com/pyspark/pyspark-fillna-fill-replace-null-values" TargetMode="External"/><Relationship Id="rId12" Type="http://schemas.openxmlformats.org/officeDocument/2006/relationships/hyperlink" Target="https://sparkbyexamples.com/pyspark/pyspark-update-a-column-with-value/"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8.xml"/><Relationship Id="rId3" Type="http://schemas.openxmlformats.org/officeDocument/2006/relationships/hyperlink" Target="https://stackoverflow.com/questions/56160196/how-to-extract-the-numeric-part-from-a-string-column-in-spark" TargetMode="External"/><Relationship Id="rId4" Type="http://schemas.openxmlformats.org/officeDocument/2006/relationships/hyperlink" Target="https://www.geeksforgeeks.org/data-science/pair-plots-using-scatter-matrix-in-pandas/" TargetMode="External"/><Relationship Id="rId9" Type="http://schemas.openxmlformats.org/officeDocument/2006/relationships/hyperlink" Target="https://spark.apache.org/docs/latest/api/python/reference/api/pyspark.ml.feature.RFormula.htm" TargetMode="External"/><Relationship Id="rId5" Type="http://schemas.openxmlformats.org/officeDocument/2006/relationships/hyperlink" Target="https://stackoverflow.com/questions/50958721/convert-a-spark-dataframe-to-pandas-df" TargetMode="External"/><Relationship Id="rId6" Type="http://schemas.openxmlformats.org/officeDocument/2006/relationships/hyperlink" Target="https://www.statology.org/pyspark-select-rows-based-on-column-values/" TargetMode="External"/><Relationship Id="rId7" Type="http://schemas.openxmlformats.org/officeDocument/2006/relationships/hyperlink" Target="https://www.geeksforgeeks.org/python/how-to-create-boxplot-from-pandas-dataframe/" TargetMode="External"/><Relationship Id="rId8" Type="http://schemas.openxmlformats.org/officeDocument/2006/relationships/hyperlink" Target="https://www.geeksforgeeks.org/python/drop-rows-in-pyspark-dataframe-with-condition/" TargetMode="External"/><Relationship Id="rId11" Type="http://schemas.openxmlformats.org/officeDocument/2006/relationships/hyperlink" Target="https://www.geeksforgeeks.org/python/spark-split-array-to-separate-column/" TargetMode="External"/><Relationship Id="rId10" Type="http://schemas.openxmlformats.org/officeDocument/2006/relationships/hyperlink" Target="https://community.getorchestra.io/apache-foundation/apache-spark-java-api-rformula/" TargetMode="External"/><Relationship Id="rId12" Type="http://schemas.openxmlformats.org/officeDocument/2006/relationships/hyperlink" Target="https://spark.apache.org/docs/latest/api/python/reference/pyspark.sql/functions.html#array-functions"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9.xml"/><Relationship Id="rId3" Type="http://schemas.openxmlformats.org/officeDocument/2006/relationships/hyperlink" Target="https://medium.com/@shuklaprashant9264/iterate-over-elements-of-array-column-in-pyspark-dataframe-6ec92467d3e4" TargetMode="External"/><Relationship Id="rId4" Type="http://schemas.openxmlformats.org/officeDocument/2006/relationships/hyperlink" Target="https://spark.apache.org/docs/latest/api/python/reference/pyspark.sql/api/pyspark.sql.functions.explode_outer.html#pyspark.sql.functions.explode_outer" TargetMode="External"/><Relationship Id="rId9" Type="http://schemas.openxmlformats.org/officeDocument/2006/relationships/hyperlink" Target="https://www.geeksforgeeks.org/machine-learning/ml-gradient-boosting/" TargetMode="External"/><Relationship Id="rId5" Type="http://schemas.openxmlformats.org/officeDocument/2006/relationships/hyperlink" Target="https://antonhaugen.medium.com/feature-selection-with-pyspark-a172d214f0b7" TargetMode="External"/><Relationship Id="rId6" Type="http://schemas.openxmlformats.org/officeDocument/2006/relationships/hyperlink" Target="https://www.statology.org/pyspark-train-test-split/" TargetMode="External"/><Relationship Id="rId7" Type="http://schemas.openxmlformats.org/officeDocument/2006/relationships/hyperlink" Target="https://sparkbyexamples.com/pyspark/pyspark-count-distinct-from-dataframe/" TargetMode="External"/><Relationship Id="rId8" Type="http://schemas.openxmlformats.org/officeDocument/2006/relationships/hyperlink" Target="https://www.statology.org/pyspark-count-null-values/" TargetMode="External"/><Relationship Id="rId11" Type="http://schemas.openxmlformats.org/officeDocument/2006/relationships/hyperlink" Target="https://www.datacamp.com/tutorial/guide-to-the-gradient-boosting-algorithm" TargetMode="External"/><Relationship Id="rId10" Type="http://schemas.openxmlformats.org/officeDocument/2006/relationships/hyperlink" Target="https://www.geeksforgeeks.org/machine-learning/gradient-descent-algorithm-and-its-variants/" TargetMode="External"/><Relationship Id="rId12" Type="http://schemas.openxmlformats.org/officeDocument/2006/relationships/hyperlink" Target="https://spark.apache.org/docs/latest/api/python/reference/api/pyspark.ml.classification.GBTClassifier.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0.xml"/><Relationship Id="rId3" Type="http://schemas.openxmlformats.org/officeDocument/2006/relationships/hyperlink" Target="https://www.machinelearningplus.com/pyspark/pyspark-gradient-boosting-model/" TargetMode="External"/><Relationship Id="rId4" Type="http://schemas.openxmlformats.org/officeDocument/2006/relationships/hyperlink" Target="https://medium.com/analytics-vidhya/mae-mse-rmse-coefficient-of-determination-adjusted-r-squared-which-metric-is-better-cd0326a5697e" TargetMode="External"/><Relationship Id="rId9" Type="http://schemas.openxmlformats.org/officeDocument/2006/relationships/hyperlink" Target="https://spark.apache.org/docs/latest/ml-classification-regression.html#linear-regression" TargetMode="External"/><Relationship Id="rId5" Type="http://schemas.openxmlformats.org/officeDocument/2006/relationships/hyperlink" Target="https://www.geeksforgeeks.org/machine-learning/ml-linear-regression/" TargetMode="External"/><Relationship Id="rId6" Type="http://schemas.openxmlformats.org/officeDocument/2006/relationships/hyperlink" Target="https://www.geeksforgeeks.org/machine-learning/ml-multiple-linear-regression-using-python/" TargetMode="External"/><Relationship Id="rId7" Type="http://schemas.openxmlformats.org/officeDocument/2006/relationships/hyperlink" Target="https://en.wikipedia.org/wiki/Tikhonov_regularization" TargetMode="External"/><Relationship Id="rId8" Type="http://schemas.openxmlformats.org/officeDocument/2006/relationships/hyperlink" Target="https://en.wikipedia.org/wiki/Lasso_(statistics)" TargetMode="External"/><Relationship Id="rId11" Type="http://schemas.openxmlformats.org/officeDocument/2006/relationships/hyperlink" Target="https://spark.apache.org/docs/latest/api/python/reference/api/pyspark.ml.regression.LinearRegression.html#pyspark.ml.regression.LinearRegression.maxIter" TargetMode="External"/><Relationship Id="rId10" Type="http://schemas.openxmlformats.org/officeDocument/2006/relationships/hyperlink" Target="https://www.meegle.com/en_us/topics/fine-tuning/fine-tuning-for-linear-regression" TargetMode="External"/><Relationship Id="rId12" Type="http://schemas.openxmlformats.org/officeDocument/2006/relationships/hyperlink" Target="https://spark.apache.org/docs/latest/ml-classification-regression.html#linear-regression"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1.xml"/><Relationship Id="rId3" Type="http://schemas.openxmlformats.org/officeDocument/2006/relationships/hyperlink" Target="http://www.geeksforgeeks.org/machine-learning/ml-multiple-linear-regression-using-py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ctrTitle"/>
          </p:nvPr>
        </p:nvSpPr>
        <p:spPr>
          <a:xfrm>
            <a:off x="1626950" y="426125"/>
            <a:ext cx="6003000" cy="58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900"/>
              <a:t>CSCI 316 - Group Assignment</a:t>
            </a:r>
            <a:endParaRPr sz="3200"/>
          </a:p>
        </p:txBody>
      </p:sp>
      <p:graphicFrame>
        <p:nvGraphicFramePr>
          <p:cNvPr id="185" name="Google Shape;185;p32"/>
          <p:cNvGraphicFramePr/>
          <p:nvPr/>
        </p:nvGraphicFramePr>
        <p:xfrm>
          <a:off x="1499785" y="2201325"/>
          <a:ext cx="3000000" cy="3000000"/>
        </p:xfrm>
        <a:graphic>
          <a:graphicData uri="http://schemas.openxmlformats.org/drawingml/2006/table">
            <a:tbl>
              <a:tblPr>
                <a:noFill/>
                <a:tableStyleId>{FC58B469-A7CC-4DD4-B106-2F5731AF3B14}</a:tableStyleId>
              </a:tblPr>
              <a:tblGrid>
                <a:gridCol w="2102050"/>
                <a:gridCol w="4042400"/>
              </a:tblGrid>
              <a:tr h="397675">
                <a:tc>
                  <a:txBody>
                    <a:bodyPr/>
                    <a:lstStyle/>
                    <a:p>
                      <a:pPr indent="0" lvl="0" marL="0" rtl="0" algn="l">
                        <a:spcBef>
                          <a:spcPts val="0"/>
                        </a:spcBef>
                        <a:spcAft>
                          <a:spcPts val="0"/>
                        </a:spcAft>
                        <a:buNone/>
                      </a:pPr>
                      <a:r>
                        <a:rPr b="1" lang="en"/>
                        <a:t>UOW ID</a:t>
                      </a:r>
                      <a:endParaRPr b="1"/>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Name </a:t>
                      </a:r>
                      <a:endParaRPr b="1"/>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97675">
                <a:tc>
                  <a:txBody>
                    <a:bodyPr/>
                    <a:lstStyle/>
                    <a:p>
                      <a:pPr indent="0" lvl="0" marL="0" rtl="0" algn="l">
                        <a:spcBef>
                          <a:spcPts val="0"/>
                        </a:spcBef>
                        <a:spcAft>
                          <a:spcPts val="0"/>
                        </a:spcAft>
                        <a:buNone/>
                      </a:pPr>
                      <a:r>
                        <a:rPr lang="en"/>
                        <a:t>8492591</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Basil Shibu</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97675">
                <a:tc>
                  <a:txBody>
                    <a:bodyPr/>
                    <a:lstStyle/>
                    <a:p>
                      <a:pPr indent="0" lvl="0" marL="0" rtl="0" algn="l">
                        <a:spcBef>
                          <a:spcPts val="0"/>
                        </a:spcBef>
                        <a:spcAft>
                          <a:spcPts val="0"/>
                        </a:spcAft>
                        <a:buNone/>
                      </a:pPr>
                      <a:r>
                        <a:rPr lang="en"/>
                        <a:t>8465745</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Chandramohan Kishore</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97675">
                <a:tc>
                  <a:txBody>
                    <a:bodyPr/>
                    <a:lstStyle/>
                    <a:p>
                      <a:pPr indent="0" lvl="0" marL="0" rtl="0" algn="l">
                        <a:spcBef>
                          <a:spcPts val="0"/>
                        </a:spcBef>
                        <a:spcAft>
                          <a:spcPts val="0"/>
                        </a:spcAft>
                        <a:buNone/>
                      </a:pPr>
                      <a:r>
                        <a:rPr lang="en"/>
                        <a:t>7894363</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Lim Wen Mi</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97675">
                <a:tc>
                  <a:txBody>
                    <a:bodyPr/>
                    <a:lstStyle/>
                    <a:p>
                      <a:pPr indent="0" lvl="0" marL="0" rtl="0" algn="l">
                        <a:spcBef>
                          <a:spcPts val="0"/>
                        </a:spcBef>
                        <a:spcAft>
                          <a:spcPts val="0"/>
                        </a:spcAft>
                        <a:buNone/>
                      </a:pPr>
                      <a:r>
                        <a:rPr lang="en"/>
                        <a:t>7672755</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Harshitha Namasivayam</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97675">
                <a:tc>
                  <a:txBody>
                    <a:bodyPr/>
                    <a:lstStyle/>
                    <a:p>
                      <a:pPr indent="0" lvl="0" marL="0" rtl="0" algn="l">
                        <a:spcBef>
                          <a:spcPts val="0"/>
                        </a:spcBef>
                        <a:spcAft>
                          <a:spcPts val="0"/>
                        </a:spcAft>
                        <a:buNone/>
                      </a:pPr>
                      <a:r>
                        <a:rPr lang="en"/>
                        <a:t>8950611</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Subraja Saravanakumar</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
        <p:nvSpPr>
          <p:cNvPr id="186" name="Google Shape;186;p32"/>
          <p:cNvSpPr txBox="1"/>
          <p:nvPr/>
        </p:nvSpPr>
        <p:spPr>
          <a:xfrm>
            <a:off x="2679650" y="1079463"/>
            <a:ext cx="3897600" cy="75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700">
                <a:solidFill>
                  <a:schemeClr val="dk1"/>
                </a:solidFill>
                <a:latin typeface="Alexandria Medium"/>
                <a:ea typeface="Alexandria Medium"/>
                <a:cs typeface="Alexandria Medium"/>
                <a:sym typeface="Alexandria Medium"/>
              </a:rPr>
              <a:t>G-Score - #21</a:t>
            </a:r>
            <a:endParaRPr sz="1100">
              <a:solidFill>
                <a:schemeClr val="dk1"/>
              </a:solidFill>
              <a:latin typeface="Albert Sans"/>
              <a:ea typeface="Albert Sans"/>
              <a:cs typeface="Albert Sans"/>
              <a:sym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2429602" y="11715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2" name="Google Shape;192;p33"/>
          <p:cNvSpPr txBox="1"/>
          <p:nvPr>
            <p:ph idx="1" type="subTitle"/>
          </p:nvPr>
        </p:nvSpPr>
        <p:spPr>
          <a:xfrm>
            <a:off x="2968024" y="1171550"/>
            <a:ext cx="40479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Selection &amp; Objective</a:t>
            </a:r>
            <a:endParaRPr/>
          </a:p>
        </p:txBody>
      </p:sp>
      <p:sp>
        <p:nvSpPr>
          <p:cNvPr id="193" name="Google Shape;193;p33"/>
          <p:cNvSpPr txBox="1"/>
          <p:nvPr>
            <p:ph idx="2"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194" name="Google Shape;194;p33"/>
          <p:cNvSpPr txBox="1"/>
          <p:nvPr>
            <p:ph idx="3" type="title"/>
          </p:nvPr>
        </p:nvSpPr>
        <p:spPr>
          <a:xfrm>
            <a:off x="2429602" y="19077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95" name="Google Shape;195;p33"/>
          <p:cNvSpPr txBox="1"/>
          <p:nvPr>
            <p:ph idx="4" type="subTitle"/>
          </p:nvPr>
        </p:nvSpPr>
        <p:spPr>
          <a:xfrm>
            <a:off x="2968025" y="1907750"/>
            <a:ext cx="40479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1</a:t>
            </a:r>
            <a:endParaRPr/>
          </a:p>
        </p:txBody>
      </p:sp>
      <p:sp>
        <p:nvSpPr>
          <p:cNvPr id="196" name="Google Shape;196;p33"/>
          <p:cNvSpPr txBox="1"/>
          <p:nvPr>
            <p:ph idx="5" type="title"/>
          </p:nvPr>
        </p:nvSpPr>
        <p:spPr>
          <a:xfrm>
            <a:off x="2429602" y="264397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97" name="Google Shape;197;p33"/>
          <p:cNvSpPr txBox="1"/>
          <p:nvPr>
            <p:ph idx="6" type="subTitle"/>
          </p:nvPr>
        </p:nvSpPr>
        <p:spPr>
          <a:xfrm>
            <a:off x="2968024" y="2643975"/>
            <a:ext cx="40479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2</a:t>
            </a:r>
            <a:endParaRPr/>
          </a:p>
        </p:txBody>
      </p:sp>
      <p:sp>
        <p:nvSpPr>
          <p:cNvPr id="198" name="Google Shape;198;p33"/>
          <p:cNvSpPr txBox="1"/>
          <p:nvPr>
            <p:ph idx="7" type="title"/>
          </p:nvPr>
        </p:nvSpPr>
        <p:spPr>
          <a:xfrm>
            <a:off x="2429602" y="338017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99" name="Google Shape;199;p33"/>
          <p:cNvSpPr txBox="1"/>
          <p:nvPr>
            <p:ph idx="8" type="subTitle"/>
          </p:nvPr>
        </p:nvSpPr>
        <p:spPr>
          <a:xfrm>
            <a:off x="2968024" y="3380175"/>
            <a:ext cx="40479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a:t>
            </a:r>
            <a:r>
              <a:rPr lang="en"/>
              <a:t>n</a:t>
            </a:r>
            <a:endParaRPr/>
          </a:p>
        </p:txBody>
      </p:sp>
      <p:sp>
        <p:nvSpPr>
          <p:cNvPr id="200" name="Google Shape;200;p33"/>
          <p:cNvSpPr txBox="1"/>
          <p:nvPr>
            <p:ph idx="9" type="title"/>
          </p:nvPr>
        </p:nvSpPr>
        <p:spPr>
          <a:xfrm>
            <a:off x="2429602" y="407257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01" name="Google Shape;201;p33"/>
          <p:cNvSpPr txBox="1"/>
          <p:nvPr>
            <p:ph idx="13" type="subTitle"/>
          </p:nvPr>
        </p:nvSpPr>
        <p:spPr>
          <a:xfrm>
            <a:off x="2968023" y="4072575"/>
            <a:ext cx="40479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Data Selection &amp; Objective</a:t>
            </a:r>
            <a:endParaRPr sz="4600"/>
          </a:p>
        </p:txBody>
      </p:sp>
      <p:sp>
        <p:nvSpPr>
          <p:cNvPr id="207" name="Google Shape;207;p34"/>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cxnSp>
        <p:nvCxnSpPr>
          <p:cNvPr id="208" name="Google Shape;208;p34">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idx="1" type="subTitle"/>
          </p:nvPr>
        </p:nvSpPr>
        <p:spPr>
          <a:xfrm>
            <a:off x="715100" y="1875903"/>
            <a:ext cx="72108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Data Download from: </a:t>
            </a:r>
            <a:r>
              <a:rPr lang="en" u="sng">
                <a:hlinkClick r:id="rId3"/>
              </a:rPr>
              <a:t>https://www.kaggle.com/datasets/shashanks1202/apartment-rent-data</a:t>
            </a:r>
            <a:endParaRPr>
              <a:solidFill>
                <a:srgbClr val="000000"/>
              </a:solidFill>
            </a:endParaRPr>
          </a:p>
          <a:p>
            <a:pPr indent="0" lvl="0" marL="0" rtl="0" algn="l">
              <a:lnSpc>
                <a:spcPct val="100000"/>
              </a:lnSpc>
              <a:spcBef>
                <a:spcPts val="1000"/>
              </a:spcBef>
              <a:spcAft>
                <a:spcPts val="0"/>
              </a:spcAft>
              <a:buNone/>
            </a:pPr>
            <a:r>
              <a:rPr lang="en">
                <a:solidFill>
                  <a:srgbClr val="000000"/>
                </a:solidFill>
              </a:rPr>
              <a:t>The dataset comprises the detailed information on apartment rentals for various machine learning tasks including clustering, classification and regression.</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u="sng">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p>
        </p:txBody>
      </p:sp>
      <p:sp>
        <p:nvSpPr>
          <p:cNvPr id="214" name="Google Shape;214;p35"/>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Selection &amp; Objective</a:t>
            </a:r>
            <a:endParaRPr/>
          </a:p>
        </p:txBody>
      </p:sp>
      <p:sp>
        <p:nvSpPr>
          <p:cNvPr id="215" name="Google Shape;215;p35"/>
          <p:cNvSpPr txBox="1"/>
          <p:nvPr>
            <p:ph idx="2" type="subTitle"/>
          </p:nvPr>
        </p:nvSpPr>
        <p:spPr>
          <a:xfrm>
            <a:off x="715100" y="3299000"/>
            <a:ext cx="72108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the following  Python machine learning library to </a:t>
            </a:r>
            <a:r>
              <a:rPr b="1" lang="en" u="sng"/>
              <a:t>predict the rental price</a:t>
            </a:r>
            <a:r>
              <a:rPr lang="en"/>
              <a:t>.</a:t>
            </a:r>
            <a:endParaRPr/>
          </a:p>
          <a:p>
            <a:pPr indent="-304800" lvl="0" marL="457200" rtl="0" algn="l">
              <a:spcBef>
                <a:spcPts val="0"/>
              </a:spcBef>
              <a:spcAft>
                <a:spcPts val="0"/>
              </a:spcAft>
              <a:buClr>
                <a:schemeClr val="lt2"/>
              </a:buClr>
              <a:buSzPts val="1200"/>
              <a:buChar char="❏"/>
            </a:pPr>
            <a:r>
              <a:rPr b="1" lang="en"/>
              <a:t>Task 1:</a:t>
            </a:r>
            <a:r>
              <a:rPr lang="en"/>
              <a:t> Scikit-Learn</a:t>
            </a:r>
            <a:endParaRPr/>
          </a:p>
          <a:p>
            <a:pPr indent="-304800" lvl="0" marL="457200" rtl="0" algn="l">
              <a:spcBef>
                <a:spcPts val="0"/>
              </a:spcBef>
              <a:spcAft>
                <a:spcPts val="0"/>
              </a:spcAft>
              <a:buClr>
                <a:schemeClr val="lt2"/>
              </a:buClr>
              <a:buSzPts val="1200"/>
              <a:buChar char="❏"/>
            </a:pPr>
            <a:r>
              <a:rPr b="1" lang="en"/>
              <a:t>Task 2:</a:t>
            </a:r>
            <a:r>
              <a:rPr lang="en"/>
              <a:t> Spark MLlib for ML task (non-ML libraries are allowed for non-ML tasks)</a:t>
            </a:r>
            <a:endParaRPr/>
          </a:p>
        </p:txBody>
      </p:sp>
      <p:sp>
        <p:nvSpPr>
          <p:cNvPr id="216" name="Google Shape;216;p35"/>
          <p:cNvSpPr txBox="1"/>
          <p:nvPr>
            <p:ph idx="3" type="subTitle"/>
          </p:nvPr>
        </p:nvSpPr>
        <p:spPr>
          <a:xfrm>
            <a:off x="715100" y="1496103"/>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r>
              <a:rPr lang="en"/>
              <a:t>Data Selection: </a:t>
            </a:r>
            <a:r>
              <a:rPr lang="en" u="sng"/>
              <a:t>Apartment Rent Data</a:t>
            </a:r>
            <a:endParaRPr u="sng"/>
          </a:p>
        </p:txBody>
      </p:sp>
      <p:sp>
        <p:nvSpPr>
          <p:cNvPr id="217" name="Google Shape;217;p35"/>
          <p:cNvSpPr txBox="1"/>
          <p:nvPr>
            <p:ph idx="4" type="subTitle"/>
          </p:nvPr>
        </p:nvSpPr>
        <p:spPr>
          <a:xfrm>
            <a:off x="715100" y="29192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Our Objective</a:t>
            </a:r>
            <a:endParaRPr/>
          </a:p>
        </p:txBody>
      </p:sp>
      <p:grpSp>
        <p:nvGrpSpPr>
          <p:cNvPr id="218" name="Google Shape;218;p35"/>
          <p:cNvGrpSpPr/>
          <p:nvPr/>
        </p:nvGrpSpPr>
        <p:grpSpPr>
          <a:xfrm>
            <a:off x="797933" y="2957687"/>
            <a:ext cx="378979" cy="379023"/>
            <a:chOff x="898875" y="4399275"/>
            <a:chExt cx="483700" cy="481850"/>
          </a:xfrm>
        </p:grpSpPr>
        <p:sp>
          <p:nvSpPr>
            <p:cNvPr id="219" name="Google Shape;219;p35"/>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0" name="Google Shape;220;p35"/>
            <p:cNvSpPr/>
            <p:nvPr/>
          </p:nvSpPr>
          <p:spPr>
            <a:xfrm>
              <a:off x="1138025" y="4763350"/>
              <a:ext cx="25" cy="25"/>
            </a:xfrm>
            <a:custGeom>
              <a:rect b="b" l="l" r="r" t="t"/>
              <a:pathLst>
                <a:path extrusionOk="0" h="1" w="1">
                  <a:moveTo>
                    <a:pt x="1" y="0"/>
                  </a:move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1" name="Google Shape;221;p35"/>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2" name="Google Shape;222;p35"/>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3" name="Google Shape;223;p35"/>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4" name="Google Shape;224;p35"/>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5" name="Google Shape;225;p35"/>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sp>
          <p:nvSpPr>
            <p:cNvPr id="226" name="Google Shape;226;p35"/>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lt2"/>
            </a:solidFill>
            <a:ln>
              <a:noFill/>
            </a:ln>
          </p:spPr>
          <p:txBody>
            <a:bodyPr anchorCtr="0" anchor="ctr" bIns="140350" lIns="140350" spcFirstLastPara="1" rIns="140350" wrap="square" tIns="140350">
              <a:noAutofit/>
            </a:bodyPr>
            <a:lstStyle/>
            <a:p>
              <a:pPr indent="0" lvl="0" marL="0" rtl="0" algn="l">
                <a:spcBef>
                  <a:spcPts val="0"/>
                </a:spcBef>
                <a:spcAft>
                  <a:spcPts val="0"/>
                </a:spcAft>
                <a:buNone/>
              </a:pPr>
              <a:r>
                <a:t/>
              </a:r>
              <a:endParaRPr sz="2149">
                <a:solidFill>
                  <a:srgbClr val="435D74"/>
                </a:solidFill>
              </a:endParaRPr>
            </a:p>
          </p:txBody>
        </p:sp>
      </p:grpSp>
      <p:grpSp>
        <p:nvGrpSpPr>
          <p:cNvPr id="227" name="Google Shape;227;p35"/>
          <p:cNvGrpSpPr/>
          <p:nvPr/>
        </p:nvGrpSpPr>
        <p:grpSpPr>
          <a:xfrm>
            <a:off x="799967" y="1536649"/>
            <a:ext cx="374903" cy="374902"/>
            <a:chOff x="-3771675" y="3971775"/>
            <a:chExt cx="291300" cy="292025"/>
          </a:xfrm>
        </p:grpSpPr>
        <p:sp>
          <p:nvSpPr>
            <p:cNvPr id="228" name="Google Shape;228;p35"/>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5"/>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5"/>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5"/>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5"/>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nvSpPr>
        <p:spPr>
          <a:xfrm>
            <a:off x="1281075" y="1322000"/>
            <a:ext cx="2965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       </a:t>
            </a:r>
            <a:r>
              <a:rPr lang="en" sz="1200">
                <a:solidFill>
                  <a:schemeClr val="dk1"/>
                </a:solidFill>
                <a:latin typeface="Alexandria Medium"/>
                <a:ea typeface="Alexandria Medium"/>
                <a:cs typeface="Alexandria Medium"/>
                <a:sym typeface="Alexandria Medium"/>
              </a:rPr>
              <a:t>Identifier</a:t>
            </a:r>
            <a:endParaRPr sz="1200">
              <a:solidFill>
                <a:schemeClr val="dk1"/>
              </a:solidFill>
              <a:latin typeface="Alexandria Medium"/>
              <a:ea typeface="Alexandria Medium"/>
              <a:cs typeface="Alexandria Medium"/>
              <a:sym typeface="Alexandria Medium"/>
            </a:endParaRPr>
          </a:p>
        </p:txBody>
      </p:sp>
      <p:sp>
        <p:nvSpPr>
          <p:cNvPr id="238" name="Google Shape;238;p36"/>
          <p:cNvSpPr txBox="1"/>
          <p:nvPr>
            <p:ph idx="1" type="subTitle"/>
          </p:nvPr>
        </p:nvSpPr>
        <p:spPr>
          <a:xfrm>
            <a:off x="1281075" y="1703000"/>
            <a:ext cx="29652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Unique Identifiers (id)</a:t>
            </a:r>
            <a:endParaRPr/>
          </a:p>
        </p:txBody>
      </p:sp>
      <p:sp>
        <p:nvSpPr>
          <p:cNvPr id="239" name="Google Shape;239;p36"/>
          <p:cNvSpPr txBox="1"/>
          <p:nvPr>
            <p:ph idx="1" type="subTitle"/>
          </p:nvPr>
        </p:nvSpPr>
        <p:spPr>
          <a:xfrm>
            <a:off x="5132475" y="1703000"/>
            <a:ext cx="29652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Address</a:t>
            </a:r>
            <a:endParaRPr/>
          </a:p>
          <a:p>
            <a:pPr indent="-213359" lvl="0" marL="274320" rtl="0" algn="l">
              <a:spcBef>
                <a:spcPts val="0"/>
              </a:spcBef>
              <a:spcAft>
                <a:spcPts val="0"/>
              </a:spcAft>
              <a:buClr>
                <a:schemeClr val="lt2"/>
              </a:buClr>
              <a:buSzPts val="1200"/>
              <a:buChar char="■"/>
            </a:pPr>
            <a:r>
              <a:rPr lang="en"/>
              <a:t>Cityname</a:t>
            </a:r>
            <a:endParaRPr/>
          </a:p>
          <a:p>
            <a:pPr indent="-213359" lvl="0" marL="274320" rtl="0" algn="l">
              <a:spcBef>
                <a:spcPts val="0"/>
              </a:spcBef>
              <a:spcAft>
                <a:spcPts val="0"/>
              </a:spcAft>
              <a:buClr>
                <a:schemeClr val="lt2"/>
              </a:buClr>
              <a:buSzPts val="1200"/>
              <a:buChar char="■"/>
            </a:pPr>
            <a:r>
              <a:rPr lang="en"/>
              <a:t>State</a:t>
            </a:r>
            <a:endParaRPr/>
          </a:p>
          <a:p>
            <a:pPr indent="-213359" lvl="0" marL="274320" rtl="0" algn="l">
              <a:spcBef>
                <a:spcPts val="0"/>
              </a:spcBef>
              <a:spcAft>
                <a:spcPts val="0"/>
              </a:spcAft>
              <a:buClr>
                <a:schemeClr val="lt2"/>
              </a:buClr>
              <a:buSzPts val="1200"/>
              <a:buChar char="■"/>
            </a:pPr>
            <a:r>
              <a:rPr lang="en"/>
              <a:t>Latitude</a:t>
            </a:r>
            <a:endParaRPr/>
          </a:p>
          <a:p>
            <a:pPr indent="-213359" lvl="0" marL="274320" rtl="0" algn="l">
              <a:spcBef>
                <a:spcPts val="0"/>
              </a:spcBef>
              <a:spcAft>
                <a:spcPts val="0"/>
              </a:spcAft>
              <a:buClr>
                <a:schemeClr val="lt2"/>
              </a:buClr>
              <a:buSzPts val="1200"/>
              <a:buChar char="■"/>
            </a:pPr>
            <a:r>
              <a:rPr lang="en"/>
              <a:t>Longitude</a:t>
            </a:r>
            <a:endParaRPr/>
          </a:p>
          <a:p>
            <a:pPr indent="-213359" lvl="0" marL="274320" rtl="0" algn="l">
              <a:spcBef>
                <a:spcPts val="0"/>
              </a:spcBef>
              <a:spcAft>
                <a:spcPts val="0"/>
              </a:spcAft>
              <a:buClr>
                <a:schemeClr val="lt2"/>
              </a:buClr>
              <a:buSzPts val="1200"/>
              <a:buChar char="■"/>
            </a:pPr>
            <a:r>
              <a:rPr lang="en"/>
              <a:t>Source of the classified listing</a:t>
            </a:r>
            <a:endParaRPr/>
          </a:p>
        </p:txBody>
      </p:sp>
      <p:sp>
        <p:nvSpPr>
          <p:cNvPr id="240" name="Google Shape;240;p36"/>
          <p:cNvSpPr txBox="1"/>
          <p:nvPr/>
        </p:nvSpPr>
        <p:spPr>
          <a:xfrm>
            <a:off x="1281075" y="3144175"/>
            <a:ext cx="2965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      </a:t>
            </a:r>
            <a:r>
              <a:rPr lang="en" sz="1200">
                <a:solidFill>
                  <a:schemeClr val="dk1"/>
                </a:solidFill>
                <a:latin typeface="Alexandria Medium"/>
                <a:ea typeface="Alexandria Medium"/>
                <a:cs typeface="Alexandria Medium"/>
                <a:sym typeface="Alexandria Medium"/>
              </a:rPr>
              <a:t>Property Details</a:t>
            </a:r>
            <a:endParaRPr sz="1200">
              <a:solidFill>
                <a:schemeClr val="dk1"/>
              </a:solidFill>
              <a:latin typeface="Alexandria Medium"/>
              <a:ea typeface="Alexandria Medium"/>
              <a:cs typeface="Alexandria Medium"/>
              <a:sym typeface="Alexandria Medium"/>
            </a:endParaRPr>
          </a:p>
        </p:txBody>
      </p:sp>
      <p:sp>
        <p:nvSpPr>
          <p:cNvPr id="241" name="Google Shape;241;p36"/>
          <p:cNvSpPr txBox="1"/>
          <p:nvPr>
            <p:ph idx="1" type="subTitle"/>
          </p:nvPr>
        </p:nvSpPr>
        <p:spPr>
          <a:xfrm>
            <a:off x="1281063" y="3525175"/>
            <a:ext cx="29652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Apartment’s category</a:t>
            </a:r>
            <a:endParaRPr/>
          </a:p>
          <a:p>
            <a:pPr indent="-213359" lvl="0" marL="274320" rtl="0" algn="l">
              <a:spcBef>
                <a:spcPts val="0"/>
              </a:spcBef>
              <a:spcAft>
                <a:spcPts val="0"/>
              </a:spcAft>
              <a:buClr>
                <a:schemeClr val="lt2"/>
              </a:buClr>
              <a:buSzPts val="1200"/>
              <a:buChar char="■"/>
            </a:pPr>
            <a:r>
              <a:rPr lang="en"/>
              <a:t>Title</a:t>
            </a:r>
            <a:endParaRPr/>
          </a:p>
          <a:p>
            <a:pPr indent="-213359" lvl="0" marL="274320" rtl="0" algn="l">
              <a:spcBef>
                <a:spcPts val="0"/>
              </a:spcBef>
              <a:spcAft>
                <a:spcPts val="0"/>
              </a:spcAft>
              <a:buClr>
                <a:schemeClr val="lt2"/>
              </a:buClr>
              <a:buSzPts val="1200"/>
              <a:buChar char="■"/>
            </a:pPr>
            <a:r>
              <a:rPr lang="en"/>
              <a:t>Body</a:t>
            </a:r>
            <a:endParaRPr/>
          </a:p>
          <a:p>
            <a:pPr indent="-213359" lvl="0" marL="274320" rtl="0" algn="l">
              <a:spcBef>
                <a:spcPts val="0"/>
              </a:spcBef>
              <a:spcAft>
                <a:spcPts val="0"/>
              </a:spcAft>
              <a:buClr>
                <a:schemeClr val="lt2"/>
              </a:buClr>
              <a:buSzPts val="1200"/>
              <a:buChar char="■"/>
            </a:pPr>
            <a:r>
              <a:rPr lang="en"/>
              <a:t>Amenities</a:t>
            </a:r>
            <a:endParaRPr/>
          </a:p>
          <a:p>
            <a:pPr indent="-213359" lvl="0" marL="274320" rtl="0" algn="l">
              <a:spcBef>
                <a:spcPts val="0"/>
              </a:spcBef>
              <a:spcAft>
                <a:spcPts val="0"/>
              </a:spcAft>
              <a:buClr>
                <a:schemeClr val="lt2"/>
              </a:buClr>
              <a:buSzPts val="1200"/>
              <a:buChar char="■"/>
            </a:pPr>
            <a:r>
              <a:rPr lang="en"/>
              <a:t>No. of bathrooms</a:t>
            </a:r>
            <a:endParaRPr/>
          </a:p>
          <a:p>
            <a:pPr indent="-213359" lvl="0" marL="274320" rtl="0" algn="l">
              <a:spcBef>
                <a:spcPts val="0"/>
              </a:spcBef>
              <a:spcAft>
                <a:spcPts val="0"/>
              </a:spcAft>
              <a:buClr>
                <a:schemeClr val="lt2"/>
              </a:buClr>
              <a:buSzPts val="1200"/>
              <a:buChar char="■"/>
            </a:pPr>
            <a:r>
              <a:rPr lang="en"/>
              <a:t>No.of bedrooms</a:t>
            </a:r>
            <a:endParaRPr/>
          </a:p>
          <a:p>
            <a:pPr indent="-213359" lvl="0" marL="274320" rtl="0" algn="l">
              <a:spcBef>
                <a:spcPts val="0"/>
              </a:spcBef>
              <a:spcAft>
                <a:spcPts val="0"/>
              </a:spcAft>
              <a:buClr>
                <a:schemeClr val="lt2"/>
              </a:buClr>
              <a:buSzPts val="1200"/>
              <a:buChar char="■"/>
            </a:pPr>
            <a:r>
              <a:rPr lang="en"/>
              <a:t>Size of apartment (square_feet)</a:t>
            </a:r>
            <a:endParaRPr/>
          </a:p>
        </p:txBody>
      </p:sp>
      <p:sp>
        <p:nvSpPr>
          <p:cNvPr id="242" name="Google Shape;242;p3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in Dataset</a:t>
            </a:r>
            <a:endParaRPr/>
          </a:p>
        </p:txBody>
      </p:sp>
      <p:grpSp>
        <p:nvGrpSpPr>
          <p:cNvPr id="243" name="Google Shape;243;p36"/>
          <p:cNvGrpSpPr/>
          <p:nvPr/>
        </p:nvGrpSpPr>
        <p:grpSpPr>
          <a:xfrm>
            <a:off x="5132500" y="1322000"/>
            <a:ext cx="2965200" cy="457200"/>
            <a:chOff x="5132500" y="1322000"/>
            <a:chExt cx="2965200" cy="457200"/>
          </a:xfrm>
        </p:grpSpPr>
        <p:sp>
          <p:nvSpPr>
            <p:cNvPr id="244" name="Google Shape;244;p36"/>
            <p:cNvSpPr txBox="1"/>
            <p:nvPr/>
          </p:nvSpPr>
          <p:spPr>
            <a:xfrm>
              <a:off x="5132500" y="1322000"/>
              <a:ext cx="2965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      </a:t>
              </a:r>
              <a:r>
                <a:rPr lang="en" sz="1200">
                  <a:solidFill>
                    <a:schemeClr val="dk1"/>
                  </a:solidFill>
                  <a:latin typeface="Alexandria Medium"/>
                  <a:ea typeface="Alexandria Medium"/>
                  <a:cs typeface="Alexandria Medium"/>
                  <a:sym typeface="Alexandria Medium"/>
                </a:rPr>
                <a:t>Geographic Details</a:t>
              </a:r>
              <a:endParaRPr sz="1200">
                <a:solidFill>
                  <a:schemeClr val="dk1"/>
                </a:solidFill>
                <a:latin typeface="Alexandria Medium"/>
                <a:ea typeface="Alexandria Medium"/>
                <a:cs typeface="Alexandria Medium"/>
                <a:sym typeface="Alexandria Medium"/>
              </a:endParaRPr>
            </a:p>
          </p:txBody>
        </p:sp>
        <p:grpSp>
          <p:nvGrpSpPr>
            <p:cNvPr id="245" name="Google Shape;245;p36"/>
            <p:cNvGrpSpPr/>
            <p:nvPr/>
          </p:nvGrpSpPr>
          <p:grpSpPr>
            <a:xfrm>
              <a:off x="5192477" y="1424884"/>
              <a:ext cx="220969" cy="251416"/>
              <a:chOff x="1529350" y="258825"/>
              <a:chExt cx="423475" cy="481825"/>
            </a:xfrm>
          </p:grpSpPr>
          <p:sp>
            <p:nvSpPr>
              <p:cNvPr id="246" name="Google Shape;246;p36"/>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lt2"/>
              </a:solidFill>
              <a:ln>
                <a:noFill/>
              </a:ln>
            </p:spPr>
            <p:txBody>
              <a:bodyPr anchorCtr="0" anchor="ctr" bIns="67750" lIns="67750" spcFirstLastPara="1" rIns="67750" wrap="square" tIns="67750">
                <a:noAutofit/>
              </a:bodyPr>
              <a:lstStyle/>
              <a:p>
                <a:pPr indent="0" lvl="0" marL="0" rtl="0" algn="l">
                  <a:spcBef>
                    <a:spcPts val="0"/>
                  </a:spcBef>
                  <a:spcAft>
                    <a:spcPts val="0"/>
                  </a:spcAft>
                  <a:buNone/>
                </a:pPr>
                <a:r>
                  <a:t/>
                </a:r>
                <a:endParaRPr sz="1037">
                  <a:solidFill>
                    <a:srgbClr val="435D74"/>
                  </a:solidFill>
                </a:endParaRPr>
              </a:p>
            </p:txBody>
          </p:sp>
          <p:sp>
            <p:nvSpPr>
              <p:cNvPr id="247" name="Google Shape;247;p36"/>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lt2"/>
              </a:solidFill>
              <a:ln>
                <a:noFill/>
              </a:ln>
            </p:spPr>
            <p:txBody>
              <a:bodyPr anchorCtr="0" anchor="ctr" bIns="67750" lIns="67750" spcFirstLastPara="1" rIns="67750" wrap="square" tIns="67750">
                <a:noAutofit/>
              </a:bodyPr>
              <a:lstStyle/>
              <a:p>
                <a:pPr indent="0" lvl="0" marL="0" rtl="0" algn="l">
                  <a:spcBef>
                    <a:spcPts val="0"/>
                  </a:spcBef>
                  <a:spcAft>
                    <a:spcPts val="0"/>
                  </a:spcAft>
                  <a:buNone/>
                </a:pPr>
                <a:r>
                  <a:t/>
                </a:r>
                <a:endParaRPr sz="1037">
                  <a:solidFill>
                    <a:srgbClr val="435D74"/>
                  </a:solidFill>
                </a:endParaRPr>
              </a:p>
            </p:txBody>
          </p:sp>
        </p:grpSp>
      </p:grpSp>
      <p:grpSp>
        <p:nvGrpSpPr>
          <p:cNvPr id="248" name="Google Shape;248;p36"/>
          <p:cNvGrpSpPr/>
          <p:nvPr/>
        </p:nvGrpSpPr>
        <p:grpSpPr>
          <a:xfrm>
            <a:off x="1323032" y="3235514"/>
            <a:ext cx="259247" cy="246900"/>
            <a:chOff x="6232000" y="1435050"/>
            <a:chExt cx="488225" cy="481850"/>
          </a:xfrm>
        </p:grpSpPr>
        <p:sp>
          <p:nvSpPr>
            <p:cNvPr id="249" name="Google Shape;249;p36"/>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0" name="Google Shape;250;p36"/>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1" name="Google Shape;251;p36"/>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2" name="Google Shape;252;p36"/>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3" name="Google Shape;253;p36"/>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54" name="Google Shape;254;p36"/>
          <p:cNvGrpSpPr/>
          <p:nvPr/>
        </p:nvGrpSpPr>
        <p:grpSpPr>
          <a:xfrm>
            <a:off x="1323047" y="1399534"/>
            <a:ext cx="259219" cy="246896"/>
            <a:chOff x="-59447250" y="3706150"/>
            <a:chExt cx="319000" cy="308775"/>
          </a:xfrm>
        </p:grpSpPr>
        <p:sp>
          <p:nvSpPr>
            <p:cNvPr id="255" name="Google Shape;255;p36"/>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6"/>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6"/>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6"/>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 name="Google Shape;259;p36"/>
          <p:cNvSpPr txBox="1"/>
          <p:nvPr/>
        </p:nvSpPr>
        <p:spPr>
          <a:xfrm>
            <a:off x="5132475" y="3144175"/>
            <a:ext cx="2965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       </a:t>
            </a:r>
            <a:r>
              <a:rPr lang="en" sz="1200">
                <a:solidFill>
                  <a:schemeClr val="dk1"/>
                </a:solidFill>
                <a:latin typeface="Alexandria Medium"/>
                <a:ea typeface="Alexandria Medium"/>
                <a:cs typeface="Alexandria Medium"/>
                <a:sym typeface="Alexandria Medium"/>
              </a:rPr>
              <a:t>Pricing Information</a:t>
            </a:r>
            <a:endParaRPr sz="1200">
              <a:solidFill>
                <a:schemeClr val="dk1"/>
              </a:solidFill>
              <a:latin typeface="Alexandria Medium"/>
              <a:ea typeface="Alexandria Medium"/>
              <a:cs typeface="Alexandria Medium"/>
              <a:sym typeface="Alexandria Medium"/>
            </a:endParaRPr>
          </a:p>
        </p:txBody>
      </p:sp>
      <p:sp>
        <p:nvSpPr>
          <p:cNvPr id="260" name="Google Shape;260;p36"/>
          <p:cNvSpPr txBox="1"/>
          <p:nvPr>
            <p:ph idx="1" type="subTitle"/>
          </p:nvPr>
        </p:nvSpPr>
        <p:spPr>
          <a:xfrm>
            <a:off x="5132475" y="3525175"/>
            <a:ext cx="29652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Rental price (price)</a:t>
            </a:r>
            <a:endParaRPr/>
          </a:p>
          <a:p>
            <a:pPr indent="-213359" lvl="0" marL="274320" rtl="0" algn="l">
              <a:spcBef>
                <a:spcPts val="0"/>
              </a:spcBef>
              <a:spcAft>
                <a:spcPts val="0"/>
              </a:spcAft>
              <a:buClr>
                <a:schemeClr val="lt2"/>
              </a:buClr>
              <a:buSzPts val="1200"/>
              <a:buChar char="■"/>
            </a:pPr>
            <a:r>
              <a:rPr lang="en"/>
              <a:t>Displayed price (price_display)</a:t>
            </a:r>
            <a:endParaRPr/>
          </a:p>
          <a:p>
            <a:pPr indent="-213359" lvl="0" marL="274320" rtl="0" algn="l">
              <a:spcBef>
                <a:spcPts val="0"/>
              </a:spcBef>
              <a:spcAft>
                <a:spcPts val="0"/>
              </a:spcAft>
              <a:buClr>
                <a:schemeClr val="lt2"/>
              </a:buClr>
              <a:buSzPts val="1200"/>
              <a:buChar char="■"/>
            </a:pPr>
            <a:r>
              <a:rPr lang="en"/>
              <a:t>Price in USD (price_type)</a:t>
            </a:r>
            <a:endParaRPr/>
          </a:p>
          <a:p>
            <a:pPr indent="-213359" lvl="0" marL="274320" rtl="0" algn="l">
              <a:spcBef>
                <a:spcPts val="0"/>
              </a:spcBef>
              <a:spcAft>
                <a:spcPts val="0"/>
              </a:spcAft>
              <a:buClr>
                <a:schemeClr val="lt2"/>
              </a:buClr>
              <a:buSzPts val="1200"/>
              <a:buChar char="■"/>
            </a:pPr>
            <a:r>
              <a:rPr lang="en"/>
              <a:t>Fee</a:t>
            </a:r>
            <a:endParaRPr/>
          </a:p>
        </p:txBody>
      </p:sp>
      <p:sp>
        <p:nvSpPr>
          <p:cNvPr id="261" name="Google Shape;261;p36"/>
          <p:cNvSpPr/>
          <p:nvPr/>
        </p:nvSpPr>
        <p:spPr>
          <a:xfrm>
            <a:off x="5201475" y="3263038"/>
            <a:ext cx="219468" cy="219470"/>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in Dataset</a:t>
            </a:r>
            <a:endParaRPr/>
          </a:p>
        </p:txBody>
      </p:sp>
      <p:sp>
        <p:nvSpPr>
          <p:cNvPr id="267" name="Google Shape;267;p37"/>
          <p:cNvSpPr txBox="1"/>
          <p:nvPr>
            <p:ph idx="1" type="subTitle"/>
          </p:nvPr>
        </p:nvSpPr>
        <p:spPr>
          <a:xfrm>
            <a:off x="3089388" y="1716800"/>
            <a:ext cx="2965200" cy="23418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Whether the </a:t>
            </a:r>
            <a:r>
              <a:rPr lang="en"/>
              <a:t>apartment</a:t>
            </a:r>
            <a:r>
              <a:rPr lang="en"/>
              <a:t> has a photo (has_photo)</a:t>
            </a:r>
            <a:endParaRPr/>
          </a:p>
          <a:p>
            <a:pPr indent="-213359" lvl="0" marL="274320" rtl="0" algn="l">
              <a:spcBef>
                <a:spcPts val="0"/>
              </a:spcBef>
              <a:spcAft>
                <a:spcPts val="0"/>
              </a:spcAft>
              <a:buClr>
                <a:schemeClr val="lt2"/>
              </a:buClr>
              <a:buSzPts val="1200"/>
              <a:buChar char="■"/>
            </a:pPr>
            <a:r>
              <a:rPr lang="en"/>
              <a:t>Whether pets are allowed (pets_allowed)</a:t>
            </a:r>
            <a:endParaRPr/>
          </a:p>
          <a:p>
            <a:pPr indent="-213359" lvl="0" marL="274320" rtl="0" algn="l">
              <a:spcBef>
                <a:spcPts val="0"/>
              </a:spcBef>
              <a:spcAft>
                <a:spcPts val="0"/>
              </a:spcAft>
              <a:buClr>
                <a:schemeClr val="lt2"/>
              </a:buClr>
              <a:buSzPts val="1200"/>
              <a:buChar char="■"/>
            </a:pPr>
            <a:r>
              <a:rPr lang="en"/>
              <a:t>Other </a:t>
            </a:r>
            <a:r>
              <a:rPr lang="en"/>
              <a:t>relevant</a:t>
            </a:r>
            <a:r>
              <a:rPr lang="en"/>
              <a:t> details: </a:t>
            </a:r>
            <a:endParaRPr/>
          </a:p>
          <a:p>
            <a:pPr indent="0" lvl="0" marL="457200" rtl="0" algn="l">
              <a:spcBef>
                <a:spcPts val="0"/>
              </a:spcBef>
              <a:spcAft>
                <a:spcPts val="0"/>
              </a:spcAft>
              <a:buNone/>
            </a:pPr>
            <a:r>
              <a:rPr lang="en"/>
              <a:t>- Currency</a:t>
            </a:r>
            <a:endParaRPr/>
          </a:p>
          <a:p>
            <a:pPr indent="0" lvl="0" marL="457200" rtl="0" algn="l">
              <a:spcBef>
                <a:spcPts val="0"/>
              </a:spcBef>
              <a:spcAft>
                <a:spcPts val="0"/>
              </a:spcAft>
              <a:buNone/>
            </a:pPr>
            <a:r>
              <a:rPr lang="en"/>
              <a:t>- Time of listing creation (in unix timestamp string)</a:t>
            </a:r>
            <a:endParaRPr/>
          </a:p>
        </p:txBody>
      </p:sp>
      <p:grpSp>
        <p:nvGrpSpPr>
          <p:cNvPr id="268" name="Google Shape;268;p37"/>
          <p:cNvGrpSpPr/>
          <p:nvPr/>
        </p:nvGrpSpPr>
        <p:grpSpPr>
          <a:xfrm>
            <a:off x="3089413" y="1335800"/>
            <a:ext cx="2965200" cy="457200"/>
            <a:chOff x="3089413" y="1335800"/>
            <a:chExt cx="2965200" cy="457200"/>
          </a:xfrm>
        </p:grpSpPr>
        <p:sp>
          <p:nvSpPr>
            <p:cNvPr id="269" name="Google Shape;269;p37"/>
            <p:cNvSpPr txBox="1"/>
            <p:nvPr/>
          </p:nvSpPr>
          <p:spPr>
            <a:xfrm>
              <a:off x="3089413" y="1335800"/>
              <a:ext cx="2965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       </a:t>
              </a:r>
              <a:r>
                <a:rPr lang="en" sz="1200">
                  <a:solidFill>
                    <a:schemeClr val="dk1"/>
                  </a:solidFill>
                  <a:latin typeface="Alexandria Medium"/>
                  <a:ea typeface="Alexandria Medium"/>
                  <a:cs typeface="Alexandria Medium"/>
                  <a:sym typeface="Alexandria Medium"/>
                </a:rPr>
                <a:t>Additional Features</a:t>
              </a:r>
              <a:endParaRPr sz="1200">
                <a:solidFill>
                  <a:schemeClr val="dk1"/>
                </a:solidFill>
                <a:latin typeface="Alexandria Medium"/>
                <a:ea typeface="Alexandria Medium"/>
                <a:cs typeface="Alexandria Medium"/>
                <a:sym typeface="Alexandria Medium"/>
              </a:endParaRPr>
            </a:p>
          </p:txBody>
        </p:sp>
        <p:grpSp>
          <p:nvGrpSpPr>
            <p:cNvPr id="270" name="Google Shape;270;p37"/>
            <p:cNvGrpSpPr/>
            <p:nvPr/>
          </p:nvGrpSpPr>
          <p:grpSpPr>
            <a:xfrm>
              <a:off x="3154573" y="1440952"/>
              <a:ext cx="234551" cy="246886"/>
              <a:chOff x="-45673275" y="3199325"/>
              <a:chExt cx="299325" cy="302075"/>
            </a:xfrm>
          </p:grpSpPr>
          <p:sp>
            <p:nvSpPr>
              <p:cNvPr id="271" name="Google Shape;271;p37"/>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lt2"/>
              </a:solidFill>
              <a:ln>
                <a:noFill/>
              </a:ln>
            </p:spPr>
            <p:txBody>
              <a:bodyPr anchorCtr="0" anchor="ctr" bIns="81000" lIns="81000" spcFirstLastPara="1" rIns="81000" wrap="square" tIns="81000">
                <a:noAutofit/>
              </a:bodyPr>
              <a:lstStyle/>
              <a:p>
                <a:pPr indent="0" lvl="0" marL="0" rtl="0" algn="l">
                  <a:spcBef>
                    <a:spcPts val="0"/>
                  </a:spcBef>
                  <a:spcAft>
                    <a:spcPts val="0"/>
                  </a:spcAft>
                  <a:buNone/>
                </a:pPr>
                <a:r>
                  <a:t/>
                </a:r>
                <a:endParaRPr/>
              </a:p>
            </p:txBody>
          </p:sp>
          <p:sp>
            <p:nvSpPr>
              <p:cNvPr id="272" name="Google Shape;272;p37"/>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lt2"/>
              </a:solidFill>
              <a:ln>
                <a:noFill/>
              </a:ln>
            </p:spPr>
            <p:txBody>
              <a:bodyPr anchorCtr="0" anchor="ctr" bIns="81000" lIns="81000" spcFirstLastPara="1" rIns="81000" wrap="square" tIns="81000">
                <a:noAutofit/>
              </a:bodyPr>
              <a:lstStyle/>
              <a:p>
                <a:pPr indent="0" lvl="0" marL="0" rtl="0" algn="l">
                  <a:spcBef>
                    <a:spcPts val="0"/>
                  </a:spcBef>
                  <a:spcAft>
                    <a:spcPts val="0"/>
                  </a:spcAft>
                  <a:buNone/>
                </a:pPr>
                <a:r>
                  <a:t/>
                </a:r>
                <a:endParaRPr/>
              </a:p>
            </p:txBody>
          </p:sp>
          <p:sp>
            <p:nvSpPr>
              <p:cNvPr id="273" name="Google Shape;273;p37"/>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lt2"/>
              </a:solidFill>
              <a:ln>
                <a:noFill/>
              </a:ln>
            </p:spPr>
            <p:txBody>
              <a:bodyPr anchorCtr="0" anchor="ctr" bIns="81000" lIns="81000" spcFirstLastPara="1" rIns="81000" wrap="square" tIns="81000">
                <a:noAutofit/>
              </a:bodyPr>
              <a:lstStyle/>
              <a:p>
                <a:pPr indent="0" lvl="0" marL="0" rtl="0" algn="l">
                  <a:spcBef>
                    <a:spcPts val="0"/>
                  </a:spcBef>
                  <a:spcAft>
                    <a:spcPts val="0"/>
                  </a:spcAft>
                  <a:buNone/>
                </a:pPr>
                <a:r>
                  <a:t/>
                </a: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1</a:t>
            </a:r>
            <a:endParaRPr sz="4600"/>
          </a:p>
        </p:txBody>
      </p:sp>
      <p:sp>
        <p:nvSpPr>
          <p:cNvPr id="279" name="Google Shape;279;p38"/>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cxnSp>
        <p:nvCxnSpPr>
          <p:cNvPr id="280" name="Google Shape;280;p38">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type="title"/>
          </p:nvPr>
        </p:nvSpPr>
        <p:spPr>
          <a:xfrm>
            <a:off x="366275" y="14535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the Dataset</a:t>
            </a:r>
            <a:endParaRPr/>
          </a:p>
        </p:txBody>
      </p:sp>
      <p:sp>
        <p:nvSpPr>
          <p:cNvPr id="286" name="Google Shape;286;p39"/>
          <p:cNvSpPr txBox="1"/>
          <p:nvPr/>
        </p:nvSpPr>
        <p:spPr>
          <a:xfrm>
            <a:off x="898775" y="694057"/>
            <a:ext cx="7181400" cy="364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latin typeface="Albert Sans"/>
                <a:ea typeface="Albert Sans"/>
                <a:cs typeface="Albert Sans"/>
                <a:sym typeface="Albert Sans"/>
              </a:rPr>
              <a:t>We downloaded the </a:t>
            </a:r>
            <a:r>
              <a:rPr lang="en" sz="1100">
                <a:latin typeface="Albert Sans"/>
                <a:ea typeface="Albert Sans"/>
                <a:cs typeface="Albert Sans"/>
                <a:sym typeface="Albert Sans"/>
              </a:rPr>
              <a:t>apartment rental dataset from KaggleHub.</a:t>
            </a:r>
            <a:r>
              <a:rPr lang="en" sz="1100">
                <a:latin typeface="Albert Sans"/>
                <a:ea typeface="Albert Sans"/>
                <a:cs typeface="Albert Sans"/>
                <a:sym typeface="Albert Sans"/>
              </a:rPr>
              <a:t> Then we opened the data file, making sure we read it correctly even if there were some small formatting issues, removed messy characters like extra spaces or line breaks from descriptions and got rid of a column that wasn't needed and made sure the price information was in a usable number format. We also removed any listings that didn't have a price.</a:t>
            </a:r>
            <a:endParaRPr sz="1100">
              <a:latin typeface="Albert Sans"/>
              <a:ea typeface="Albert Sans"/>
              <a:cs typeface="Albert Sans"/>
              <a:sym typeface="Albert Sans"/>
            </a:endParaRPr>
          </a:p>
          <a:p>
            <a:pPr indent="0" lvl="0" marL="0" rtl="0" algn="l">
              <a:lnSpc>
                <a:spcPct val="115000"/>
              </a:lnSpc>
              <a:spcBef>
                <a:spcPts val="1200"/>
              </a:spcBef>
              <a:spcAft>
                <a:spcPts val="0"/>
              </a:spcAft>
              <a:buNone/>
            </a:pPr>
            <a:r>
              <a:rPr lang="en" sz="1100">
                <a:latin typeface="Albert Sans"/>
                <a:ea typeface="Albert Sans"/>
                <a:cs typeface="Albert Sans"/>
                <a:sym typeface="Albert Sans"/>
              </a:rPr>
              <a:t>We divided  the data into two main groups: a 80% for </a:t>
            </a:r>
            <a:r>
              <a:rPr b="1" lang="en" sz="1100">
                <a:latin typeface="Albert Sans"/>
                <a:ea typeface="Albert Sans"/>
                <a:cs typeface="Albert Sans"/>
                <a:sym typeface="Albert Sans"/>
              </a:rPr>
              <a:t>Training </a:t>
            </a:r>
            <a:r>
              <a:rPr lang="en" sz="1100">
                <a:latin typeface="Albert Sans"/>
                <a:ea typeface="Albert Sans"/>
                <a:cs typeface="Albert Sans"/>
                <a:sym typeface="Albert Sans"/>
              </a:rPr>
              <a:t>our models and 20% for </a:t>
            </a:r>
            <a:r>
              <a:rPr b="1" lang="en" sz="1100">
                <a:latin typeface="Albert Sans"/>
                <a:ea typeface="Albert Sans"/>
                <a:cs typeface="Albert Sans"/>
                <a:sym typeface="Albert Sans"/>
              </a:rPr>
              <a:t>Testing </a:t>
            </a:r>
            <a:r>
              <a:rPr lang="en" sz="1100">
                <a:latin typeface="Albert Sans"/>
                <a:ea typeface="Albert Sans"/>
                <a:cs typeface="Albert Sans"/>
                <a:sym typeface="Albert Sans"/>
              </a:rPr>
              <a:t>how well they learned. We also removed some columns that wouldn't help in predicting the price, like the listing ID or exact address.</a:t>
            </a:r>
            <a:endParaRPr sz="1100">
              <a:latin typeface="Albert Sans"/>
              <a:ea typeface="Albert Sans"/>
              <a:cs typeface="Albert Sans"/>
              <a:sym typeface="Albert Sans"/>
            </a:endParaRPr>
          </a:p>
          <a:p>
            <a:pPr indent="0" lvl="0" marL="0" rtl="0" algn="l">
              <a:lnSpc>
                <a:spcPct val="115000"/>
              </a:lnSpc>
              <a:spcBef>
                <a:spcPts val="1200"/>
              </a:spcBef>
              <a:spcAft>
                <a:spcPts val="0"/>
              </a:spcAft>
              <a:buNone/>
            </a:pPr>
            <a:r>
              <a:rPr lang="en" sz="1100">
                <a:latin typeface="Albert Sans"/>
                <a:ea typeface="Albert Sans"/>
                <a:cs typeface="Albert Sans"/>
                <a:sym typeface="Albert Sans"/>
              </a:rPr>
              <a:t>We figured out which pieces of information were numbers (like square feet or number of bedrooms) and which were categories (like the type of apartment or if pets are allowed).</a:t>
            </a:r>
            <a:endParaRPr sz="1100">
              <a:latin typeface="Albert Sans"/>
              <a:ea typeface="Albert Sans"/>
              <a:cs typeface="Albert Sans"/>
              <a:sym typeface="Albert Sans"/>
            </a:endParaRPr>
          </a:p>
          <a:p>
            <a:pPr indent="0" lvl="0" marL="0" rtl="0" algn="l">
              <a:lnSpc>
                <a:spcPct val="115000"/>
              </a:lnSpc>
              <a:spcBef>
                <a:spcPts val="1200"/>
              </a:spcBef>
              <a:spcAft>
                <a:spcPts val="0"/>
              </a:spcAft>
              <a:buNone/>
            </a:pPr>
            <a:r>
              <a:rPr lang="en" sz="1100">
                <a:latin typeface="Albert Sans"/>
                <a:ea typeface="Albert Sans"/>
                <a:cs typeface="Albert Sans"/>
                <a:sym typeface="Albert Sans"/>
              </a:rPr>
              <a:t>We set up a system to get the data ready for the prediction models.</a:t>
            </a:r>
            <a:endParaRPr sz="1100">
              <a:latin typeface="Albert Sans"/>
              <a:ea typeface="Albert Sans"/>
              <a:cs typeface="Albert Sans"/>
              <a:sym typeface="Albert Sans"/>
            </a:endParaRPr>
          </a:p>
          <a:p>
            <a:pPr indent="-298450" lvl="1" marL="914400" rtl="0" algn="l">
              <a:lnSpc>
                <a:spcPct val="115000"/>
              </a:lnSpc>
              <a:spcBef>
                <a:spcPts val="1200"/>
              </a:spcBef>
              <a:spcAft>
                <a:spcPts val="0"/>
              </a:spcAft>
              <a:buSzPts val="1100"/>
              <a:buFont typeface="Albert Sans"/>
              <a:buChar char="○"/>
            </a:pPr>
            <a:r>
              <a:rPr lang="en" sz="1100">
                <a:latin typeface="Albert Sans"/>
                <a:ea typeface="Albert Sans"/>
                <a:cs typeface="Albert Sans"/>
                <a:sym typeface="Albert Sans"/>
              </a:rPr>
              <a:t>For numbers, we filled in any missing values with the average number and adjusted the numbers so they were on a similar scale. We also added a new calculated feature (like a ratio of bathrooms to bedrooms).</a:t>
            </a:r>
            <a:endParaRPr sz="1100">
              <a:latin typeface="Albert Sans"/>
              <a:ea typeface="Albert Sans"/>
              <a:cs typeface="Albert Sans"/>
              <a:sym typeface="Albert Sans"/>
            </a:endParaRPr>
          </a:p>
          <a:p>
            <a:pPr indent="-298450" lvl="1" marL="914400" rtl="0" algn="l">
              <a:lnSpc>
                <a:spcPct val="115000"/>
              </a:lnSpc>
              <a:spcBef>
                <a:spcPts val="0"/>
              </a:spcBef>
              <a:spcAft>
                <a:spcPts val="0"/>
              </a:spcAft>
              <a:buSzPts val="1100"/>
              <a:buFont typeface="Albert Sans"/>
              <a:buChar char="○"/>
            </a:pPr>
            <a:r>
              <a:rPr lang="en" sz="1100">
                <a:latin typeface="Albert Sans"/>
                <a:ea typeface="Albert Sans"/>
                <a:cs typeface="Albert Sans"/>
                <a:sym typeface="Albert Sans"/>
              </a:rPr>
              <a:t>For categories, we filled in missing values with the most common category and converted the categories into a format the models could understand (like turning "Apartment" into a numerical representation).</a:t>
            </a:r>
            <a:endParaRPr sz="1100">
              <a:latin typeface="Albert Sans"/>
              <a:ea typeface="Albert Sans"/>
              <a:cs typeface="Albert Sans"/>
              <a:sym typeface="Albert Sans"/>
            </a:endParaRPr>
          </a:p>
          <a:p>
            <a:pPr indent="0" lvl="0" marL="0" rtl="0" algn="l">
              <a:lnSpc>
                <a:spcPct val="115000"/>
              </a:lnSpc>
              <a:spcBef>
                <a:spcPts val="1200"/>
              </a:spcBef>
              <a:spcAft>
                <a:spcPts val="0"/>
              </a:spcAft>
              <a:buNone/>
            </a:pPr>
            <a:r>
              <a:rPr lang="en" sz="1100">
                <a:latin typeface="Albert Sans"/>
                <a:ea typeface="Albert Sans"/>
                <a:cs typeface="Albert Sans"/>
                <a:sym typeface="Albert Sans"/>
              </a:rPr>
              <a:t>So, </a:t>
            </a:r>
            <a:r>
              <a:rPr b="1" lang="en" sz="1100">
                <a:latin typeface="Albert Sans"/>
                <a:ea typeface="Albert Sans"/>
                <a:cs typeface="Albert Sans"/>
                <a:sym typeface="Albert Sans"/>
              </a:rPr>
              <a:t>in short,</a:t>
            </a:r>
            <a:r>
              <a:rPr lang="en" sz="1100">
                <a:latin typeface="Albert Sans"/>
                <a:ea typeface="Albert Sans"/>
                <a:cs typeface="Albert Sans"/>
                <a:sym typeface="Albert Sans"/>
              </a:rPr>
              <a:t> we downloaded the data, cleaned it up, transformed it, and then prepared it so that different prediction methods could learn from it and try to guess the rental price.</a:t>
            </a:r>
            <a:endParaRPr sz="1100">
              <a:latin typeface="Albert Sans"/>
              <a:ea typeface="Albert Sans"/>
              <a:cs typeface="Albert Sans"/>
              <a:sym typeface="Albert Sans"/>
            </a:endParaRPr>
          </a:p>
          <a:p>
            <a:pPr indent="0" lvl="0" marL="0" rtl="0" algn="l">
              <a:spcBef>
                <a:spcPts val="1200"/>
              </a:spcBef>
              <a:spcAft>
                <a:spcPts val="0"/>
              </a:spcAft>
              <a:buNone/>
            </a:pPr>
            <a:r>
              <a:t/>
            </a:r>
            <a:endParaRPr sz="1200">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a:t>
            </a:r>
            <a:endParaRPr/>
          </a:p>
        </p:txBody>
      </p:sp>
      <p:sp>
        <p:nvSpPr>
          <p:cNvPr id="292" name="Google Shape;292;p40"/>
          <p:cNvSpPr txBox="1"/>
          <p:nvPr/>
        </p:nvSpPr>
        <p:spPr>
          <a:xfrm>
            <a:off x="715100" y="1261700"/>
            <a:ext cx="8959200" cy="3204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Albert Sans"/>
              <a:buChar char="●"/>
            </a:pPr>
            <a:r>
              <a:rPr b="1" lang="en" sz="1600">
                <a:solidFill>
                  <a:schemeClr val="dk1"/>
                </a:solidFill>
                <a:latin typeface="Albert Sans"/>
                <a:ea typeface="Albert Sans"/>
                <a:cs typeface="Albert Sans"/>
                <a:sym typeface="Albert Sans"/>
              </a:rPr>
              <a:t>Data Cleaning</a:t>
            </a:r>
            <a:r>
              <a:rPr lang="en" sz="1600">
                <a:solidFill>
                  <a:schemeClr val="dk1"/>
                </a:solidFill>
                <a:latin typeface="Albert Sans"/>
                <a:ea typeface="Albert Sans"/>
                <a:cs typeface="Albert Sans"/>
                <a:sym typeface="Albert Sans"/>
              </a:rPr>
              <a:t> is done using different methods on </a:t>
            </a:r>
            <a:r>
              <a:rPr lang="en" sz="1600">
                <a:solidFill>
                  <a:schemeClr val="dk1"/>
                </a:solidFill>
                <a:latin typeface="Albert Sans"/>
                <a:ea typeface="Albert Sans"/>
                <a:cs typeface="Albert Sans"/>
                <a:sym typeface="Albert Sans"/>
              </a:rPr>
              <a:t>different columns</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Preprocesser is called in a pipeline to organise workflow</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rPr lang="en" sz="1600">
                <a:solidFill>
                  <a:schemeClr val="dk1"/>
                </a:solidFill>
                <a:latin typeface="Albert Sans"/>
                <a:ea typeface="Albert Sans"/>
                <a:cs typeface="Albert Sans"/>
                <a:sym typeface="Albert Sans"/>
              </a:rPr>
              <a:t>“</a:t>
            </a:r>
            <a:r>
              <a:rPr i="1" lang="en" sz="1600">
                <a:solidFill>
                  <a:schemeClr val="dk1"/>
                </a:solidFill>
                <a:latin typeface="Albert Sans"/>
                <a:ea typeface="Albert Sans"/>
                <a:cs typeface="Albert Sans"/>
                <a:sym typeface="Albert Sans"/>
              </a:rPr>
              <a:t>pipe = Pipeline([ ('preprocessor', preprocessor)</a:t>
            </a:r>
            <a:r>
              <a:rPr lang="en" sz="1600">
                <a:solidFill>
                  <a:schemeClr val="dk1"/>
                </a:solidFill>
                <a:latin typeface="Albert Sans"/>
                <a:ea typeface="Albert Sans"/>
                <a:cs typeface="Albert Sans"/>
                <a:sym typeface="Albert Sans"/>
              </a:rPr>
              <a:t>”</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Remove </a:t>
            </a:r>
            <a:r>
              <a:rPr lang="en" sz="1600">
                <a:solidFill>
                  <a:schemeClr val="dk1"/>
                </a:solidFill>
                <a:latin typeface="Albert Sans"/>
                <a:ea typeface="Albert Sans"/>
                <a:cs typeface="Albert Sans"/>
                <a:sym typeface="Albert Sans"/>
              </a:rPr>
              <a:t>columns</a:t>
            </a:r>
            <a:r>
              <a:rPr lang="en" sz="1600">
                <a:solidFill>
                  <a:schemeClr val="dk1"/>
                </a:solidFill>
                <a:latin typeface="Albert Sans"/>
                <a:ea typeface="Albert Sans"/>
                <a:cs typeface="Albert Sans"/>
                <a:sym typeface="Albert Sans"/>
              </a:rPr>
              <a:t> -</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rPr lang="en" sz="1600">
                <a:solidFill>
                  <a:schemeClr val="dk1"/>
                </a:solidFill>
                <a:latin typeface="Albert Sans"/>
                <a:ea typeface="Albert Sans"/>
                <a:cs typeface="Albert Sans"/>
                <a:sym typeface="Albert Sans"/>
              </a:rPr>
              <a:t>	</a:t>
            </a:r>
            <a:r>
              <a:rPr b="1" lang="en" sz="1600">
                <a:solidFill>
                  <a:schemeClr val="dk1"/>
                </a:solidFill>
                <a:latin typeface="Albert Sans"/>
                <a:ea typeface="Albert Sans"/>
                <a:cs typeface="Albert Sans"/>
                <a:sym typeface="Albert Sans"/>
              </a:rPr>
              <a:t>price_display</a:t>
            </a:r>
            <a:r>
              <a:rPr lang="en" sz="1600">
                <a:solidFill>
                  <a:schemeClr val="dk1"/>
                </a:solidFill>
                <a:latin typeface="Albert Sans"/>
                <a:ea typeface="Albert Sans"/>
                <a:cs typeface="Albert Sans"/>
                <a:sym typeface="Albert Sans"/>
              </a:rPr>
              <a:t> to prevent too much noise	</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t>
            </a:r>
            <a:r>
              <a:rPr b="1" lang="en" sz="1600">
                <a:solidFill>
                  <a:schemeClr val="dk1"/>
                </a:solidFill>
                <a:latin typeface="Albert Sans"/>
                <a:ea typeface="Albert Sans"/>
                <a:cs typeface="Albert Sans"/>
                <a:sym typeface="Albert Sans"/>
              </a:rPr>
              <a:t>Id,title </a:t>
            </a:r>
            <a:r>
              <a:rPr lang="en" sz="1600">
                <a:solidFill>
                  <a:schemeClr val="dk1"/>
                </a:solidFill>
                <a:latin typeface="Albert Sans"/>
                <a:ea typeface="Albert Sans"/>
                <a:cs typeface="Albert Sans"/>
                <a:sym typeface="Albert Sans"/>
              </a:rPr>
              <a:t>and </a:t>
            </a:r>
            <a:r>
              <a:rPr b="1" lang="en" sz="1600">
                <a:solidFill>
                  <a:schemeClr val="dk1"/>
                </a:solidFill>
                <a:latin typeface="Albert Sans"/>
                <a:ea typeface="Albert Sans"/>
                <a:cs typeface="Albert Sans"/>
                <a:sym typeface="Albert Sans"/>
              </a:rPr>
              <a:t> body </a:t>
            </a:r>
            <a:r>
              <a:rPr lang="en" sz="1600">
                <a:solidFill>
                  <a:schemeClr val="dk1"/>
                </a:solidFill>
                <a:latin typeface="Albert Sans"/>
                <a:ea typeface="Albert Sans"/>
                <a:cs typeface="Albert Sans"/>
                <a:sym typeface="Albert Sans"/>
              </a:rPr>
              <a:t> are too unique to be useful</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Handle </a:t>
            </a:r>
            <a:r>
              <a:rPr lang="en" sz="1600">
                <a:solidFill>
                  <a:schemeClr val="dk1"/>
                </a:solidFill>
                <a:latin typeface="Albert Sans"/>
                <a:ea typeface="Albert Sans"/>
                <a:cs typeface="Albert Sans"/>
                <a:sym typeface="Albert Sans"/>
              </a:rPr>
              <a:t>missing</a:t>
            </a:r>
            <a:r>
              <a:rPr lang="en" sz="1600">
                <a:solidFill>
                  <a:schemeClr val="dk1"/>
                </a:solidFill>
                <a:latin typeface="Albert Sans"/>
                <a:ea typeface="Albert Sans"/>
                <a:cs typeface="Albert Sans"/>
                <a:sym typeface="Albert Sans"/>
              </a:rPr>
              <a:t> data-</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t>
            </a:r>
            <a:r>
              <a:rPr b="1" lang="en" sz="1600">
                <a:solidFill>
                  <a:schemeClr val="dk1"/>
                </a:solidFill>
                <a:latin typeface="Albert Sans"/>
                <a:ea typeface="Albert Sans"/>
                <a:cs typeface="Albert Sans"/>
                <a:sym typeface="Albert Sans"/>
              </a:rPr>
              <a:t>Numbers </a:t>
            </a:r>
            <a:r>
              <a:rPr lang="en" sz="1600">
                <a:solidFill>
                  <a:schemeClr val="dk1"/>
                </a:solidFill>
                <a:latin typeface="Albert Sans"/>
                <a:ea typeface="Albert Sans"/>
                <a:cs typeface="Albert Sans"/>
                <a:sym typeface="Albert Sans"/>
              </a:rPr>
              <a:t> are filled in with median value</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t>
            </a:r>
            <a:r>
              <a:rPr b="1" lang="en" sz="1600">
                <a:solidFill>
                  <a:schemeClr val="dk1"/>
                </a:solidFill>
                <a:latin typeface="Albert Sans"/>
                <a:ea typeface="Albert Sans"/>
                <a:cs typeface="Albert Sans"/>
                <a:sym typeface="Albert Sans"/>
              </a:rPr>
              <a:t>Text </a:t>
            </a:r>
            <a:r>
              <a:rPr lang="en" sz="1600">
                <a:solidFill>
                  <a:schemeClr val="dk1"/>
                </a:solidFill>
                <a:latin typeface="Albert Sans"/>
                <a:ea typeface="Albert Sans"/>
                <a:cs typeface="Albert Sans"/>
                <a:sym typeface="Albert Sans"/>
              </a:rPr>
              <a:t>are filled in with value of higher frequency</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a:t>
            </a:r>
            <a:endParaRPr/>
          </a:p>
        </p:txBody>
      </p:sp>
      <p:sp>
        <p:nvSpPr>
          <p:cNvPr id="298" name="Google Shape;298;p41"/>
          <p:cNvSpPr txBox="1"/>
          <p:nvPr/>
        </p:nvSpPr>
        <p:spPr>
          <a:xfrm>
            <a:off x="844525" y="1200650"/>
            <a:ext cx="7585500" cy="3434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Convert all values to </a:t>
            </a:r>
            <a:r>
              <a:rPr lang="en" sz="1600">
                <a:solidFill>
                  <a:schemeClr val="dk1"/>
                </a:solidFill>
                <a:latin typeface="Albert Sans"/>
                <a:ea typeface="Albert Sans"/>
                <a:cs typeface="Albert Sans"/>
                <a:sym typeface="Albert Sans"/>
              </a:rPr>
              <a:t>numeric</a:t>
            </a:r>
            <a:r>
              <a:rPr lang="en" sz="1600">
                <a:solidFill>
                  <a:schemeClr val="dk1"/>
                </a:solidFill>
                <a:latin typeface="Albert Sans"/>
                <a:ea typeface="Albert Sans"/>
                <a:cs typeface="Albert Sans"/>
                <a:sym typeface="Albert Sans"/>
              </a:rPr>
              <a:t> format for machine </a:t>
            </a:r>
            <a:r>
              <a:rPr lang="en" sz="1600">
                <a:solidFill>
                  <a:schemeClr val="dk1"/>
                </a:solidFill>
                <a:latin typeface="Albert Sans"/>
                <a:ea typeface="Albert Sans"/>
                <a:cs typeface="Albert Sans"/>
                <a:sym typeface="Albert Sans"/>
              </a:rPr>
              <a:t>learning</a:t>
            </a:r>
            <a:r>
              <a:rPr lang="en" sz="1600">
                <a:solidFill>
                  <a:schemeClr val="dk1"/>
                </a:solidFill>
                <a:latin typeface="Albert Sans"/>
                <a:ea typeface="Albert Sans"/>
                <a:cs typeface="Albert Sans"/>
                <a:sym typeface="Albert Sans"/>
              </a:rPr>
              <a:t> model to understand</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Scale </a:t>
            </a:r>
            <a:r>
              <a:rPr lang="en" sz="1600">
                <a:solidFill>
                  <a:schemeClr val="dk1"/>
                </a:solidFill>
                <a:latin typeface="Albert Sans"/>
                <a:ea typeface="Albert Sans"/>
                <a:cs typeface="Albert Sans"/>
                <a:sym typeface="Albert Sans"/>
              </a:rPr>
              <a:t>numeric</a:t>
            </a:r>
            <a:r>
              <a:rPr lang="en" sz="1600">
                <a:solidFill>
                  <a:schemeClr val="dk1"/>
                </a:solidFill>
                <a:latin typeface="Albert Sans"/>
                <a:ea typeface="Albert Sans"/>
                <a:cs typeface="Albert Sans"/>
                <a:sym typeface="Albert Sans"/>
              </a:rPr>
              <a:t> features using standard scaler</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Convert</a:t>
            </a:r>
            <a:r>
              <a:rPr b="1" lang="en" sz="1600">
                <a:solidFill>
                  <a:schemeClr val="dk1"/>
                </a:solidFill>
                <a:latin typeface="Albert Sans"/>
                <a:ea typeface="Albert Sans"/>
                <a:cs typeface="Albert Sans"/>
                <a:sym typeface="Albert Sans"/>
              </a:rPr>
              <a:t> </a:t>
            </a:r>
            <a:r>
              <a:rPr lang="en" sz="1600">
                <a:solidFill>
                  <a:schemeClr val="dk1"/>
                </a:solidFill>
                <a:latin typeface="Albert Sans"/>
                <a:ea typeface="Albert Sans"/>
                <a:cs typeface="Albert Sans"/>
                <a:sym typeface="Albert Sans"/>
              </a:rPr>
              <a:t>values such as cityname using one-hot encoding</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ColumnTransformer split </a:t>
            </a:r>
            <a:r>
              <a:rPr lang="en" sz="1600">
                <a:solidFill>
                  <a:schemeClr val="dk1"/>
                </a:solidFill>
                <a:latin typeface="Albert Sans"/>
                <a:ea typeface="Albert Sans"/>
                <a:cs typeface="Albert Sans"/>
                <a:sym typeface="Albert Sans"/>
              </a:rPr>
              <a:t>the</a:t>
            </a:r>
            <a:r>
              <a:rPr lang="en" sz="1600">
                <a:solidFill>
                  <a:schemeClr val="dk1"/>
                </a:solidFill>
                <a:latin typeface="Albert Sans"/>
                <a:ea typeface="Albert Sans"/>
                <a:cs typeface="Albert Sans"/>
                <a:sym typeface="Albert Sans"/>
              </a:rPr>
              <a:t> numeric value with the categorical values,</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rPr lang="en" sz="1600">
                <a:solidFill>
                  <a:schemeClr val="dk1"/>
                </a:solidFill>
                <a:latin typeface="Albert Sans"/>
                <a:ea typeface="Albert Sans"/>
                <a:cs typeface="Albert Sans"/>
                <a:sym typeface="Albert Sans"/>
              </a:rPr>
              <a:t>Which is then cleaned and merged back together.</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rPr i="1" lang="en" sz="1600">
                <a:solidFill>
                  <a:schemeClr val="dk1"/>
                </a:solidFill>
                <a:latin typeface="Albert Sans"/>
                <a:ea typeface="Albert Sans"/>
                <a:cs typeface="Albert Sans"/>
                <a:sym typeface="Albert Sans"/>
              </a:rPr>
              <a:t>“preprocessor = ColumnTransformer( transformers=[ ('num', numeric_transformer, num_features), ('cat', categorical_transformer, cat_features) ]”</a:t>
            </a:r>
            <a:endParaRPr i="1"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x</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sz="1600">
              <a:solidFill>
                <a:schemeClr val="dk1"/>
              </a:solidFill>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idx="1" type="subTitle"/>
          </p:nvPr>
        </p:nvSpPr>
        <p:spPr>
          <a:xfrm>
            <a:off x="715100" y="1287625"/>
            <a:ext cx="6911100" cy="20850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SzPts val="1700"/>
              <a:buAutoNum type="arabicPeriod"/>
            </a:pPr>
            <a:r>
              <a:rPr lang="en" sz="1700"/>
              <a:t>Linear Regression</a:t>
            </a:r>
            <a:endParaRPr sz="1700"/>
          </a:p>
          <a:p>
            <a:pPr indent="-336550" lvl="0" marL="457200" rtl="0" algn="l">
              <a:lnSpc>
                <a:spcPct val="150000"/>
              </a:lnSpc>
              <a:spcBef>
                <a:spcPts val="0"/>
              </a:spcBef>
              <a:spcAft>
                <a:spcPts val="0"/>
              </a:spcAft>
              <a:buSzPts val="1700"/>
              <a:buAutoNum type="arabicPeriod"/>
            </a:pPr>
            <a:r>
              <a:rPr lang="en" sz="1700"/>
              <a:t>Decision</a:t>
            </a:r>
            <a:r>
              <a:rPr lang="en" sz="1700"/>
              <a:t> Tree</a:t>
            </a:r>
            <a:endParaRPr sz="1700"/>
          </a:p>
          <a:p>
            <a:pPr indent="-336550" lvl="0" marL="457200" rtl="0" algn="l">
              <a:lnSpc>
                <a:spcPct val="150000"/>
              </a:lnSpc>
              <a:spcBef>
                <a:spcPts val="0"/>
              </a:spcBef>
              <a:spcAft>
                <a:spcPts val="0"/>
              </a:spcAft>
              <a:buSzPts val="1700"/>
              <a:buAutoNum type="arabicPeriod"/>
            </a:pPr>
            <a:r>
              <a:rPr lang="en" sz="1700"/>
              <a:t>Random Forest </a:t>
            </a:r>
            <a:endParaRPr sz="1700"/>
          </a:p>
        </p:txBody>
      </p:sp>
      <p:sp>
        <p:nvSpPr>
          <p:cNvPr id="304" name="Google Shape;304;p42"/>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Machine Learning Algorithms Chosen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ph idx="1" type="subTitle"/>
          </p:nvPr>
        </p:nvSpPr>
        <p:spPr>
          <a:xfrm>
            <a:off x="715100" y="1287625"/>
            <a:ext cx="7713900" cy="2085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sz="1600">
                <a:solidFill>
                  <a:srgbClr val="000000"/>
                </a:solidFill>
              </a:rPr>
              <a:t>Concept:</a:t>
            </a:r>
            <a:r>
              <a:rPr lang="en" sz="1600">
                <a:solidFill>
                  <a:srgbClr val="000000"/>
                </a:solidFill>
              </a:rPr>
              <a:t> Assumes a direct, linear relationship between apartment features and rental price.</a:t>
            </a:r>
            <a:br>
              <a:rPr lang="en" sz="1600">
                <a:solidFill>
                  <a:srgbClr val="000000"/>
                </a:solidFill>
              </a:rPr>
            </a:br>
            <a:endParaRPr sz="1600">
              <a:solidFill>
                <a:srgbClr val="000000"/>
              </a:solidFill>
            </a:endParaRPr>
          </a:p>
          <a:p>
            <a:pPr indent="0" lvl="0" marL="0" rtl="0" algn="just">
              <a:lnSpc>
                <a:spcPct val="115000"/>
              </a:lnSpc>
              <a:spcBef>
                <a:spcPts val="1200"/>
              </a:spcBef>
              <a:spcAft>
                <a:spcPts val="0"/>
              </a:spcAft>
              <a:buNone/>
            </a:pPr>
            <a:r>
              <a:rPr b="1" lang="en" sz="1600">
                <a:solidFill>
                  <a:srgbClr val="000000"/>
                </a:solidFill>
              </a:rPr>
              <a:t>How it Works:</a:t>
            </a:r>
            <a:r>
              <a:rPr lang="en" sz="1600">
                <a:solidFill>
                  <a:srgbClr val="000000"/>
                </a:solidFill>
              </a:rPr>
              <a:t> It mathematically models price as a combination of weighted features, identifying the straight-line relationship that best fits the data.</a:t>
            </a:r>
            <a:br>
              <a:rPr lang="en" sz="1600">
                <a:solidFill>
                  <a:srgbClr val="000000"/>
                </a:solidFill>
              </a:rPr>
            </a:br>
            <a:endParaRPr sz="1600">
              <a:solidFill>
                <a:srgbClr val="000000"/>
              </a:solidFill>
            </a:endParaRPr>
          </a:p>
          <a:p>
            <a:pPr indent="0" lvl="0" marL="0" rtl="0" algn="just">
              <a:lnSpc>
                <a:spcPct val="115000"/>
              </a:lnSpc>
              <a:spcBef>
                <a:spcPts val="1200"/>
              </a:spcBef>
              <a:spcAft>
                <a:spcPts val="0"/>
              </a:spcAft>
              <a:buNone/>
            </a:pPr>
            <a:r>
              <a:rPr b="1" lang="en" sz="1600">
                <a:solidFill>
                  <a:srgbClr val="000000"/>
                </a:solidFill>
              </a:rPr>
              <a:t>Role in Task:</a:t>
            </a:r>
            <a:r>
              <a:rPr lang="en" sz="1600">
                <a:solidFill>
                  <a:srgbClr val="000000"/>
                </a:solidFill>
              </a:rPr>
              <a:t> Serves as an interpretable baseline to understand the fundamental impact of features on price.</a:t>
            </a:r>
            <a:endParaRPr sz="1600">
              <a:solidFill>
                <a:srgbClr val="000000"/>
              </a:solidFill>
            </a:endParaRPr>
          </a:p>
          <a:p>
            <a:pPr indent="0" lvl="0" marL="0" rtl="0" algn="just">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457200" rtl="0" algn="just">
              <a:lnSpc>
                <a:spcPct val="115000"/>
              </a:lnSpc>
              <a:spcBef>
                <a:spcPts val="1200"/>
              </a:spcBef>
              <a:spcAft>
                <a:spcPts val="0"/>
              </a:spcAft>
              <a:buNone/>
            </a:pPr>
            <a:r>
              <a:t/>
            </a:r>
            <a:endParaRPr b="1" sz="1600">
              <a:solidFill>
                <a:srgbClr val="000000"/>
              </a:solidFill>
              <a:latin typeface="Arial"/>
              <a:ea typeface="Arial"/>
              <a:cs typeface="Arial"/>
              <a:sym typeface="Arial"/>
            </a:endParaRPr>
          </a:p>
          <a:p>
            <a:pPr indent="0" lvl="0" marL="457200" rtl="0" algn="just">
              <a:lnSpc>
                <a:spcPct val="150000"/>
              </a:lnSpc>
              <a:spcBef>
                <a:spcPts val="1200"/>
              </a:spcBef>
              <a:spcAft>
                <a:spcPts val="0"/>
              </a:spcAft>
              <a:buNone/>
            </a:pPr>
            <a:r>
              <a:t/>
            </a:r>
            <a:endParaRPr sz="1600"/>
          </a:p>
        </p:txBody>
      </p:sp>
      <p:sp>
        <p:nvSpPr>
          <p:cNvPr id="310" name="Google Shape;310;p4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AutoNum type="arabicPeriod"/>
            </a:pPr>
            <a:r>
              <a:rPr lang="en"/>
              <a:t>Linear Regression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idx="1" type="subTitle"/>
          </p:nvPr>
        </p:nvSpPr>
        <p:spPr>
          <a:xfrm>
            <a:off x="715100" y="1287625"/>
            <a:ext cx="8198100" cy="2085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sz="1600">
                <a:solidFill>
                  <a:srgbClr val="000000"/>
                </a:solidFill>
              </a:rPr>
              <a:t>Concept:</a:t>
            </a:r>
            <a:r>
              <a:rPr lang="en" sz="1600">
                <a:solidFill>
                  <a:srgbClr val="000000"/>
                </a:solidFill>
              </a:rPr>
              <a:t> Makes predictions by recursively splitting the data based on feature values.</a:t>
            </a:r>
            <a:br>
              <a:rPr lang="en" sz="1600">
                <a:solidFill>
                  <a:srgbClr val="000000"/>
                </a:solidFill>
              </a:rPr>
            </a:br>
            <a:endParaRPr sz="1600">
              <a:solidFill>
                <a:srgbClr val="000000"/>
              </a:solidFill>
            </a:endParaRPr>
          </a:p>
          <a:p>
            <a:pPr indent="0" lvl="0" marL="0" rtl="0" algn="just">
              <a:lnSpc>
                <a:spcPct val="115000"/>
              </a:lnSpc>
              <a:spcBef>
                <a:spcPts val="1200"/>
              </a:spcBef>
              <a:spcAft>
                <a:spcPts val="0"/>
              </a:spcAft>
              <a:buNone/>
            </a:pPr>
            <a:r>
              <a:rPr b="1" lang="en" sz="1600">
                <a:solidFill>
                  <a:srgbClr val="000000"/>
                </a:solidFill>
              </a:rPr>
              <a:t>How it Works:</a:t>
            </a:r>
            <a:r>
              <a:rPr lang="en" sz="1600">
                <a:solidFill>
                  <a:srgbClr val="000000"/>
                </a:solidFill>
              </a:rPr>
              <a:t> It builds a tree structure where each step (node) is a decision based on a feature, leading to a predicted price at the end (leaf). This allows it to capture more intricate relationships than a simple linear model.</a:t>
            </a:r>
            <a:br>
              <a:rPr lang="en" sz="1600">
                <a:solidFill>
                  <a:srgbClr val="000000"/>
                </a:solidFill>
              </a:rPr>
            </a:br>
            <a:endParaRPr sz="1600">
              <a:solidFill>
                <a:srgbClr val="000000"/>
              </a:solidFill>
            </a:endParaRPr>
          </a:p>
          <a:p>
            <a:pPr indent="0" lvl="0" marL="0" rtl="0" algn="just">
              <a:lnSpc>
                <a:spcPct val="115000"/>
              </a:lnSpc>
              <a:spcBef>
                <a:spcPts val="1200"/>
              </a:spcBef>
              <a:spcAft>
                <a:spcPts val="1200"/>
              </a:spcAft>
              <a:buNone/>
            </a:pPr>
            <a:r>
              <a:rPr b="1" lang="en" sz="1600">
                <a:solidFill>
                  <a:srgbClr val="000000"/>
                </a:solidFill>
              </a:rPr>
              <a:t>Role in Task:</a:t>
            </a:r>
            <a:r>
              <a:rPr lang="en" sz="1600">
                <a:solidFill>
                  <a:srgbClr val="000000"/>
                </a:solidFill>
              </a:rPr>
              <a:t> It helps uncover non-linear patterns and feature interactions that influence the price.</a:t>
            </a:r>
            <a:endParaRPr b="1" sz="1600">
              <a:solidFill>
                <a:srgbClr val="000000"/>
              </a:solidFill>
            </a:endParaRPr>
          </a:p>
        </p:txBody>
      </p:sp>
      <p:sp>
        <p:nvSpPr>
          <p:cNvPr id="316" name="Google Shape;316;p44"/>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Decision Tree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idx="1" type="subTitle"/>
          </p:nvPr>
        </p:nvSpPr>
        <p:spPr>
          <a:xfrm>
            <a:off x="715100" y="1184350"/>
            <a:ext cx="7847100" cy="2085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sz="1600">
                <a:solidFill>
                  <a:srgbClr val="000000"/>
                </a:solidFill>
              </a:rPr>
              <a:t>Concept:</a:t>
            </a:r>
            <a:r>
              <a:rPr lang="en" sz="1600">
                <a:solidFill>
                  <a:srgbClr val="000000"/>
                </a:solidFill>
              </a:rPr>
              <a:t> A collective method that combines predictions from multiple Decision Trees.</a:t>
            </a:r>
            <a:br>
              <a:rPr lang="en" sz="1600">
                <a:solidFill>
                  <a:srgbClr val="000000"/>
                </a:solidFill>
              </a:rPr>
            </a:br>
            <a:endParaRPr sz="1600">
              <a:solidFill>
                <a:srgbClr val="000000"/>
              </a:solidFill>
            </a:endParaRPr>
          </a:p>
          <a:p>
            <a:pPr indent="0" lvl="0" marL="0" rtl="0" algn="just">
              <a:lnSpc>
                <a:spcPct val="115000"/>
              </a:lnSpc>
              <a:spcBef>
                <a:spcPts val="1200"/>
              </a:spcBef>
              <a:spcAft>
                <a:spcPts val="0"/>
              </a:spcAft>
              <a:buNone/>
            </a:pPr>
            <a:r>
              <a:rPr b="1" lang="en" sz="1600">
                <a:solidFill>
                  <a:srgbClr val="000000"/>
                </a:solidFill>
              </a:rPr>
              <a:t>How it Works:</a:t>
            </a:r>
            <a:r>
              <a:rPr lang="en" sz="1600">
                <a:solidFill>
                  <a:srgbClr val="000000"/>
                </a:solidFill>
              </a:rPr>
              <a:t> It trains several Decision Trees on variations of the data and features, then averages their predictions to produce a final, more robust estimate.</a:t>
            </a:r>
            <a:br>
              <a:rPr lang="en" sz="1600">
                <a:solidFill>
                  <a:srgbClr val="000000"/>
                </a:solidFill>
              </a:rPr>
            </a:br>
            <a:endParaRPr sz="1600">
              <a:solidFill>
                <a:srgbClr val="000000"/>
              </a:solidFill>
            </a:endParaRPr>
          </a:p>
          <a:p>
            <a:pPr indent="0" lvl="0" marL="0" rtl="0" algn="just">
              <a:lnSpc>
                <a:spcPct val="115000"/>
              </a:lnSpc>
              <a:spcBef>
                <a:spcPts val="1200"/>
              </a:spcBef>
              <a:spcAft>
                <a:spcPts val="0"/>
              </a:spcAft>
              <a:buNone/>
            </a:pPr>
            <a:r>
              <a:rPr b="1" lang="en" sz="1600">
                <a:solidFill>
                  <a:srgbClr val="000000"/>
                </a:solidFill>
              </a:rPr>
              <a:t>Role in Task:</a:t>
            </a:r>
            <a:r>
              <a:rPr lang="en" sz="1600">
                <a:solidFill>
                  <a:srgbClr val="000000"/>
                </a:solidFill>
              </a:rPr>
              <a:t> Generally offers improved predictive accuracy and stability by reducing the risk of overfitting and capturing complex data structures effectively.</a:t>
            </a:r>
            <a:r>
              <a:rPr lang="en" sz="1600"/>
              <a:t> </a:t>
            </a:r>
            <a:endParaRPr sz="1600"/>
          </a:p>
        </p:txBody>
      </p:sp>
      <p:sp>
        <p:nvSpPr>
          <p:cNvPr id="322" name="Google Shape;322;p45"/>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Random Forest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on </a:t>
            </a:r>
            <a:r>
              <a:rPr lang="en"/>
              <a:t>Training</a:t>
            </a:r>
            <a:r>
              <a:rPr lang="en"/>
              <a:t> Set</a:t>
            </a:r>
            <a:endParaRPr/>
          </a:p>
        </p:txBody>
      </p:sp>
      <p:pic>
        <p:nvPicPr>
          <p:cNvPr id="328" name="Google Shape;328;p46"/>
          <p:cNvPicPr preferRelativeResize="0"/>
          <p:nvPr/>
        </p:nvPicPr>
        <p:blipFill>
          <a:blip r:embed="rId3">
            <a:alphaModFix/>
          </a:blip>
          <a:stretch>
            <a:fillRect/>
          </a:stretch>
        </p:blipFill>
        <p:spPr>
          <a:xfrm>
            <a:off x="1281599" y="1714500"/>
            <a:ext cx="6103676" cy="1674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Metrics on Test Set</a:t>
            </a:r>
            <a:endParaRPr/>
          </a:p>
        </p:txBody>
      </p:sp>
      <p:pic>
        <p:nvPicPr>
          <p:cNvPr id="334" name="Google Shape;334;p47"/>
          <p:cNvPicPr preferRelativeResize="0"/>
          <p:nvPr/>
        </p:nvPicPr>
        <p:blipFill>
          <a:blip r:embed="rId3">
            <a:alphaModFix/>
          </a:blip>
          <a:stretch>
            <a:fillRect/>
          </a:stretch>
        </p:blipFill>
        <p:spPr>
          <a:xfrm>
            <a:off x="1381525" y="1545835"/>
            <a:ext cx="6380949" cy="2957300"/>
          </a:xfrm>
          <a:prstGeom prst="rect">
            <a:avLst/>
          </a:prstGeom>
          <a:noFill/>
          <a:ln>
            <a:noFill/>
          </a:ln>
        </p:spPr>
      </p:pic>
      <p:sp>
        <p:nvSpPr>
          <p:cNvPr id="335" name="Google Shape;335;p47"/>
          <p:cNvSpPr txBox="1"/>
          <p:nvPr/>
        </p:nvSpPr>
        <p:spPr>
          <a:xfrm>
            <a:off x="807600" y="1083700"/>
            <a:ext cx="2045100" cy="2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a:t>
            </a:r>
            <a:r>
              <a:rPr i="1" lang="en" sz="1200">
                <a:solidFill>
                  <a:schemeClr val="dk1"/>
                </a:solidFill>
                <a:latin typeface="Albert Sans"/>
                <a:ea typeface="Albert Sans"/>
                <a:cs typeface="Albert Sans"/>
                <a:sym typeface="Albert Sans"/>
              </a:rPr>
              <a:t>as of 18 Aug 2025</a:t>
            </a: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8"/>
          <p:cNvSpPr txBox="1"/>
          <p:nvPr>
            <p:ph type="title"/>
          </p:nvPr>
        </p:nvSpPr>
        <p:spPr>
          <a:xfrm>
            <a:off x="715100" y="47303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Graphs for Visualisations</a:t>
            </a:r>
            <a:endParaRPr/>
          </a:p>
        </p:txBody>
      </p:sp>
      <p:pic>
        <p:nvPicPr>
          <p:cNvPr id="341" name="Google Shape;341;p48"/>
          <p:cNvPicPr preferRelativeResize="0"/>
          <p:nvPr/>
        </p:nvPicPr>
        <p:blipFill>
          <a:blip r:embed="rId3">
            <a:alphaModFix/>
          </a:blip>
          <a:stretch>
            <a:fillRect/>
          </a:stretch>
        </p:blipFill>
        <p:spPr>
          <a:xfrm>
            <a:off x="0" y="1574676"/>
            <a:ext cx="2582075" cy="2531150"/>
          </a:xfrm>
          <a:prstGeom prst="rect">
            <a:avLst/>
          </a:prstGeom>
          <a:noFill/>
          <a:ln>
            <a:noFill/>
          </a:ln>
        </p:spPr>
      </p:pic>
      <p:pic>
        <p:nvPicPr>
          <p:cNvPr id="342" name="Google Shape;342;p48"/>
          <p:cNvPicPr preferRelativeResize="0"/>
          <p:nvPr/>
        </p:nvPicPr>
        <p:blipFill>
          <a:blip r:embed="rId4">
            <a:alphaModFix/>
          </a:blip>
          <a:stretch>
            <a:fillRect/>
          </a:stretch>
        </p:blipFill>
        <p:spPr>
          <a:xfrm>
            <a:off x="2663125" y="1666150"/>
            <a:ext cx="3177179" cy="2233675"/>
          </a:xfrm>
          <a:prstGeom prst="rect">
            <a:avLst/>
          </a:prstGeom>
          <a:noFill/>
          <a:ln>
            <a:noFill/>
          </a:ln>
        </p:spPr>
      </p:pic>
      <p:pic>
        <p:nvPicPr>
          <p:cNvPr id="343" name="Google Shape;343;p48"/>
          <p:cNvPicPr preferRelativeResize="0"/>
          <p:nvPr/>
        </p:nvPicPr>
        <p:blipFill>
          <a:blip r:embed="rId5">
            <a:alphaModFix/>
          </a:blip>
          <a:stretch>
            <a:fillRect/>
          </a:stretch>
        </p:blipFill>
        <p:spPr>
          <a:xfrm>
            <a:off x="5840300" y="1617100"/>
            <a:ext cx="3303701" cy="2289852"/>
          </a:xfrm>
          <a:prstGeom prst="rect">
            <a:avLst/>
          </a:prstGeom>
          <a:noFill/>
          <a:ln>
            <a:noFill/>
          </a:ln>
        </p:spPr>
      </p:pic>
      <p:sp>
        <p:nvSpPr>
          <p:cNvPr id="344" name="Google Shape;344;p48"/>
          <p:cNvSpPr txBox="1"/>
          <p:nvPr/>
        </p:nvSpPr>
        <p:spPr>
          <a:xfrm>
            <a:off x="786950" y="1021725"/>
            <a:ext cx="2045100" cy="2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a:t>
            </a:r>
            <a:r>
              <a:rPr i="1" lang="en" sz="1200">
                <a:solidFill>
                  <a:schemeClr val="dk1"/>
                </a:solidFill>
                <a:latin typeface="Albert Sans"/>
                <a:ea typeface="Albert Sans"/>
                <a:cs typeface="Albert Sans"/>
                <a:sym typeface="Albert Sans"/>
              </a:rPr>
              <a:t>as of 18 Aug 2025</a:t>
            </a: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ph idx="1" type="subTitle"/>
          </p:nvPr>
        </p:nvSpPr>
        <p:spPr>
          <a:xfrm>
            <a:off x="839675" y="557882"/>
            <a:ext cx="7311600" cy="2343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rgbClr val="000000"/>
                </a:solidFill>
              </a:rPr>
              <a:t>Our approach for Task 1 was centered around building, comparing and </a:t>
            </a:r>
            <a:r>
              <a:rPr lang="en" sz="1300">
                <a:solidFill>
                  <a:srgbClr val="000000"/>
                </a:solidFill>
              </a:rPr>
              <a:t>evaluating</a:t>
            </a:r>
            <a:r>
              <a:rPr lang="en" sz="1300">
                <a:solidFill>
                  <a:srgbClr val="000000"/>
                </a:solidFill>
              </a:rPr>
              <a:t>  different models to predict apartment rental prices using the 10K - listing dataset. Here's the breakdown of the steps:</a:t>
            </a:r>
            <a:endParaRPr sz="1300">
              <a:solidFill>
                <a:srgbClr val="000000"/>
              </a:solidFill>
            </a:endParaRPr>
          </a:p>
          <a:p>
            <a:pPr indent="-311150" lvl="0" marL="457200" rtl="0" algn="l">
              <a:lnSpc>
                <a:spcPct val="115000"/>
              </a:lnSpc>
              <a:spcBef>
                <a:spcPts val="1200"/>
              </a:spcBef>
              <a:spcAft>
                <a:spcPts val="0"/>
              </a:spcAft>
              <a:buClr>
                <a:srgbClr val="000000"/>
              </a:buClr>
              <a:buSzPts val="1300"/>
              <a:buFont typeface="Arial"/>
              <a:buAutoNum type="arabicPeriod"/>
            </a:pPr>
            <a:r>
              <a:rPr b="1" lang="en" sz="1300">
                <a:solidFill>
                  <a:srgbClr val="000000"/>
                </a:solidFill>
              </a:rPr>
              <a:t>Data Preparation:</a:t>
            </a:r>
            <a:r>
              <a:rPr lang="en" sz="1300">
                <a:solidFill>
                  <a:srgbClr val="000000"/>
                </a:solidFill>
              </a:rPr>
              <a:t> We started by loading the dataset, cleaning it up (removing unnecessary text and formatting), and making sure the price information was ready to be used.</a:t>
            </a:r>
            <a:br>
              <a:rPr lang="en"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AutoNum type="arabicPeriod"/>
            </a:pPr>
            <a:r>
              <a:rPr b="1" lang="en" sz="1300">
                <a:solidFill>
                  <a:srgbClr val="000000"/>
                </a:solidFill>
              </a:rPr>
              <a:t>Splitting the Data:</a:t>
            </a:r>
            <a:r>
              <a:rPr lang="en" sz="1300">
                <a:solidFill>
                  <a:srgbClr val="000000"/>
                </a:solidFill>
              </a:rPr>
              <a:t> We divided the prepared data into a larger set for "training" our prediction models and a smaller set for "testing" how well they performed on new data.</a:t>
            </a:r>
            <a:br>
              <a:rPr lang="en"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AutoNum type="arabicPeriod"/>
            </a:pPr>
            <a:r>
              <a:rPr b="1" lang="en" sz="1300">
                <a:solidFill>
                  <a:srgbClr val="000000"/>
                </a:solidFill>
              </a:rPr>
              <a:t>Getting Data Ready for Models:</a:t>
            </a:r>
            <a:r>
              <a:rPr lang="en" sz="1300">
                <a:solidFill>
                  <a:srgbClr val="000000"/>
                </a:solidFill>
              </a:rPr>
              <a:t> We set up a process to transform the different types of information (numbers and categories) so that the models could understand them. This included filling in any gaps in the data and converting categories into a numerical format.</a:t>
            </a:r>
            <a:br>
              <a:rPr lang="en"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AutoNum type="arabicPeriod"/>
            </a:pPr>
            <a:r>
              <a:rPr b="1" lang="en" sz="1300">
                <a:solidFill>
                  <a:srgbClr val="000000"/>
                </a:solidFill>
              </a:rPr>
              <a:t>Building and Testing Models:</a:t>
            </a:r>
            <a:r>
              <a:rPr lang="en" sz="1300">
                <a:solidFill>
                  <a:srgbClr val="000000"/>
                </a:solidFill>
              </a:rPr>
              <a:t> We chose a few different prediction models (Linear Regression, Decision Tree, and Random Forest) and trained each one using the prepared training data.</a:t>
            </a:r>
            <a:endParaRPr sz="1300">
              <a:solidFill>
                <a:srgbClr val="000000"/>
              </a:solidFill>
            </a:endParaRPr>
          </a:p>
          <a:p>
            <a:pPr indent="0" lvl="0" marL="0" rtl="0" algn="l">
              <a:lnSpc>
                <a:spcPct val="115000"/>
              </a:lnSpc>
              <a:spcBef>
                <a:spcPts val="1200"/>
              </a:spcBef>
              <a:spcAft>
                <a:spcPts val="0"/>
              </a:spcAft>
              <a:buNone/>
            </a:pPr>
            <a:r>
              <a:t/>
            </a:r>
            <a:endParaRPr sz="1100">
              <a:solidFill>
                <a:srgbClr val="000000"/>
              </a:solidFill>
            </a:endParaRPr>
          </a:p>
          <a:p>
            <a:pPr indent="0" lvl="0" marL="0" rtl="0" algn="l">
              <a:spcBef>
                <a:spcPts val="1200"/>
              </a:spcBef>
              <a:spcAft>
                <a:spcPts val="0"/>
              </a:spcAft>
              <a:buNone/>
            </a:pPr>
            <a:r>
              <a:t/>
            </a:r>
            <a:endParaRPr/>
          </a:p>
        </p:txBody>
      </p:sp>
      <p:sp>
        <p:nvSpPr>
          <p:cNvPr id="350" name="Google Shape;350;p49"/>
          <p:cNvSpPr txBox="1"/>
          <p:nvPr>
            <p:ph type="title"/>
          </p:nvPr>
        </p:nvSpPr>
        <p:spPr>
          <a:xfrm>
            <a:off x="715050" y="14345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approached Task 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0"/>
          <p:cNvSpPr txBox="1"/>
          <p:nvPr>
            <p:ph idx="1" type="subTitle"/>
          </p:nvPr>
        </p:nvSpPr>
        <p:spPr>
          <a:xfrm>
            <a:off x="839675" y="847075"/>
            <a:ext cx="7311600" cy="23430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rgbClr val="000000"/>
              </a:buClr>
              <a:buSzPts val="1300"/>
              <a:buFont typeface="Arial"/>
              <a:buAutoNum type="arabicPeriod" startAt="5"/>
            </a:pPr>
            <a:r>
              <a:rPr b="1" lang="en" sz="1300">
                <a:solidFill>
                  <a:srgbClr val="000000"/>
                </a:solidFill>
              </a:rPr>
              <a:t>Comparing Performance:</a:t>
            </a:r>
            <a:r>
              <a:rPr lang="en" sz="1300">
                <a:solidFill>
                  <a:srgbClr val="000000"/>
                </a:solidFill>
              </a:rPr>
              <a:t> After training, we used the test data to see how well each model predicted the prices. We looked at specific scores to measure their accuracy and figure out which model was the best at predicting prices for this dataset.</a:t>
            </a:r>
            <a:br>
              <a:rPr lang="en"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AutoNum type="arabicPeriod" startAt="5"/>
            </a:pPr>
            <a:r>
              <a:rPr b="1" lang="en" sz="1300">
                <a:solidFill>
                  <a:srgbClr val="000000"/>
                </a:solidFill>
              </a:rPr>
              <a:t>Fine-Tuning:</a:t>
            </a:r>
            <a:r>
              <a:rPr lang="en" sz="1300">
                <a:solidFill>
                  <a:srgbClr val="000000"/>
                </a:solidFill>
              </a:rPr>
              <a:t> For some of the better performing models (like Decision Tree and Random Forest), we tried adjusting some of their internal settings (hyperparameters) to see if we could make them even more accurate and execute faster as well.</a:t>
            </a:r>
            <a:br>
              <a:rPr lang="en"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AutoNum type="arabicPeriod" startAt="5"/>
            </a:pPr>
            <a:r>
              <a:rPr b="1" lang="en" sz="1300">
                <a:solidFill>
                  <a:srgbClr val="000000"/>
                </a:solidFill>
              </a:rPr>
              <a:t>Final Check:</a:t>
            </a:r>
            <a:r>
              <a:rPr lang="en" sz="1300">
                <a:solidFill>
                  <a:srgbClr val="000000"/>
                </a:solidFill>
              </a:rPr>
              <a:t> We evaluated the best versions of our models on the test data one last time and looked at some visualisations to understand how well they were doing and what factors were most important in their predictions.</a:t>
            </a:r>
            <a:endParaRPr sz="1300">
              <a:solidFill>
                <a:srgbClr val="000000"/>
              </a:solidFill>
            </a:endParaRPr>
          </a:p>
          <a:p>
            <a:pPr indent="0" lvl="0" marL="0" rtl="0" algn="l">
              <a:lnSpc>
                <a:spcPct val="115000"/>
              </a:lnSpc>
              <a:spcBef>
                <a:spcPts val="1200"/>
              </a:spcBef>
              <a:spcAft>
                <a:spcPts val="0"/>
              </a:spcAft>
              <a:buNone/>
            </a:pPr>
            <a:r>
              <a:rPr b="1" lang="en" sz="1300">
                <a:solidFill>
                  <a:srgbClr val="000000"/>
                </a:solidFill>
              </a:rPr>
              <a:t>Essentially</a:t>
            </a:r>
            <a:r>
              <a:rPr lang="en" sz="1300">
                <a:solidFill>
                  <a:srgbClr val="000000"/>
                </a:solidFill>
              </a:rPr>
              <a:t>, Task 1 was about taking the raw apartment data, getting it into a usable format, trying out different prediction methods, and finding the one that worked best for estimating rental prices.</a:t>
            </a:r>
            <a:endParaRPr sz="1300">
              <a:solidFill>
                <a:srgbClr val="000000"/>
              </a:solidFill>
            </a:endParaRPr>
          </a:p>
          <a:p>
            <a:pPr indent="0" lvl="0" marL="0" rtl="0" algn="l">
              <a:spcBef>
                <a:spcPts val="1200"/>
              </a:spcBef>
              <a:spcAft>
                <a:spcPts val="0"/>
              </a:spcAft>
              <a:buNone/>
            </a:pPr>
            <a:r>
              <a:t/>
            </a:r>
            <a:endParaRPr/>
          </a:p>
        </p:txBody>
      </p:sp>
      <p:sp>
        <p:nvSpPr>
          <p:cNvPr id="356" name="Google Shape;356;p50"/>
          <p:cNvSpPr txBox="1"/>
          <p:nvPr>
            <p:ph type="title"/>
          </p:nvPr>
        </p:nvSpPr>
        <p:spPr>
          <a:xfrm>
            <a:off x="715050" y="14345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approached Task 1 (cont’d)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p:txBody>
      </p:sp>
      <p:sp>
        <p:nvSpPr>
          <p:cNvPr id="362" name="Google Shape;362;p51"/>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cxnSp>
        <p:nvCxnSpPr>
          <p:cNvPr id="363" name="Google Shape;363;p51">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2"/>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a:p>
            <a:pPr indent="0" lvl="0" marL="0" rtl="0" algn="l">
              <a:spcBef>
                <a:spcPts val="0"/>
              </a:spcBef>
              <a:spcAft>
                <a:spcPts val="0"/>
              </a:spcAft>
              <a:buNone/>
            </a:pPr>
            <a:r>
              <a:rPr lang="en" sz="3500"/>
              <a:t>Data Loading</a:t>
            </a:r>
            <a:endParaRPr sz="3500"/>
          </a:p>
        </p:txBody>
      </p:sp>
      <p:sp>
        <p:nvSpPr>
          <p:cNvPr id="369" name="Google Shape;369;p52"/>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03.1</a:t>
            </a:r>
            <a:endParaRPr/>
          </a:p>
        </p:txBody>
      </p:sp>
      <p:cxnSp>
        <p:nvCxnSpPr>
          <p:cNvPr id="370" name="Google Shape;370;p52">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type="title"/>
          </p:nvPr>
        </p:nvSpPr>
        <p:spPr>
          <a:xfrm>
            <a:off x="715100" y="535000"/>
            <a:ext cx="38568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 File Encoder</a:t>
            </a:r>
            <a:endParaRPr/>
          </a:p>
        </p:txBody>
      </p:sp>
      <p:sp>
        <p:nvSpPr>
          <p:cNvPr id="376" name="Google Shape;376;p53"/>
          <p:cNvSpPr txBox="1"/>
          <p:nvPr>
            <p:ph idx="4294967295" type="body"/>
          </p:nvPr>
        </p:nvSpPr>
        <p:spPr>
          <a:xfrm>
            <a:off x="715100" y="1340700"/>
            <a:ext cx="5330100" cy="18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`chardet` library used for detect the encoding of CSV file.</a:t>
            </a:r>
            <a:endParaRPr/>
          </a:p>
        </p:txBody>
      </p:sp>
      <p:pic>
        <p:nvPicPr>
          <p:cNvPr id="377" name="Google Shape;377;p53"/>
          <p:cNvPicPr preferRelativeResize="0"/>
          <p:nvPr/>
        </p:nvPicPr>
        <p:blipFill>
          <a:blip r:embed="rId3">
            <a:alphaModFix/>
          </a:blip>
          <a:stretch>
            <a:fillRect/>
          </a:stretch>
        </p:blipFill>
        <p:spPr>
          <a:xfrm>
            <a:off x="2543900" y="1901363"/>
            <a:ext cx="4056200" cy="189678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4"/>
          <p:cNvSpPr txBox="1"/>
          <p:nvPr>
            <p:ph idx="1" type="subTitle"/>
          </p:nvPr>
        </p:nvSpPr>
        <p:spPr>
          <a:xfrm>
            <a:off x="715100" y="1310900"/>
            <a:ext cx="7138800" cy="1635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Reading the CSV File as `spark`</a:t>
            </a:r>
            <a:endParaRPr sz="1600"/>
          </a:p>
          <a:p>
            <a:pPr indent="0" lvl="0" marL="0" rtl="0" algn="l">
              <a:lnSpc>
                <a:spcPct val="150000"/>
              </a:lnSpc>
              <a:spcBef>
                <a:spcPts val="0"/>
              </a:spcBef>
              <a:spcAft>
                <a:spcPts val="0"/>
              </a:spcAft>
              <a:buNone/>
            </a:pPr>
            <a:r>
              <a:t/>
            </a:r>
            <a:endParaRPr sz="1600"/>
          </a:p>
          <a:p>
            <a:pPr indent="0" lvl="0" marL="0" rtl="0" algn="l">
              <a:lnSpc>
                <a:spcPct val="150000"/>
              </a:lnSpc>
              <a:spcBef>
                <a:spcPts val="0"/>
              </a:spcBef>
              <a:spcAft>
                <a:spcPts val="0"/>
              </a:spcAft>
              <a:buNone/>
            </a:pPr>
            <a:r>
              <a:t/>
            </a:r>
            <a:endParaRPr sz="1600"/>
          </a:p>
        </p:txBody>
      </p:sp>
      <p:sp>
        <p:nvSpPr>
          <p:cNvPr id="383" name="Google Shape;383;p54"/>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Loading</a:t>
            </a:r>
            <a:endParaRPr/>
          </a:p>
        </p:txBody>
      </p:sp>
      <p:pic>
        <p:nvPicPr>
          <p:cNvPr id="384" name="Google Shape;384;p54"/>
          <p:cNvPicPr preferRelativeResize="0"/>
          <p:nvPr/>
        </p:nvPicPr>
        <p:blipFill>
          <a:blip r:embed="rId3">
            <a:alphaModFix/>
          </a:blip>
          <a:stretch>
            <a:fillRect/>
          </a:stretch>
        </p:blipFill>
        <p:spPr>
          <a:xfrm>
            <a:off x="1419213" y="1920350"/>
            <a:ext cx="6305550" cy="1885950"/>
          </a:xfrm>
          <a:prstGeom prst="rect">
            <a:avLst/>
          </a:prstGeom>
          <a:noFill/>
          <a:ln>
            <a:noFill/>
          </a:ln>
        </p:spPr>
      </p:pic>
      <p:sp>
        <p:nvSpPr>
          <p:cNvPr id="385" name="Google Shape;385;p54"/>
          <p:cNvSpPr/>
          <p:nvPr/>
        </p:nvSpPr>
        <p:spPr>
          <a:xfrm>
            <a:off x="1544588" y="3039675"/>
            <a:ext cx="6180300" cy="39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5"/>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a:p>
            <a:pPr indent="0" lvl="0" marL="0" rtl="0" algn="l">
              <a:spcBef>
                <a:spcPts val="0"/>
              </a:spcBef>
              <a:spcAft>
                <a:spcPts val="0"/>
              </a:spcAft>
              <a:buNone/>
            </a:pPr>
            <a:r>
              <a:rPr lang="en" sz="3500"/>
              <a:t>Data Pre-processing and Visualising</a:t>
            </a:r>
            <a:endParaRPr sz="3500"/>
          </a:p>
        </p:txBody>
      </p:sp>
      <p:sp>
        <p:nvSpPr>
          <p:cNvPr id="391" name="Google Shape;391;p55"/>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03.2</a:t>
            </a:r>
            <a:endParaRPr/>
          </a:p>
        </p:txBody>
      </p:sp>
      <p:cxnSp>
        <p:nvCxnSpPr>
          <p:cNvPr id="392" name="Google Shape;392;p5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1002650" y="1325700"/>
            <a:ext cx="7138800" cy="1635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`df.dtypes`</a:t>
            </a:r>
            <a:endParaRPr sz="1600"/>
          </a:p>
          <a:p>
            <a:pPr indent="0" lvl="0" marL="0" rtl="0" algn="l">
              <a:lnSpc>
                <a:spcPct val="150000"/>
              </a:lnSpc>
              <a:spcBef>
                <a:spcPts val="0"/>
              </a:spcBef>
              <a:spcAft>
                <a:spcPts val="0"/>
              </a:spcAft>
              <a:buNone/>
            </a:pPr>
            <a:r>
              <a:t/>
            </a:r>
            <a:endParaRPr sz="1600"/>
          </a:p>
          <a:p>
            <a:pPr indent="0" lvl="0" marL="0" rtl="0" algn="l">
              <a:lnSpc>
                <a:spcPct val="150000"/>
              </a:lnSpc>
              <a:spcBef>
                <a:spcPts val="0"/>
              </a:spcBef>
              <a:spcAft>
                <a:spcPts val="0"/>
              </a:spcAft>
              <a:buNone/>
            </a:pPr>
            <a:r>
              <a:t/>
            </a:r>
            <a:endParaRPr sz="1600"/>
          </a:p>
        </p:txBody>
      </p:sp>
      <p:pic>
        <p:nvPicPr>
          <p:cNvPr id="398" name="Google Shape;398;p56"/>
          <p:cNvPicPr preferRelativeResize="0"/>
          <p:nvPr/>
        </p:nvPicPr>
        <p:blipFill>
          <a:blip r:embed="rId3">
            <a:alphaModFix/>
          </a:blip>
          <a:stretch>
            <a:fillRect/>
          </a:stretch>
        </p:blipFill>
        <p:spPr>
          <a:xfrm>
            <a:off x="2288188" y="1385650"/>
            <a:ext cx="2276475" cy="3705225"/>
          </a:xfrm>
          <a:prstGeom prst="rect">
            <a:avLst/>
          </a:prstGeom>
          <a:noFill/>
          <a:ln>
            <a:noFill/>
          </a:ln>
        </p:spPr>
      </p:pic>
      <p:sp>
        <p:nvSpPr>
          <p:cNvPr id="399" name="Google Shape;399;p5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Verify DataTypes</a:t>
            </a:r>
            <a:endParaRPr/>
          </a:p>
        </p:txBody>
      </p:sp>
      <p:sp>
        <p:nvSpPr>
          <p:cNvPr id="400" name="Google Shape;400;p56"/>
          <p:cNvSpPr/>
          <p:nvPr/>
        </p:nvSpPr>
        <p:spPr>
          <a:xfrm>
            <a:off x="2288050" y="2202075"/>
            <a:ext cx="2276400" cy="39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01" name="Google Shape;401;p56"/>
          <p:cNvSpPr txBox="1"/>
          <p:nvPr>
            <p:ph idx="1" type="subTitle"/>
          </p:nvPr>
        </p:nvSpPr>
        <p:spPr>
          <a:xfrm>
            <a:off x="4685375" y="2085825"/>
            <a:ext cx="3256500" cy="629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rgbClr val="FF0000"/>
                </a:solidFill>
              </a:rPr>
              <a:t>No. of bathrooms and bedrooms should be</a:t>
            </a:r>
            <a:r>
              <a:rPr b="1" lang="en" sz="1600">
                <a:solidFill>
                  <a:srgbClr val="FF0000"/>
                </a:solidFill>
              </a:rPr>
              <a:t> integer type</a:t>
            </a:r>
            <a:endParaRPr b="1" sz="1600">
              <a:solidFill>
                <a:srgbClr val="FF0000"/>
              </a:solidFill>
            </a:endParaRPr>
          </a:p>
          <a:p>
            <a:pPr indent="0" lvl="0" marL="0" rtl="0" algn="l">
              <a:lnSpc>
                <a:spcPct val="150000"/>
              </a:lnSpc>
              <a:spcBef>
                <a:spcPts val="0"/>
              </a:spcBef>
              <a:spcAft>
                <a:spcPts val="0"/>
              </a:spcAft>
              <a:buNone/>
            </a:pPr>
            <a:r>
              <a:t/>
            </a:r>
            <a:endParaRPr b="1" sz="1600">
              <a:solidFill>
                <a:srgbClr val="FF0000"/>
              </a:solidFill>
            </a:endParaRPr>
          </a:p>
          <a:p>
            <a:pPr indent="0" lvl="0" marL="0" rtl="0" algn="l">
              <a:lnSpc>
                <a:spcPct val="150000"/>
              </a:lnSpc>
              <a:spcBef>
                <a:spcPts val="0"/>
              </a:spcBef>
              <a:spcAft>
                <a:spcPts val="0"/>
              </a:spcAft>
              <a:buNone/>
            </a:pPr>
            <a:r>
              <a:t/>
            </a:r>
            <a:endParaRPr b="1" sz="1600">
              <a:solidFill>
                <a:srgbClr val="FF0000"/>
              </a:solidFill>
            </a:endParaRPr>
          </a:p>
        </p:txBody>
      </p:sp>
      <p:sp>
        <p:nvSpPr>
          <p:cNvPr id="402" name="Google Shape;402;p56"/>
          <p:cNvSpPr/>
          <p:nvPr/>
        </p:nvSpPr>
        <p:spPr>
          <a:xfrm>
            <a:off x="2288192" y="3202700"/>
            <a:ext cx="2276400" cy="234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03" name="Google Shape;403;p56"/>
          <p:cNvSpPr txBox="1"/>
          <p:nvPr>
            <p:ph idx="1" type="subTitle"/>
          </p:nvPr>
        </p:nvSpPr>
        <p:spPr>
          <a:xfrm>
            <a:off x="4685375" y="3520100"/>
            <a:ext cx="3256500" cy="629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rgbClr val="FF0000"/>
                </a:solidFill>
              </a:rPr>
              <a:t>Price, latitude, longitude should be </a:t>
            </a:r>
            <a:r>
              <a:rPr b="1" lang="en" sz="1600">
                <a:solidFill>
                  <a:srgbClr val="FF0000"/>
                </a:solidFill>
              </a:rPr>
              <a:t>double type</a:t>
            </a:r>
            <a:endParaRPr sz="1600">
              <a:solidFill>
                <a:srgbClr val="FF0000"/>
              </a:solidFill>
            </a:endParaRPr>
          </a:p>
          <a:p>
            <a:pPr indent="0" lvl="0" marL="0" rtl="0" algn="ctr">
              <a:lnSpc>
                <a:spcPct val="150000"/>
              </a:lnSpc>
              <a:spcBef>
                <a:spcPts val="0"/>
              </a:spcBef>
              <a:spcAft>
                <a:spcPts val="0"/>
              </a:spcAft>
              <a:buNone/>
            </a:pPr>
            <a:r>
              <a:t/>
            </a:r>
            <a:endParaRPr sz="1600">
              <a:solidFill>
                <a:srgbClr val="FF0000"/>
              </a:solidFill>
            </a:endParaRPr>
          </a:p>
          <a:p>
            <a:pPr indent="0" lvl="0" marL="0" rtl="0" algn="ctr">
              <a:lnSpc>
                <a:spcPct val="150000"/>
              </a:lnSpc>
              <a:spcBef>
                <a:spcPts val="0"/>
              </a:spcBef>
              <a:spcAft>
                <a:spcPts val="0"/>
              </a:spcAft>
              <a:buNone/>
            </a:pPr>
            <a:r>
              <a:t/>
            </a:r>
            <a:endParaRPr sz="1600">
              <a:solidFill>
                <a:srgbClr val="FF0000"/>
              </a:solidFill>
            </a:endParaRPr>
          </a:p>
        </p:txBody>
      </p:sp>
      <p:sp>
        <p:nvSpPr>
          <p:cNvPr id="404" name="Google Shape;404;p56"/>
          <p:cNvSpPr/>
          <p:nvPr/>
        </p:nvSpPr>
        <p:spPr>
          <a:xfrm>
            <a:off x="2288050" y="4371950"/>
            <a:ext cx="2276400" cy="39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cxnSp>
        <p:nvCxnSpPr>
          <p:cNvPr id="405" name="Google Shape;405;p56"/>
          <p:cNvCxnSpPr>
            <a:endCxn id="403" idx="0"/>
          </p:cNvCxnSpPr>
          <p:nvPr/>
        </p:nvCxnSpPr>
        <p:spPr>
          <a:xfrm>
            <a:off x="4564625" y="3319700"/>
            <a:ext cx="1749000" cy="200400"/>
          </a:xfrm>
          <a:prstGeom prst="bentConnector2">
            <a:avLst/>
          </a:prstGeom>
          <a:noFill/>
          <a:ln cap="flat" cmpd="sng" w="28575">
            <a:solidFill>
              <a:srgbClr val="FF0000"/>
            </a:solidFill>
            <a:prstDash val="solid"/>
            <a:round/>
            <a:headEnd len="med" w="med" type="none"/>
            <a:tailEnd len="med" w="med" type="stealth"/>
          </a:ln>
        </p:spPr>
      </p:cxnSp>
      <p:cxnSp>
        <p:nvCxnSpPr>
          <p:cNvPr id="406" name="Google Shape;406;p56"/>
          <p:cNvCxnSpPr>
            <a:stCxn id="404" idx="3"/>
            <a:endCxn id="403" idx="2"/>
          </p:cNvCxnSpPr>
          <p:nvPr/>
        </p:nvCxnSpPr>
        <p:spPr>
          <a:xfrm flipH="1" rot="10800000">
            <a:off x="4564450" y="4149650"/>
            <a:ext cx="1749300" cy="420900"/>
          </a:xfrm>
          <a:prstGeom prst="bentConnector2">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 DataType for Each Column</a:t>
            </a:r>
            <a:endParaRPr/>
          </a:p>
        </p:txBody>
      </p:sp>
      <p:pic>
        <p:nvPicPr>
          <p:cNvPr id="412" name="Google Shape;412;p57"/>
          <p:cNvPicPr preferRelativeResize="0"/>
          <p:nvPr/>
        </p:nvPicPr>
        <p:blipFill>
          <a:blip r:embed="rId3">
            <a:alphaModFix/>
          </a:blip>
          <a:stretch>
            <a:fillRect/>
          </a:stretch>
        </p:blipFill>
        <p:spPr>
          <a:xfrm>
            <a:off x="811725" y="1148050"/>
            <a:ext cx="4045303" cy="3755000"/>
          </a:xfrm>
          <a:prstGeom prst="rect">
            <a:avLst/>
          </a:prstGeom>
          <a:noFill/>
          <a:ln>
            <a:noFill/>
          </a:ln>
        </p:spPr>
      </p:pic>
      <p:sp>
        <p:nvSpPr>
          <p:cNvPr id="413" name="Google Shape;413;p57"/>
          <p:cNvSpPr/>
          <p:nvPr/>
        </p:nvSpPr>
        <p:spPr>
          <a:xfrm>
            <a:off x="913875" y="1390125"/>
            <a:ext cx="3861600" cy="2922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14" name="Google Shape;414;p57"/>
          <p:cNvSpPr txBox="1"/>
          <p:nvPr>
            <p:ph idx="1" type="subTitle"/>
          </p:nvPr>
        </p:nvSpPr>
        <p:spPr>
          <a:xfrm>
            <a:off x="4385788" y="1390125"/>
            <a:ext cx="389700" cy="397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600">
                <a:solidFill>
                  <a:srgbClr val="FF0000"/>
                </a:solidFill>
              </a:rPr>
              <a:t>1</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p:txBody>
      </p:sp>
      <p:sp>
        <p:nvSpPr>
          <p:cNvPr id="415" name="Google Shape;415;p57"/>
          <p:cNvSpPr/>
          <p:nvPr/>
        </p:nvSpPr>
        <p:spPr>
          <a:xfrm>
            <a:off x="913875" y="4378325"/>
            <a:ext cx="3943200" cy="319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16" name="Google Shape;416;p57"/>
          <p:cNvSpPr txBox="1"/>
          <p:nvPr>
            <p:ph idx="1" type="subTitle"/>
          </p:nvPr>
        </p:nvSpPr>
        <p:spPr>
          <a:xfrm>
            <a:off x="4857063" y="4339625"/>
            <a:ext cx="389700" cy="397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600">
                <a:solidFill>
                  <a:srgbClr val="FF0000"/>
                </a:solidFill>
              </a:rPr>
              <a:t>2</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p:txBody>
      </p:sp>
      <p:cxnSp>
        <p:nvCxnSpPr>
          <p:cNvPr id="417" name="Google Shape;417;p57"/>
          <p:cNvCxnSpPr/>
          <p:nvPr/>
        </p:nvCxnSpPr>
        <p:spPr>
          <a:xfrm rot="10800000">
            <a:off x="3424003" y="2201000"/>
            <a:ext cx="476100" cy="12900"/>
          </a:xfrm>
          <a:prstGeom prst="straightConnector1">
            <a:avLst/>
          </a:prstGeom>
          <a:noFill/>
          <a:ln cap="flat" cmpd="sng" w="28575">
            <a:solidFill>
              <a:srgbClr val="FF0000"/>
            </a:solidFill>
            <a:prstDash val="solid"/>
            <a:round/>
            <a:headEnd len="med" w="med" type="none"/>
            <a:tailEnd len="med" w="med" type="triangle"/>
          </a:ln>
        </p:spPr>
      </p:cxnSp>
      <p:cxnSp>
        <p:nvCxnSpPr>
          <p:cNvPr id="418" name="Google Shape;418;p57"/>
          <p:cNvCxnSpPr/>
          <p:nvPr/>
        </p:nvCxnSpPr>
        <p:spPr>
          <a:xfrm rot="10800000">
            <a:off x="3424003" y="2327650"/>
            <a:ext cx="476100" cy="12900"/>
          </a:xfrm>
          <a:prstGeom prst="straightConnector1">
            <a:avLst/>
          </a:prstGeom>
          <a:noFill/>
          <a:ln cap="flat" cmpd="sng" w="28575">
            <a:solidFill>
              <a:srgbClr val="FF0000"/>
            </a:solidFill>
            <a:prstDash val="solid"/>
            <a:round/>
            <a:headEnd len="med" w="med" type="none"/>
            <a:tailEnd len="med" w="med" type="triangle"/>
          </a:ln>
        </p:spPr>
      </p:cxnSp>
      <p:cxnSp>
        <p:nvCxnSpPr>
          <p:cNvPr id="419" name="Google Shape;419;p57"/>
          <p:cNvCxnSpPr/>
          <p:nvPr/>
        </p:nvCxnSpPr>
        <p:spPr>
          <a:xfrm rot="10800000">
            <a:off x="3216003" y="2906875"/>
            <a:ext cx="476100" cy="12900"/>
          </a:xfrm>
          <a:prstGeom prst="straightConnector1">
            <a:avLst/>
          </a:prstGeom>
          <a:noFill/>
          <a:ln cap="flat" cmpd="sng" w="28575">
            <a:solidFill>
              <a:srgbClr val="FF0000"/>
            </a:solidFill>
            <a:prstDash val="solid"/>
            <a:round/>
            <a:headEnd len="med" w="med" type="none"/>
            <a:tailEnd len="med" w="med" type="triangle"/>
          </a:ln>
        </p:spPr>
      </p:cxnSp>
      <p:cxnSp>
        <p:nvCxnSpPr>
          <p:cNvPr id="420" name="Google Shape;420;p57"/>
          <p:cNvCxnSpPr/>
          <p:nvPr/>
        </p:nvCxnSpPr>
        <p:spPr>
          <a:xfrm rot="10800000">
            <a:off x="3357453" y="3741500"/>
            <a:ext cx="476100" cy="12900"/>
          </a:xfrm>
          <a:prstGeom prst="straightConnector1">
            <a:avLst/>
          </a:prstGeom>
          <a:noFill/>
          <a:ln cap="flat" cmpd="sng" w="28575">
            <a:solidFill>
              <a:srgbClr val="FF0000"/>
            </a:solidFill>
            <a:prstDash val="solid"/>
            <a:round/>
            <a:headEnd len="med" w="med" type="none"/>
            <a:tailEnd len="med" w="med" type="triangle"/>
          </a:ln>
        </p:spPr>
      </p:cxnSp>
      <p:cxnSp>
        <p:nvCxnSpPr>
          <p:cNvPr id="421" name="Google Shape;421;p57"/>
          <p:cNvCxnSpPr/>
          <p:nvPr/>
        </p:nvCxnSpPr>
        <p:spPr>
          <a:xfrm rot="10800000">
            <a:off x="3359645" y="3881000"/>
            <a:ext cx="476100" cy="12900"/>
          </a:xfrm>
          <a:prstGeom prst="straightConnector1">
            <a:avLst/>
          </a:prstGeom>
          <a:noFill/>
          <a:ln cap="flat" cmpd="sng" w="28575">
            <a:solidFill>
              <a:srgbClr val="FF0000"/>
            </a:solidFill>
            <a:prstDash val="solid"/>
            <a:round/>
            <a:headEnd len="med" w="med" type="none"/>
            <a:tailEnd len="med" w="med" type="triangle"/>
          </a:ln>
        </p:spPr>
      </p:cxnSp>
      <p:pic>
        <p:nvPicPr>
          <p:cNvPr id="422" name="Google Shape;422;p57"/>
          <p:cNvPicPr preferRelativeResize="0"/>
          <p:nvPr/>
        </p:nvPicPr>
        <p:blipFill>
          <a:blip r:embed="rId4">
            <a:alphaModFix/>
          </a:blip>
          <a:stretch>
            <a:fillRect/>
          </a:stretch>
        </p:blipFill>
        <p:spPr>
          <a:xfrm>
            <a:off x="5373425" y="1148050"/>
            <a:ext cx="2116455" cy="3755000"/>
          </a:xfrm>
          <a:prstGeom prst="rect">
            <a:avLst/>
          </a:prstGeom>
          <a:noFill/>
          <a:ln>
            <a:noFill/>
          </a:ln>
        </p:spPr>
      </p:pic>
      <p:sp>
        <p:nvSpPr>
          <p:cNvPr id="423" name="Google Shape;423;p57"/>
          <p:cNvSpPr/>
          <p:nvPr/>
        </p:nvSpPr>
        <p:spPr>
          <a:xfrm>
            <a:off x="5373425" y="1983250"/>
            <a:ext cx="2116200" cy="39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24" name="Google Shape;424;p57"/>
          <p:cNvSpPr/>
          <p:nvPr/>
        </p:nvSpPr>
        <p:spPr>
          <a:xfrm>
            <a:off x="5373557" y="2983875"/>
            <a:ext cx="2116200" cy="234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25" name="Google Shape;425;p57"/>
          <p:cNvSpPr/>
          <p:nvPr/>
        </p:nvSpPr>
        <p:spPr>
          <a:xfrm>
            <a:off x="5373425" y="4165997"/>
            <a:ext cx="2116200" cy="39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1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1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1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58"/>
          <p:cNvPicPr preferRelativeResize="0"/>
          <p:nvPr/>
        </p:nvPicPr>
        <p:blipFill>
          <a:blip r:embed="rId3">
            <a:alphaModFix/>
          </a:blip>
          <a:stretch>
            <a:fillRect/>
          </a:stretch>
        </p:blipFill>
        <p:spPr>
          <a:xfrm>
            <a:off x="2117667" y="1186672"/>
            <a:ext cx="4908770" cy="3754999"/>
          </a:xfrm>
          <a:prstGeom prst="rect">
            <a:avLst/>
          </a:prstGeom>
          <a:noFill/>
          <a:ln>
            <a:noFill/>
          </a:ln>
        </p:spPr>
      </p:pic>
      <p:sp>
        <p:nvSpPr>
          <p:cNvPr id="431" name="Google Shape;431;p5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 Empty Values to `NULL`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9"/>
          <p:cNvSpPr txBox="1"/>
          <p:nvPr>
            <p:ph type="title"/>
          </p:nvPr>
        </p:nvSpPr>
        <p:spPr>
          <a:xfrm>
            <a:off x="328951" y="277568"/>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Sure No Noise From `price`</a:t>
            </a:r>
            <a:endParaRPr/>
          </a:p>
        </p:txBody>
      </p:sp>
      <p:pic>
        <p:nvPicPr>
          <p:cNvPr id="437" name="Google Shape;437;p59"/>
          <p:cNvPicPr preferRelativeResize="0"/>
          <p:nvPr/>
        </p:nvPicPr>
        <p:blipFill rotWithShape="1">
          <a:blip r:embed="rId3">
            <a:alphaModFix/>
          </a:blip>
          <a:srcRect b="22976" l="0" r="0" t="0"/>
          <a:stretch/>
        </p:blipFill>
        <p:spPr>
          <a:xfrm>
            <a:off x="387700" y="1457000"/>
            <a:ext cx="8368625" cy="2314375"/>
          </a:xfrm>
          <a:prstGeom prst="rect">
            <a:avLst/>
          </a:prstGeom>
          <a:noFill/>
          <a:ln>
            <a:noFill/>
          </a:ln>
        </p:spPr>
      </p:pic>
      <p:pic>
        <p:nvPicPr>
          <p:cNvPr id="438" name="Google Shape;438;p59"/>
          <p:cNvPicPr preferRelativeResize="0"/>
          <p:nvPr/>
        </p:nvPicPr>
        <p:blipFill>
          <a:blip r:embed="rId4">
            <a:alphaModFix/>
          </a:blip>
          <a:stretch>
            <a:fillRect/>
          </a:stretch>
        </p:blipFill>
        <p:spPr>
          <a:xfrm>
            <a:off x="387688" y="3925825"/>
            <a:ext cx="8368625" cy="1062817"/>
          </a:xfrm>
          <a:prstGeom prst="rect">
            <a:avLst/>
          </a:prstGeom>
          <a:noFill/>
          <a:ln>
            <a:noFill/>
          </a:ln>
        </p:spPr>
      </p:pic>
      <p:sp>
        <p:nvSpPr>
          <p:cNvPr id="439" name="Google Shape;439;p59"/>
          <p:cNvSpPr txBox="1"/>
          <p:nvPr>
            <p:ph idx="1" type="subTitle"/>
          </p:nvPr>
        </p:nvSpPr>
        <p:spPr>
          <a:xfrm>
            <a:off x="333330" y="826268"/>
            <a:ext cx="8024100" cy="1635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t>Clean the format of `price_display` =&gt; (e.g. $2,195 Weekly) for convert it to a double type in a new column</a:t>
            </a:r>
            <a:endParaRPr sz="1600"/>
          </a:p>
          <a:p>
            <a:pPr indent="0" lvl="0" marL="0" rtl="0" algn="l">
              <a:lnSpc>
                <a:spcPct val="150000"/>
              </a:lnSpc>
              <a:spcBef>
                <a:spcPts val="0"/>
              </a:spcBef>
              <a:spcAft>
                <a:spcPts val="0"/>
              </a:spcAft>
              <a:buNone/>
            </a:pPr>
            <a:r>
              <a:t/>
            </a:r>
            <a:endParaRPr sz="1600"/>
          </a:p>
          <a:p>
            <a:pPr indent="0" lvl="0" marL="0" rtl="0" algn="l">
              <a:lnSpc>
                <a:spcPct val="150000"/>
              </a:lnSpc>
              <a:spcBef>
                <a:spcPts val="0"/>
              </a:spcBef>
              <a:spcAft>
                <a:spcPts val="0"/>
              </a:spcAft>
              <a:buNone/>
            </a:pPr>
            <a:r>
              <a:t/>
            </a:r>
            <a:endParaRPr sz="1600"/>
          </a:p>
        </p:txBody>
      </p:sp>
      <p:sp>
        <p:nvSpPr>
          <p:cNvPr id="440" name="Google Shape;440;p59"/>
          <p:cNvSpPr/>
          <p:nvPr/>
        </p:nvSpPr>
        <p:spPr>
          <a:xfrm>
            <a:off x="603675" y="1997750"/>
            <a:ext cx="8024100" cy="177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1" name="Google Shape;441;p59"/>
          <p:cNvSpPr txBox="1"/>
          <p:nvPr>
            <p:ph idx="1" type="subTitle"/>
          </p:nvPr>
        </p:nvSpPr>
        <p:spPr>
          <a:xfrm>
            <a:off x="8238063" y="1997750"/>
            <a:ext cx="389700" cy="397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600">
                <a:solidFill>
                  <a:srgbClr val="FF0000"/>
                </a:solidFill>
              </a:rPr>
              <a:t>1</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p:txBody>
      </p:sp>
      <p:sp>
        <p:nvSpPr>
          <p:cNvPr id="442" name="Google Shape;442;p59"/>
          <p:cNvSpPr/>
          <p:nvPr/>
        </p:nvSpPr>
        <p:spPr>
          <a:xfrm>
            <a:off x="540600" y="4082275"/>
            <a:ext cx="8147700" cy="757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3" name="Google Shape;443;p59"/>
          <p:cNvSpPr txBox="1"/>
          <p:nvPr>
            <p:ph idx="1" type="subTitle"/>
          </p:nvPr>
        </p:nvSpPr>
        <p:spPr>
          <a:xfrm>
            <a:off x="8298606" y="4442582"/>
            <a:ext cx="389700" cy="397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600">
                <a:solidFill>
                  <a:srgbClr val="FF0000"/>
                </a:solidFill>
              </a:rPr>
              <a:t>2</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a:p>
            <a:pPr indent="0" lvl="0" marL="0" rtl="0" algn="ctr">
              <a:lnSpc>
                <a:spcPct val="150000"/>
              </a:lnSpc>
              <a:spcBef>
                <a:spcPts val="0"/>
              </a:spcBef>
              <a:spcAft>
                <a:spcPts val="0"/>
              </a:spcAft>
              <a:buNone/>
            </a:pPr>
            <a:r>
              <a:t/>
            </a:r>
            <a:endParaRPr b="1" sz="16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4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0"/>
          <p:cNvSpPr txBox="1"/>
          <p:nvPr>
            <p:ph type="title"/>
          </p:nvPr>
        </p:nvSpPr>
        <p:spPr>
          <a:xfrm>
            <a:off x="599255"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Sure No Noise Data Row From Non Apartment Rent</a:t>
            </a:r>
            <a:endParaRPr/>
          </a:p>
        </p:txBody>
      </p:sp>
      <p:grpSp>
        <p:nvGrpSpPr>
          <p:cNvPr id="449" name="Google Shape;449;p60"/>
          <p:cNvGrpSpPr/>
          <p:nvPr/>
        </p:nvGrpSpPr>
        <p:grpSpPr>
          <a:xfrm>
            <a:off x="695325" y="1736656"/>
            <a:ext cx="7753350" cy="1360525"/>
            <a:chOff x="695325" y="1736656"/>
            <a:chExt cx="7753350" cy="1360525"/>
          </a:xfrm>
        </p:grpSpPr>
        <p:pic>
          <p:nvPicPr>
            <p:cNvPr id="450" name="Google Shape;450;p60"/>
            <p:cNvPicPr preferRelativeResize="0"/>
            <p:nvPr/>
          </p:nvPicPr>
          <p:blipFill>
            <a:blip r:embed="rId3">
              <a:alphaModFix/>
            </a:blip>
            <a:stretch>
              <a:fillRect/>
            </a:stretch>
          </p:blipFill>
          <p:spPr>
            <a:xfrm>
              <a:off x="695325" y="1736656"/>
              <a:ext cx="7753350" cy="590550"/>
            </a:xfrm>
            <a:prstGeom prst="rect">
              <a:avLst/>
            </a:prstGeom>
            <a:noFill/>
            <a:ln>
              <a:noFill/>
            </a:ln>
          </p:spPr>
        </p:pic>
        <p:pic>
          <p:nvPicPr>
            <p:cNvPr id="451" name="Google Shape;451;p60"/>
            <p:cNvPicPr preferRelativeResize="0"/>
            <p:nvPr/>
          </p:nvPicPr>
          <p:blipFill>
            <a:blip r:embed="rId4">
              <a:alphaModFix/>
            </a:blip>
            <a:stretch>
              <a:fillRect/>
            </a:stretch>
          </p:blipFill>
          <p:spPr>
            <a:xfrm>
              <a:off x="1766163" y="2787331"/>
              <a:ext cx="5380075" cy="309850"/>
            </a:xfrm>
            <a:prstGeom prst="rect">
              <a:avLst/>
            </a:prstGeom>
            <a:noFill/>
            <a:ln>
              <a:noFill/>
            </a:ln>
          </p:spPr>
        </p:pic>
        <p:cxnSp>
          <p:nvCxnSpPr>
            <p:cNvPr id="452" name="Google Shape;452;p60"/>
            <p:cNvCxnSpPr/>
            <p:nvPr/>
          </p:nvCxnSpPr>
          <p:spPr>
            <a:xfrm>
              <a:off x="6178375" y="2341206"/>
              <a:ext cx="257400" cy="463500"/>
            </a:xfrm>
            <a:prstGeom prst="straightConnector1">
              <a:avLst/>
            </a:prstGeom>
            <a:noFill/>
            <a:ln cap="flat" cmpd="sng" w="28575">
              <a:solidFill>
                <a:srgbClr val="FF0000"/>
              </a:solidFill>
              <a:prstDash val="solid"/>
              <a:round/>
              <a:headEnd len="med" w="med" type="none"/>
              <a:tailEnd len="med" w="med" type="triangle"/>
            </a:ln>
          </p:spPr>
        </p:cxn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1"/>
          <p:cNvSpPr txBox="1"/>
          <p:nvPr>
            <p:ph type="title"/>
          </p:nvPr>
        </p:nvSpPr>
        <p:spPr>
          <a:xfrm>
            <a:off x="715100" y="535000"/>
            <a:ext cx="35343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Plot Scatter Matrix for Numerical Features </a:t>
            </a:r>
            <a:endParaRPr/>
          </a:p>
        </p:txBody>
      </p:sp>
      <p:sp>
        <p:nvSpPr>
          <p:cNvPr id="458" name="Google Shape;458;p61"/>
          <p:cNvSpPr txBox="1"/>
          <p:nvPr>
            <p:ph idx="1" type="body"/>
          </p:nvPr>
        </p:nvSpPr>
        <p:spPr>
          <a:xfrm>
            <a:off x="715100" y="1968850"/>
            <a:ext cx="3534300" cy="2531700"/>
          </a:xfrm>
          <a:prstGeom prst="rect">
            <a:avLst/>
          </a:prstGeom>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b</a:t>
            </a:r>
            <a:r>
              <a:rPr lang="en"/>
              <a:t>athrooms</a:t>
            </a:r>
            <a:endParaRPr/>
          </a:p>
          <a:p>
            <a:pPr indent="-213359" lvl="0" marL="274320" rtl="0" algn="l">
              <a:spcBef>
                <a:spcPts val="0"/>
              </a:spcBef>
              <a:spcAft>
                <a:spcPts val="0"/>
              </a:spcAft>
              <a:buClr>
                <a:schemeClr val="lt2"/>
              </a:buClr>
              <a:buSzPts val="1200"/>
              <a:buChar char="■"/>
            </a:pPr>
            <a:r>
              <a:rPr lang="en"/>
              <a:t>b</a:t>
            </a:r>
            <a:r>
              <a:rPr lang="en"/>
              <a:t>edrooms</a:t>
            </a:r>
            <a:endParaRPr/>
          </a:p>
          <a:p>
            <a:pPr indent="-213359" lvl="0" marL="274320" rtl="0" algn="l">
              <a:spcBef>
                <a:spcPts val="0"/>
              </a:spcBef>
              <a:spcAft>
                <a:spcPts val="0"/>
              </a:spcAft>
              <a:buClr>
                <a:schemeClr val="lt2"/>
              </a:buClr>
              <a:buSzPts val="1200"/>
              <a:buChar char="■"/>
            </a:pPr>
            <a:r>
              <a:rPr lang="en"/>
              <a:t>s</a:t>
            </a:r>
            <a:r>
              <a:rPr lang="en"/>
              <a:t>quare_feet</a:t>
            </a:r>
            <a:endParaRPr/>
          </a:p>
          <a:p>
            <a:pPr indent="-213359" lvl="0" marL="274320" rtl="0" algn="l">
              <a:spcBef>
                <a:spcPts val="0"/>
              </a:spcBef>
              <a:spcAft>
                <a:spcPts val="0"/>
              </a:spcAft>
              <a:buClr>
                <a:schemeClr val="lt2"/>
              </a:buClr>
              <a:buSzPts val="1200"/>
              <a:buChar char="■"/>
            </a:pPr>
            <a:r>
              <a:rPr lang="en"/>
              <a:t>l</a:t>
            </a:r>
            <a:r>
              <a:rPr lang="en"/>
              <a:t>atitude</a:t>
            </a:r>
            <a:endParaRPr/>
          </a:p>
          <a:p>
            <a:pPr indent="-213359" lvl="0" marL="274320" rtl="0" algn="l">
              <a:spcBef>
                <a:spcPts val="0"/>
              </a:spcBef>
              <a:spcAft>
                <a:spcPts val="0"/>
              </a:spcAft>
              <a:buClr>
                <a:schemeClr val="lt2"/>
              </a:buClr>
              <a:buSzPts val="1200"/>
              <a:buChar char="■"/>
            </a:pPr>
            <a:r>
              <a:rPr lang="en"/>
              <a:t>l</a:t>
            </a:r>
            <a:r>
              <a:rPr lang="en"/>
              <a:t>ongitude</a:t>
            </a:r>
            <a:endParaRPr/>
          </a:p>
          <a:p>
            <a:pPr indent="-213359" lvl="0" marL="274320" rtl="0" algn="l">
              <a:spcBef>
                <a:spcPts val="0"/>
              </a:spcBef>
              <a:spcAft>
                <a:spcPts val="0"/>
              </a:spcAft>
              <a:buClr>
                <a:schemeClr val="lt2"/>
              </a:buClr>
              <a:buSzPts val="1200"/>
              <a:buChar char="■"/>
            </a:pPr>
            <a:r>
              <a:rPr lang="en"/>
              <a:t>price</a:t>
            </a:r>
            <a:endParaRPr/>
          </a:p>
        </p:txBody>
      </p:sp>
      <p:pic>
        <p:nvPicPr>
          <p:cNvPr id="459" name="Google Shape;459;p61"/>
          <p:cNvPicPr preferRelativeResize="0"/>
          <p:nvPr/>
        </p:nvPicPr>
        <p:blipFill>
          <a:blip r:embed="rId3">
            <a:alphaModFix/>
          </a:blip>
          <a:stretch>
            <a:fillRect/>
          </a:stretch>
        </p:blipFill>
        <p:spPr>
          <a:xfrm>
            <a:off x="4249400" y="215825"/>
            <a:ext cx="4842975" cy="48148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2"/>
          <p:cNvSpPr txBox="1"/>
          <p:nvPr>
            <p:ph type="title"/>
          </p:nvPr>
        </p:nvSpPr>
        <p:spPr>
          <a:xfrm>
            <a:off x="599255"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Remove Rows with Empty Geographic Details</a:t>
            </a:r>
            <a:endParaRPr/>
          </a:p>
        </p:txBody>
      </p:sp>
      <p:pic>
        <p:nvPicPr>
          <p:cNvPr id="465" name="Google Shape;465;p62"/>
          <p:cNvPicPr preferRelativeResize="0"/>
          <p:nvPr/>
        </p:nvPicPr>
        <p:blipFill>
          <a:blip r:embed="rId3">
            <a:alphaModFix/>
          </a:blip>
          <a:stretch>
            <a:fillRect/>
          </a:stretch>
        </p:blipFill>
        <p:spPr>
          <a:xfrm>
            <a:off x="669500" y="1197050"/>
            <a:ext cx="6324600" cy="1343025"/>
          </a:xfrm>
          <a:prstGeom prst="rect">
            <a:avLst/>
          </a:prstGeom>
          <a:noFill/>
          <a:ln>
            <a:noFill/>
          </a:ln>
        </p:spPr>
      </p:pic>
      <p:pic>
        <p:nvPicPr>
          <p:cNvPr id="466" name="Google Shape;466;p62"/>
          <p:cNvPicPr preferRelativeResize="0"/>
          <p:nvPr/>
        </p:nvPicPr>
        <p:blipFill>
          <a:blip r:embed="rId4">
            <a:alphaModFix/>
          </a:blip>
          <a:stretch>
            <a:fillRect/>
          </a:stretch>
        </p:blipFill>
        <p:spPr>
          <a:xfrm>
            <a:off x="669500" y="2540075"/>
            <a:ext cx="3524250" cy="247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3"/>
          <p:cNvSpPr txBox="1"/>
          <p:nvPr>
            <p:ph type="title"/>
          </p:nvPr>
        </p:nvSpPr>
        <p:spPr>
          <a:xfrm>
            <a:off x="599255"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Plot boxplot() for Better Picture on Specific Fields</a:t>
            </a:r>
            <a:endParaRPr/>
          </a:p>
        </p:txBody>
      </p:sp>
      <p:pic>
        <p:nvPicPr>
          <p:cNvPr id="472" name="Google Shape;472;p63"/>
          <p:cNvPicPr preferRelativeResize="0"/>
          <p:nvPr/>
        </p:nvPicPr>
        <p:blipFill>
          <a:blip r:embed="rId3">
            <a:alphaModFix/>
          </a:blip>
          <a:stretch>
            <a:fillRect/>
          </a:stretch>
        </p:blipFill>
        <p:spPr>
          <a:xfrm>
            <a:off x="685675" y="1710700"/>
            <a:ext cx="4132976" cy="2999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4"/>
          <p:cNvSpPr txBox="1"/>
          <p:nvPr>
            <p:ph type="title"/>
          </p:nvPr>
        </p:nvSpPr>
        <p:spPr>
          <a:xfrm>
            <a:off x="599255"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Remove Part of The Outliers</a:t>
            </a:r>
            <a:endParaRPr/>
          </a:p>
        </p:txBody>
      </p:sp>
      <p:pic>
        <p:nvPicPr>
          <p:cNvPr id="478" name="Google Shape;478;p64"/>
          <p:cNvPicPr preferRelativeResize="0"/>
          <p:nvPr/>
        </p:nvPicPr>
        <p:blipFill>
          <a:blip r:embed="rId3">
            <a:alphaModFix/>
          </a:blip>
          <a:stretch>
            <a:fillRect/>
          </a:stretch>
        </p:blipFill>
        <p:spPr>
          <a:xfrm>
            <a:off x="671950" y="1276350"/>
            <a:ext cx="6838950" cy="2590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5"/>
          <p:cNvSpPr txBox="1"/>
          <p:nvPr>
            <p:ph type="title"/>
          </p:nvPr>
        </p:nvSpPr>
        <p:spPr>
          <a:xfrm>
            <a:off x="4516598" y="58725"/>
            <a:ext cx="35343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Scatter Matrix</a:t>
            </a:r>
            <a:endParaRPr/>
          </a:p>
          <a:p>
            <a:pPr indent="0" lvl="0" marL="0" rtl="0" algn="l">
              <a:spcBef>
                <a:spcPts val="0"/>
              </a:spcBef>
              <a:spcAft>
                <a:spcPts val="0"/>
              </a:spcAft>
              <a:buNone/>
            </a:pPr>
            <a:r>
              <a:t/>
            </a:r>
            <a:endParaRPr/>
          </a:p>
        </p:txBody>
      </p:sp>
      <p:pic>
        <p:nvPicPr>
          <p:cNvPr id="484" name="Google Shape;484;p65"/>
          <p:cNvPicPr preferRelativeResize="0"/>
          <p:nvPr/>
        </p:nvPicPr>
        <p:blipFill>
          <a:blip r:embed="rId3">
            <a:alphaModFix/>
          </a:blip>
          <a:stretch>
            <a:fillRect/>
          </a:stretch>
        </p:blipFill>
        <p:spPr>
          <a:xfrm>
            <a:off x="4525667" y="535000"/>
            <a:ext cx="4358558" cy="4338126"/>
          </a:xfrm>
          <a:prstGeom prst="rect">
            <a:avLst/>
          </a:prstGeom>
          <a:noFill/>
          <a:ln>
            <a:noFill/>
          </a:ln>
        </p:spPr>
      </p:pic>
      <p:pic>
        <p:nvPicPr>
          <p:cNvPr id="485" name="Google Shape;485;p65"/>
          <p:cNvPicPr preferRelativeResize="0"/>
          <p:nvPr/>
        </p:nvPicPr>
        <p:blipFill>
          <a:blip r:embed="rId4">
            <a:alphaModFix/>
          </a:blip>
          <a:stretch>
            <a:fillRect/>
          </a:stretch>
        </p:blipFill>
        <p:spPr>
          <a:xfrm>
            <a:off x="69275" y="535000"/>
            <a:ext cx="4308774" cy="4283709"/>
          </a:xfrm>
          <a:prstGeom prst="rect">
            <a:avLst/>
          </a:prstGeom>
          <a:noFill/>
          <a:ln>
            <a:noFill/>
          </a:ln>
        </p:spPr>
      </p:pic>
      <p:sp>
        <p:nvSpPr>
          <p:cNvPr id="486" name="Google Shape;486;p65"/>
          <p:cNvSpPr txBox="1"/>
          <p:nvPr>
            <p:ph type="title"/>
          </p:nvPr>
        </p:nvSpPr>
        <p:spPr>
          <a:xfrm>
            <a:off x="69275" y="58725"/>
            <a:ext cx="42171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Original Scatter Matrix</a:t>
            </a:r>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6"/>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a:p>
            <a:pPr indent="0" lvl="0" marL="0" rtl="0" algn="l">
              <a:spcBef>
                <a:spcPts val="0"/>
              </a:spcBef>
              <a:spcAft>
                <a:spcPts val="0"/>
              </a:spcAft>
              <a:buNone/>
            </a:pPr>
            <a:r>
              <a:rPr lang="en" sz="3500"/>
              <a:t>Transformation</a:t>
            </a:r>
            <a:endParaRPr sz="3500"/>
          </a:p>
        </p:txBody>
      </p:sp>
      <p:sp>
        <p:nvSpPr>
          <p:cNvPr id="492" name="Google Shape;492;p66"/>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03.3</a:t>
            </a:r>
            <a:endParaRPr/>
          </a:p>
        </p:txBody>
      </p:sp>
      <p:cxnSp>
        <p:nvCxnSpPr>
          <p:cNvPr id="493" name="Google Shape;493;p66">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RFormula in Spark</a:t>
            </a:r>
            <a:endParaRPr/>
          </a:p>
        </p:txBody>
      </p:sp>
      <p:sp>
        <p:nvSpPr>
          <p:cNvPr id="499" name="Google Shape;499;p67"/>
          <p:cNvSpPr txBox="1"/>
          <p:nvPr>
            <p:ph idx="4294967295" type="body"/>
          </p:nvPr>
        </p:nvSpPr>
        <p:spPr>
          <a:xfrm>
            <a:off x="715100" y="1236100"/>
            <a:ext cx="6981900" cy="379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 </a:t>
            </a:r>
            <a:r>
              <a:rPr lang="en" u="sng"/>
              <a:t>feature transformer</a:t>
            </a:r>
            <a:r>
              <a:rPr lang="en"/>
              <a:t> that provides a concise way to specify a set of features and target variables using a R-like formula format.</a:t>
            </a:r>
            <a:endParaRPr/>
          </a:p>
        </p:txBody>
      </p:sp>
      <p:pic>
        <p:nvPicPr>
          <p:cNvPr id="500" name="Google Shape;500;p67"/>
          <p:cNvPicPr preferRelativeResize="0"/>
          <p:nvPr/>
        </p:nvPicPr>
        <p:blipFill>
          <a:blip r:embed="rId3">
            <a:alphaModFix/>
          </a:blip>
          <a:stretch>
            <a:fillRect/>
          </a:stretch>
        </p:blipFill>
        <p:spPr>
          <a:xfrm>
            <a:off x="715125" y="2009775"/>
            <a:ext cx="6981825" cy="11239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8"/>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a:p>
            <a:pPr indent="0" lvl="0" marL="0" rtl="0" algn="l">
              <a:spcBef>
                <a:spcPts val="0"/>
              </a:spcBef>
              <a:spcAft>
                <a:spcPts val="0"/>
              </a:spcAft>
              <a:buNone/>
            </a:pPr>
            <a:r>
              <a:rPr lang="en" sz="3500"/>
              <a:t>Data Splitting</a:t>
            </a:r>
            <a:endParaRPr sz="3500"/>
          </a:p>
        </p:txBody>
      </p:sp>
      <p:sp>
        <p:nvSpPr>
          <p:cNvPr id="506" name="Google Shape;506;p68"/>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03.4</a:t>
            </a:r>
            <a:endParaRPr/>
          </a:p>
        </p:txBody>
      </p:sp>
      <p:cxnSp>
        <p:nvCxnSpPr>
          <p:cNvPr id="507" name="Google Shape;507;p68">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
        <p:nvSpPr>
          <p:cNvPr id="508" name="Google Shape;508;p68"/>
          <p:cNvSpPr txBox="1"/>
          <p:nvPr>
            <p:ph idx="4294967295" type="body"/>
          </p:nvPr>
        </p:nvSpPr>
        <p:spPr>
          <a:xfrm>
            <a:off x="5374200" y="2408250"/>
            <a:ext cx="2181600" cy="117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700"/>
              <a:t>randomSplit()</a:t>
            </a:r>
            <a:endParaRPr sz="1700"/>
          </a:p>
          <a:p>
            <a:pPr indent="-245109" lvl="0" marL="274320" rtl="0" algn="l">
              <a:spcBef>
                <a:spcPts val="1600"/>
              </a:spcBef>
              <a:spcAft>
                <a:spcPts val="0"/>
              </a:spcAft>
              <a:buClr>
                <a:schemeClr val="lt2"/>
              </a:buClr>
              <a:buSzPts val="1700"/>
              <a:buChar char="■"/>
            </a:pPr>
            <a:r>
              <a:rPr lang="en" sz="1700"/>
              <a:t>80% Training</a:t>
            </a:r>
            <a:endParaRPr sz="1700"/>
          </a:p>
          <a:p>
            <a:pPr indent="-245109" lvl="0" marL="274320" rtl="0" algn="l">
              <a:spcBef>
                <a:spcPts val="0"/>
              </a:spcBef>
              <a:spcAft>
                <a:spcPts val="0"/>
              </a:spcAft>
              <a:buClr>
                <a:schemeClr val="lt2"/>
              </a:buClr>
              <a:buSzPts val="1700"/>
              <a:buChar char="■"/>
            </a:pPr>
            <a:r>
              <a:rPr lang="en" sz="1700"/>
              <a:t>20% Testing</a:t>
            </a:r>
            <a:endParaRPr sz="17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9"/>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a:t>
            </a:r>
            <a:endParaRPr sz="4600"/>
          </a:p>
          <a:p>
            <a:pPr indent="0" lvl="0" marL="0" rtl="0" algn="l">
              <a:spcBef>
                <a:spcPts val="0"/>
              </a:spcBef>
              <a:spcAft>
                <a:spcPts val="0"/>
              </a:spcAft>
              <a:buNone/>
            </a:pPr>
            <a:r>
              <a:rPr lang="en" sz="3500"/>
              <a:t>Model Training</a:t>
            </a:r>
            <a:endParaRPr sz="3500"/>
          </a:p>
        </p:txBody>
      </p:sp>
      <p:sp>
        <p:nvSpPr>
          <p:cNvPr id="514" name="Google Shape;514;p69"/>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03.5</a:t>
            </a:r>
            <a:endParaRPr/>
          </a:p>
        </p:txBody>
      </p:sp>
      <p:cxnSp>
        <p:nvCxnSpPr>
          <p:cNvPr id="515" name="Google Shape;515;p6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0"/>
          <p:cNvSpPr txBox="1"/>
          <p:nvPr>
            <p:ph idx="1" type="subTitle"/>
          </p:nvPr>
        </p:nvSpPr>
        <p:spPr>
          <a:xfrm>
            <a:off x="715100" y="2405245"/>
            <a:ext cx="2386500" cy="16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0"/>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Selected</a:t>
            </a:r>
            <a:endParaRPr/>
          </a:p>
        </p:txBody>
      </p:sp>
      <p:sp>
        <p:nvSpPr>
          <p:cNvPr id="522" name="Google Shape;522;p70"/>
          <p:cNvSpPr txBox="1"/>
          <p:nvPr>
            <p:ph idx="2" type="subTitle"/>
          </p:nvPr>
        </p:nvSpPr>
        <p:spPr>
          <a:xfrm>
            <a:off x="715100" y="1571150"/>
            <a:ext cx="2386500" cy="81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Random Forest Regression</a:t>
            </a:r>
            <a:endParaRPr/>
          </a:p>
        </p:txBody>
      </p:sp>
      <p:sp>
        <p:nvSpPr>
          <p:cNvPr id="523" name="Google Shape;523;p70"/>
          <p:cNvSpPr txBox="1"/>
          <p:nvPr>
            <p:ph idx="3" type="subTitle"/>
          </p:nvPr>
        </p:nvSpPr>
        <p:spPr>
          <a:xfrm>
            <a:off x="3506175" y="2405251"/>
            <a:ext cx="2386500" cy="1626900"/>
          </a:xfrm>
          <a:prstGeom prst="rect">
            <a:avLst/>
          </a:prstGeom>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t/>
            </a:r>
            <a:endParaRPr/>
          </a:p>
        </p:txBody>
      </p:sp>
      <p:sp>
        <p:nvSpPr>
          <p:cNvPr id="524" name="Google Shape;524;p70"/>
          <p:cNvSpPr txBox="1"/>
          <p:nvPr>
            <p:ph idx="4" type="subTitle"/>
          </p:nvPr>
        </p:nvSpPr>
        <p:spPr>
          <a:xfrm>
            <a:off x="3506175" y="1613441"/>
            <a:ext cx="2386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Gradient-Boosted Tree Regression</a:t>
            </a:r>
            <a:endParaRPr/>
          </a:p>
        </p:txBody>
      </p:sp>
      <p:sp>
        <p:nvSpPr>
          <p:cNvPr id="525" name="Google Shape;525;p70"/>
          <p:cNvSpPr txBox="1"/>
          <p:nvPr>
            <p:ph idx="5" type="subTitle"/>
          </p:nvPr>
        </p:nvSpPr>
        <p:spPr>
          <a:xfrm>
            <a:off x="6159350" y="2405250"/>
            <a:ext cx="2386500" cy="16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0"/>
          <p:cNvSpPr txBox="1"/>
          <p:nvPr>
            <p:ph idx="6" type="subTitle"/>
          </p:nvPr>
        </p:nvSpPr>
        <p:spPr>
          <a:xfrm>
            <a:off x="6159350" y="1613450"/>
            <a:ext cx="2386500" cy="73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Multiple Linear Regression</a:t>
            </a:r>
            <a:endParaRPr/>
          </a:p>
        </p:txBody>
      </p:sp>
      <p:pic>
        <p:nvPicPr>
          <p:cNvPr id="527" name="Google Shape;527;p70"/>
          <p:cNvPicPr preferRelativeResize="0"/>
          <p:nvPr/>
        </p:nvPicPr>
        <p:blipFill>
          <a:blip r:embed="rId3">
            <a:alphaModFix/>
          </a:blip>
          <a:stretch>
            <a:fillRect/>
          </a:stretch>
        </p:blipFill>
        <p:spPr>
          <a:xfrm>
            <a:off x="715100" y="2405250"/>
            <a:ext cx="2386500" cy="1626900"/>
          </a:xfrm>
          <a:prstGeom prst="rect">
            <a:avLst/>
          </a:prstGeom>
          <a:noFill/>
          <a:ln>
            <a:noFill/>
          </a:ln>
        </p:spPr>
      </p:pic>
      <p:pic>
        <p:nvPicPr>
          <p:cNvPr id="528" name="Google Shape;528;p70"/>
          <p:cNvPicPr preferRelativeResize="0"/>
          <p:nvPr/>
        </p:nvPicPr>
        <p:blipFill rotWithShape="1">
          <a:blip r:embed="rId4">
            <a:alphaModFix/>
          </a:blip>
          <a:srcRect b="7475" l="5417" r="18275" t="0"/>
          <a:stretch/>
        </p:blipFill>
        <p:spPr>
          <a:xfrm>
            <a:off x="6159350" y="2390450"/>
            <a:ext cx="2386501" cy="1626900"/>
          </a:xfrm>
          <a:prstGeom prst="rect">
            <a:avLst/>
          </a:prstGeom>
          <a:noFill/>
          <a:ln>
            <a:noFill/>
          </a:ln>
        </p:spPr>
      </p:pic>
      <p:pic>
        <p:nvPicPr>
          <p:cNvPr id="529" name="Google Shape;529;p70"/>
          <p:cNvPicPr preferRelativeResize="0"/>
          <p:nvPr/>
        </p:nvPicPr>
        <p:blipFill>
          <a:blip r:embed="rId5">
            <a:alphaModFix/>
          </a:blip>
          <a:stretch>
            <a:fillRect/>
          </a:stretch>
        </p:blipFill>
        <p:spPr>
          <a:xfrm>
            <a:off x="3506175" y="2405250"/>
            <a:ext cx="2386500" cy="1626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1"/>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2 - #1 Model</a:t>
            </a:r>
            <a:endParaRPr sz="4600"/>
          </a:p>
          <a:p>
            <a:pPr indent="0" lvl="0" marL="0" rtl="0" algn="l">
              <a:spcBef>
                <a:spcPts val="0"/>
              </a:spcBef>
              <a:spcAft>
                <a:spcPts val="0"/>
              </a:spcAft>
              <a:buNone/>
            </a:pPr>
            <a:r>
              <a:rPr lang="en" sz="3500"/>
              <a:t>Random Forest Regression </a:t>
            </a:r>
            <a:r>
              <a:rPr lang="en" sz="4600"/>
              <a:t>(RFR)</a:t>
            </a:r>
            <a:endParaRPr sz="3500"/>
          </a:p>
        </p:txBody>
      </p:sp>
      <p:sp>
        <p:nvSpPr>
          <p:cNvPr id="535" name="Google Shape;535;p71"/>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03.6</a:t>
            </a:r>
            <a:endParaRPr/>
          </a:p>
        </p:txBody>
      </p:sp>
      <p:cxnSp>
        <p:nvCxnSpPr>
          <p:cNvPr id="536" name="Google Shape;536;p71">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2"/>
          <p:cNvSpPr txBox="1"/>
          <p:nvPr>
            <p:ph idx="2" type="title"/>
          </p:nvPr>
        </p:nvSpPr>
        <p:spPr>
          <a:xfrm>
            <a:off x="934175" y="883625"/>
            <a:ext cx="7708800" cy="31632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0"/>
              </a:spcAft>
              <a:buNone/>
            </a:pPr>
            <a:r>
              <a:rPr lang="en" sz="1800">
                <a:solidFill>
                  <a:srgbClr val="000000"/>
                </a:solidFill>
                <a:latin typeface="Times New Roman"/>
                <a:ea typeface="Times New Roman"/>
                <a:cs typeface="Times New Roman"/>
                <a:sym typeface="Times New Roman"/>
              </a:rPr>
              <a:t>Random Forest Regressor is a popular model for supervised learning to predict continuous data (numerical values). It uses the predictions/results of multiple decision trees making it robust to overfitting and perform generalization (ability to do well with unseen data and not memorize the training data).</a:t>
            </a:r>
            <a:endParaRPr sz="18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800">
                <a:solidFill>
                  <a:srgbClr val="000000"/>
                </a:solidFill>
                <a:latin typeface="Times New Roman"/>
                <a:ea typeface="Times New Roman"/>
                <a:cs typeface="Times New Roman"/>
                <a:sym typeface="Times New Roman"/>
              </a:rPr>
              <a:t>PySpark has a library to import the regressor model</a:t>
            </a:r>
            <a:endParaRPr sz="18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pic>
        <p:nvPicPr>
          <p:cNvPr id="542" name="Google Shape;542;p72"/>
          <p:cNvPicPr preferRelativeResize="0"/>
          <p:nvPr/>
        </p:nvPicPr>
        <p:blipFill>
          <a:blip r:embed="rId3">
            <a:alphaModFix/>
          </a:blip>
          <a:stretch>
            <a:fillRect/>
          </a:stretch>
        </p:blipFill>
        <p:spPr>
          <a:xfrm>
            <a:off x="1040188" y="2874800"/>
            <a:ext cx="6835026" cy="361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3"/>
          <p:cNvSpPr txBox="1"/>
          <p:nvPr>
            <p:ph idx="1" type="subTitle"/>
          </p:nvPr>
        </p:nvSpPr>
        <p:spPr>
          <a:xfrm>
            <a:off x="1545563" y="1350625"/>
            <a:ext cx="65427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 imported all the necessary libraries using pyspark.</a:t>
            </a:r>
            <a:endParaRPr sz="1700"/>
          </a:p>
        </p:txBody>
      </p:sp>
      <p:pic>
        <p:nvPicPr>
          <p:cNvPr id="548" name="Google Shape;548;p73"/>
          <p:cNvPicPr preferRelativeResize="0"/>
          <p:nvPr/>
        </p:nvPicPr>
        <p:blipFill>
          <a:blip r:embed="rId3">
            <a:alphaModFix/>
          </a:blip>
          <a:stretch>
            <a:fillRect/>
          </a:stretch>
        </p:blipFill>
        <p:spPr>
          <a:xfrm>
            <a:off x="1049775" y="2192750"/>
            <a:ext cx="7534276" cy="2133600"/>
          </a:xfrm>
          <a:prstGeom prst="rect">
            <a:avLst/>
          </a:prstGeom>
          <a:noFill/>
          <a:ln>
            <a:noFill/>
          </a:ln>
        </p:spPr>
      </p:pic>
      <p:sp>
        <p:nvSpPr>
          <p:cNvPr id="549" name="Google Shape;549;p73"/>
          <p:cNvSpPr txBox="1"/>
          <p:nvPr/>
        </p:nvSpPr>
        <p:spPr>
          <a:xfrm>
            <a:off x="3900250" y="280725"/>
            <a:ext cx="2235900" cy="4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Albert Sans"/>
                <a:ea typeface="Albert Sans"/>
                <a:cs typeface="Albert Sans"/>
                <a:sym typeface="Albert Sans"/>
              </a:rPr>
              <a:t>Libraries</a:t>
            </a:r>
            <a:endParaRPr sz="2000">
              <a:solidFill>
                <a:schemeClr val="dk1"/>
              </a:solidFill>
              <a:latin typeface="Albert Sans"/>
              <a:ea typeface="Albert Sans"/>
              <a:cs typeface="Albert Sans"/>
              <a:sym typeface="Albert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pic>
        <p:nvPicPr>
          <p:cNvPr id="554" name="Google Shape;554;p74"/>
          <p:cNvPicPr preferRelativeResize="0"/>
          <p:nvPr/>
        </p:nvPicPr>
        <p:blipFill rotWithShape="1">
          <a:blip r:embed="rId3">
            <a:alphaModFix/>
          </a:blip>
          <a:srcRect b="0" l="0" r="0" t="29676"/>
          <a:stretch/>
        </p:blipFill>
        <p:spPr>
          <a:xfrm>
            <a:off x="209550" y="2666650"/>
            <a:ext cx="8839198" cy="585950"/>
          </a:xfrm>
          <a:prstGeom prst="rect">
            <a:avLst/>
          </a:prstGeom>
          <a:noFill/>
          <a:ln>
            <a:noFill/>
          </a:ln>
        </p:spPr>
      </p:pic>
      <p:sp>
        <p:nvSpPr>
          <p:cNvPr id="555" name="Google Shape;555;p74"/>
          <p:cNvSpPr txBox="1"/>
          <p:nvPr/>
        </p:nvSpPr>
        <p:spPr>
          <a:xfrm>
            <a:off x="2585350" y="748400"/>
            <a:ext cx="4898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
        <p:nvSpPr>
          <p:cNvPr id="556" name="Google Shape;556;p74"/>
          <p:cNvSpPr txBox="1"/>
          <p:nvPr/>
        </p:nvSpPr>
        <p:spPr>
          <a:xfrm>
            <a:off x="841950" y="1372825"/>
            <a:ext cx="690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Albert Sans"/>
                <a:ea typeface="Albert Sans"/>
                <a:cs typeface="Albert Sans"/>
                <a:sym typeface="Albert Sans"/>
              </a:rPr>
              <a:t>Creating (instantiating) a Random Forest Regressor object in PySpark ML and using a pipeline with the rformula created earlier.</a:t>
            </a:r>
            <a:endParaRPr sz="1500">
              <a:solidFill>
                <a:schemeClr val="dk1"/>
              </a:solidFill>
              <a:latin typeface="Albert Sans"/>
              <a:ea typeface="Albert Sans"/>
              <a:cs typeface="Albert Sans"/>
              <a:sym typeface="Albert Sans"/>
            </a:endParaRPr>
          </a:p>
        </p:txBody>
      </p:sp>
      <p:sp>
        <p:nvSpPr>
          <p:cNvPr id="557" name="Google Shape;557;p74"/>
          <p:cNvSpPr txBox="1"/>
          <p:nvPr/>
        </p:nvSpPr>
        <p:spPr>
          <a:xfrm>
            <a:off x="2616000" y="307175"/>
            <a:ext cx="3912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Albert Sans"/>
                <a:ea typeface="Albert Sans"/>
                <a:cs typeface="Albert Sans"/>
                <a:sym typeface="Albert Sans"/>
              </a:rPr>
              <a:t>Model object and pipeline</a:t>
            </a:r>
            <a:endParaRPr sz="2300">
              <a:solidFill>
                <a:schemeClr val="dk1"/>
              </a:solidFill>
              <a:latin typeface="Albert Sans"/>
              <a:ea typeface="Albert Sans"/>
              <a:cs typeface="Albert Sans"/>
              <a:sym typeface="Albert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5"/>
          <p:cNvSpPr txBox="1"/>
          <p:nvPr>
            <p:ph idx="1" type="subTitle"/>
          </p:nvPr>
        </p:nvSpPr>
        <p:spPr>
          <a:xfrm>
            <a:off x="1129975" y="1290475"/>
            <a:ext cx="65427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 use the </a:t>
            </a:r>
            <a:r>
              <a:rPr b="1" lang="en" sz="1700"/>
              <a:t>ParamGridBuilder</a:t>
            </a:r>
            <a:r>
              <a:rPr lang="en" sz="1700"/>
              <a:t> from pyspark to fine tune the hyperparameters</a:t>
            </a:r>
            <a:endParaRPr sz="1700"/>
          </a:p>
        </p:txBody>
      </p:sp>
      <p:pic>
        <p:nvPicPr>
          <p:cNvPr id="563" name="Google Shape;563;p75"/>
          <p:cNvPicPr preferRelativeResize="0"/>
          <p:nvPr/>
        </p:nvPicPr>
        <p:blipFill rotWithShape="1">
          <a:blip r:embed="rId3">
            <a:alphaModFix/>
          </a:blip>
          <a:srcRect b="78283" l="0" r="60775" t="0"/>
          <a:stretch/>
        </p:blipFill>
        <p:spPr>
          <a:xfrm>
            <a:off x="1433525" y="2319825"/>
            <a:ext cx="6118827" cy="2232424"/>
          </a:xfrm>
          <a:prstGeom prst="rect">
            <a:avLst/>
          </a:prstGeom>
          <a:noFill/>
          <a:ln>
            <a:noFill/>
          </a:ln>
        </p:spPr>
      </p:pic>
      <p:sp>
        <p:nvSpPr>
          <p:cNvPr id="564" name="Google Shape;564;p75"/>
          <p:cNvSpPr txBox="1"/>
          <p:nvPr/>
        </p:nvSpPr>
        <p:spPr>
          <a:xfrm>
            <a:off x="3068075" y="250525"/>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Hyperparameter</a:t>
            </a:r>
            <a:endParaRPr sz="2400">
              <a:solidFill>
                <a:schemeClr val="dk1"/>
              </a:solidFill>
              <a:latin typeface="Albert Sans"/>
              <a:ea typeface="Albert Sans"/>
              <a:cs typeface="Albert Sans"/>
              <a:sym typeface="Albert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6"/>
          <p:cNvSpPr txBox="1"/>
          <p:nvPr>
            <p:ph idx="1" type="subTitle"/>
          </p:nvPr>
        </p:nvSpPr>
        <p:spPr>
          <a:xfrm>
            <a:off x="1190125" y="1611325"/>
            <a:ext cx="6542700" cy="141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 use the ‘evaluate’ function from pyspark library on the evaluation metrics like MAE, RMSE and R^2 to find the best combination of hyperparameters that will best suit the model’s performance. That is, R^2 </a:t>
            </a:r>
            <a:r>
              <a:rPr lang="en" sz="1700"/>
              <a:t>should</a:t>
            </a:r>
            <a:r>
              <a:rPr lang="en" sz="1700"/>
              <a:t> be the greatest and the MAE and RMSE </a:t>
            </a:r>
            <a:r>
              <a:rPr lang="en" sz="1700"/>
              <a:t>should</a:t>
            </a:r>
            <a:r>
              <a:rPr lang="en" sz="1700"/>
              <a:t> be the lowest. </a:t>
            </a:r>
            <a:endParaRPr sz="1700"/>
          </a:p>
        </p:txBody>
      </p:sp>
      <p:pic>
        <p:nvPicPr>
          <p:cNvPr id="570" name="Google Shape;570;p76"/>
          <p:cNvPicPr preferRelativeResize="0"/>
          <p:nvPr/>
        </p:nvPicPr>
        <p:blipFill rotWithShape="1">
          <a:blip r:embed="rId3">
            <a:alphaModFix/>
          </a:blip>
          <a:srcRect b="66488" l="0" r="13427" t="21178"/>
          <a:stretch/>
        </p:blipFill>
        <p:spPr>
          <a:xfrm>
            <a:off x="521375" y="3339775"/>
            <a:ext cx="7970201" cy="871275"/>
          </a:xfrm>
          <a:prstGeom prst="rect">
            <a:avLst/>
          </a:prstGeom>
          <a:noFill/>
          <a:ln>
            <a:noFill/>
          </a:ln>
        </p:spPr>
      </p:pic>
      <p:sp>
        <p:nvSpPr>
          <p:cNvPr id="571" name="Google Shape;571;p76"/>
          <p:cNvSpPr txBox="1"/>
          <p:nvPr/>
        </p:nvSpPr>
        <p:spPr>
          <a:xfrm>
            <a:off x="3042313" y="897025"/>
            <a:ext cx="3148200" cy="7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Albert Sans"/>
                <a:ea typeface="Albert Sans"/>
                <a:cs typeface="Albert Sans"/>
                <a:sym typeface="Albert Sans"/>
              </a:rPr>
              <a:t>Evaluation metrics code</a:t>
            </a:r>
            <a:endParaRPr sz="2000">
              <a:solidFill>
                <a:schemeClr val="dk1"/>
              </a:solidFill>
              <a:latin typeface="Albert Sans"/>
              <a:ea typeface="Albert Sans"/>
              <a:cs typeface="Albert Sans"/>
              <a:sym typeface="Albert Sans"/>
            </a:endParaRPr>
          </a:p>
        </p:txBody>
      </p:sp>
      <p:sp>
        <p:nvSpPr>
          <p:cNvPr id="572" name="Google Shape;572;p76"/>
          <p:cNvSpPr txBox="1"/>
          <p:nvPr/>
        </p:nvSpPr>
        <p:spPr>
          <a:xfrm>
            <a:off x="3318750" y="250525"/>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Hyperparameter</a:t>
            </a:r>
            <a:endParaRPr sz="2400">
              <a:solidFill>
                <a:schemeClr val="dk1"/>
              </a:solidFill>
              <a:latin typeface="Albert Sans"/>
              <a:ea typeface="Albert Sans"/>
              <a:cs typeface="Albert Sans"/>
              <a:sym typeface="Albert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7"/>
          <p:cNvSpPr txBox="1"/>
          <p:nvPr>
            <p:ph idx="1" type="subTitle"/>
          </p:nvPr>
        </p:nvSpPr>
        <p:spPr>
          <a:xfrm>
            <a:off x="1962100" y="1017175"/>
            <a:ext cx="4752900" cy="60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 store the </a:t>
            </a:r>
            <a:r>
              <a:rPr b="1" lang="en" sz="1700"/>
              <a:t>results</a:t>
            </a:r>
            <a:r>
              <a:rPr lang="en" sz="1700"/>
              <a:t> in the list called results.</a:t>
            </a:r>
            <a:endParaRPr sz="1700"/>
          </a:p>
        </p:txBody>
      </p:sp>
      <p:pic>
        <p:nvPicPr>
          <p:cNvPr id="578" name="Google Shape;578;p77"/>
          <p:cNvPicPr preferRelativeResize="0"/>
          <p:nvPr/>
        </p:nvPicPr>
        <p:blipFill rotWithShape="1">
          <a:blip r:embed="rId3">
            <a:alphaModFix/>
          </a:blip>
          <a:srcRect b="27346" l="0" r="50529" t="33242"/>
          <a:stretch/>
        </p:blipFill>
        <p:spPr>
          <a:xfrm>
            <a:off x="1733363" y="1728550"/>
            <a:ext cx="5210375" cy="2735251"/>
          </a:xfrm>
          <a:prstGeom prst="rect">
            <a:avLst/>
          </a:prstGeom>
          <a:noFill/>
          <a:ln>
            <a:noFill/>
          </a:ln>
        </p:spPr>
      </p:pic>
      <p:sp>
        <p:nvSpPr>
          <p:cNvPr id="579" name="Google Shape;579;p77"/>
          <p:cNvSpPr txBox="1"/>
          <p:nvPr/>
        </p:nvSpPr>
        <p:spPr>
          <a:xfrm>
            <a:off x="3068075" y="250525"/>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Hyperparameter</a:t>
            </a:r>
            <a:endParaRPr sz="2400">
              <a:solidFill>
                <a:schemeClr val="dk1"/>
              </a:solidFill>
              <a:latin typeface="Albert Sans"/>
              <a:ea typeface="Albert Sans"/>
              <a:cs typeface="Albert Sans"/>
              <a:sym typeface="Albert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8"/>
          <p:cNvSpPr txBox="1"/>
          <p:nvPr>
            <p:ph idx="1" type="subTitle"/>
          </p:nvPr>
        </p:nvSpPr>
        <p:spPr>
          <a:xfrm>
            <a:off x="1049975" y="1483500"/>
            <a:ext cx="65427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Printing out the evaluation metrics </a:t>
            </a:r>
            <a:r>
              <a:rPr lang="en" sz="1700"/>
              <a:t>results in a tabular format</a:t>
            </a:r>
            <a:endParaRPr sz="1700"/>
          </a:p>
        </p:txBody>
      </p:sp>
      <p:pic>
        <p:nvPicPr>
          <p:cNvPr id="585" name="Google Shape;585;p78"/>
          <p:cNvPicPr preferRelativeResize="0"/>
          <p:nvPr/>
        </p:nvPicPr>
        <p:blipFill rotWithShape="1">
          <a:blip r:embed="rId3">
            <a:alphaModFix/>
          </a:blip>
          <a:srcRect b="0" l="0" r="18732" t="75871"/>
          <a:stretch/>
        </p:blipFill>
        <p:spPr>
          <a:xfrm>
            <a:off x="620552" y="2311075"/>
            <a:ext cx="7789650" cy="1523999"/>
          </a:xfrm>
          <a:prstGeom prst="rect">
            <a:avLst/>
          </a:prstGeom>
          <a:noFill/>
          <a:ln>
            <a:noFill/>
          </a:ln>
        </p:spPr>
      </p:pic>
      <p:sp>
        <p:nvSpPr>
          <p:cNvPr id="586" name="Google Shape;586;p78"/>
          <p:cNvSpPr txBox="1"/>
          <p:nvPr/>
        </p:nvSpPr>
        <p:spPr>
          <a:xfrm>
            <a:off x="3068075" y="410950"/>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Hyperparameter</a:t>
            </a:r>
            <a:endParaRPr sz="2400">
              <a:solidFill>
                <a:schemeClr val="dk1"/>
              </a:solidFill>
              <a:latin typeface="Albert Sans"/>
              <a:ea typeface="Albert Sans"/>
              <a:cs typeface="Albert Sans"/>
              <a:sym typeface="Albert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9"/>
          <p:cNvSpPr txBox="1"/>
          <p:nvPr>
            <p:ph idx="1" type="subTitle"/>
          </p:nvPr>
        </p:nvSpPr>
        <p:spPr>
          <a:xfrm>
            <a:off x="1196050" y="1266400"/>
            <a:ext cx="68460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800"/>
              <a:t>Selection of the best hyperparameter:</a:t>
            </a:r>
            <a:endParaRPr sz="1800"/>
          </a:p>
          <a:p>
            <a:pPr indent="0" lvl="0" marL="0" rtl="0" algn="l">
              <a:spcBef>
                <a:spcPts val="0"/>
              </a:spcBef>
              <a:spcAft>
                <a:spcPts val="0"/>
              </a:spcAft>
              <a:buNone/>
            </a:pPr>
            <a:r>
              <a:rPr lang="en" sz="1800"/>
              <a:t>MAE &amp; RMSE : lowest value </a:t>
            </a:r>
            <a:endParaRPr sz="1800"/>
          </a:p>
          <a:p>
            <a:pPr indent="0" lvl="0" marL="0" rtl="0" algn="l">
              <a:spcBef>
                <a:spcPts val="0"/>
              </a:spcBef>
              <a:spcAft>
                <a:spcPts val="0"/>
              </a:spcAft>
              <a:buNone/>
            </a:pPr>
            <a:r>
              <a:rPr lang="en" sz="1800"/>
              <a:t>R^2 : highest value</a:t>
            </a:r>
            <a:endParaRPr sz="1800"/>
          </a:p>
        </p:txBody>
      </p:sp>
      <p:grpSp>
        <p:nvGrpSpPr>
          <p:cNvPr id="592" name="Google Shape;592;p79"/>
          <p:cNvGrpSpPr/>
          <p:nvPr/>
        </p:nvGrpSpPr>
        <p:grpSpPr>
          <a:xfrm>
            <a:off x="715875" y="2506500"/>
            <a:ext cx="8042499" cy="2206350"/>
            <a:chOff x="734925" y="2154075"/>
            <a:chExt cx="8042499" cy="2206350"/>
          </a:xfrm>
        </p:grpSpPr>
        <p:pic>
          <p:nvPicPr>
            <p:cNvPr id="593" name="Google Shape;593;p79"/>
            <p:cNvPicPr preferRelativeResize="0"/>
            <p:nvPr/>
          </p:nvPicPr>
          <p:blipFill>
            <a:blip r:embed="rId3">
              <a:alphaModFix/>
            </a:blip>
            <a:stretch>
              <a:fillRect/>
            </a:stretch>
          </p:blipFill>
          <p:spPr>
            <a:xfrm>
              <a:off x="734925" y="2154075"/>
              <a:ext cx="8042499" cy="2206350"/>
            </a:xfrm>
            <a:prstGeom prst="rect">
              <a:avLst/>
            </a:prstGeom>
            <a:noFill/>
            <a:ln>
              <a:noFill/>
            </a:ln>
          </p:spPr>
        </p:pic>
        <p:sp>
          <p:nvSpPr>
            <p:cNvPr id="594" name="Google Shape;594;p79"/>
            <p:cNvSpPr/>
            <p:nvPr/>
          </p:nvSpPr>
          <p:spPr>
            <a:xfrm>
              <a:off x="734925" y="3752850"/>
              <a:ext cx="8042400" cy="30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
        <p:nvSpPr>
          <p:cNvPr id="595" name="Google Shape;595;p79"/>
          <p:cNvSpPr txBox="1"/>
          <p:nvPr/>
        </p:nvSpPr>
        <p:spPr>
          <a:xfrm>
            <a:off x="3068075" y="410950"/>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Hyperparameter</a:t>
            </a:r>
            <a:endParaRPr sz="2400">
              <a:solidFill>
                <a:schemeClr val="dk1"/>
              </a:solidFill>
              <a:latin typeface="Albert Sans"/>
              <a:ea typeface="Albert Sans"/>
              <a:cs typeface="Albert Sans"/>
              <a:sym typeface="Albert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0"/>
          <p:cNvSpPr txBox="1"/>
          <p:nvPr>
            <p:ph idx="1" type="subTitle"/>
          </p:nvPr>
        </p:nvSpPr>
        <p:spPr>
          <a:xfrm>
            <a:off x="1049975" y="1130050"/>
            <a:ext cx="65427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 use the chosen optimal combination of hyperparamter and train the model</a:t>
            </a:r>
            <a:endParaRPr sz="1700"/>
          </a:p>
        </p:txBody>
      </p:sp>
      <p:pic>
        <p:nvPicPr>
          <p:cNvPr id="601" name="Google Shape;601;p80"/>
          <p:cNvPicPr preferRelativeResize="0"/>
          <p:nvPr/>
        </p:nvPicPr>
        <p:blipFill>
          <a:blip r:embed="rId3">
            <a:alphaModFix/>
          </a:blip>
          <a:stretch>
            <a:fillRect/>
          </a:stretch>
        </p:blipFill>
        <p:spPr>
          <a:xfrm>
            <a:off x="2155813" y="1945075"/>
            <a:ext cx="4531625" cy="1483900"/>
          </a:xfrm>
          <a:prstGeom prst="rect">
            <a:avLst/>
          </a:prstGeom>
          <a:noFill/>
          <a:ln>
            <a:noFill/>
          </a:ln>
        </p:spPr>
      </p:pic>
      <p:pic>
        <p:nvPicPr>
          <p:cNvPr id="602" name="Google Shape;602;p80"/>
          <p:cNvPicPr preferRelativeResize="0"/>
          <p:nvPr/>
        </p:nvPicPr>
        <p:blipFill>
          <a:blip r:embed="rId4">
            <a:alphaModFix/>
          </a:blip>
          <a:stretch>
            <a:fillRect/>
          </a:stretch>
        </p:blipFill>
        <p:spPr>
          <a:xfrm>
            <a:off x="1816775" y="3737350"/>
            <a:ext cx="5296793" cy="877575"/>
          </a:xfrm>
          <a:prstGeom prst="rect">
            <a:avLst/>
          </a:prstGeom>
          <a:noFill/>
          <a:ln>
            <a:noFill/>
          </a:ln>
        </p:spPr>
      </p:pic>
      <p:sp>
        <p:nvSpPr>
          <p:cNvPr id="603" name="Google Shape;603;p80"/>
          <p:cNvSpPr txBox="1"/>
          <p:nvPr/>
        </p:nvSpPr>
        <p:spPr>
          <a:xfrm>
            <a:off x="3068075" y="250525"/>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Train Model</a:t>
            </a:r>
            <a:endParaRPr sz="2400">
              <a:solidFill>
                <a:schemeClr val="dk1"/>
              </a:solidFill>
              <a:latin typeface="Albert Sans"/>
              <a:ea typeface="Albert Sans"/>
              <a:cs typeface="Albert Sans"/>
              <a:sym typeface="Albert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1"/>
          <p:cNvSpPr txBox="1"/>
          <p:nvPr>
            <p:ph idx="1" type="subTitle"/>
          </p:nvPr>
        </p:nvSpPr>
        <p:spPr>
          <a:xfrm>
            <a:off x="2383250" y="938125"/>
            <a:ext cx="65427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Prediction by the model using test data </a:t>
            </a:r>
            <a:endParaRPr sz="1700"/>
          </a:p>
        </p:txBody>
      </p:sp>
      <p:pic>
        <p:nvPicPr>
          <p:cNvPr id="609" name="Google Shape;609;p81"/>
          <p:cNvPicPr preferRelativeResize="0"/>
          <p:nvPr/>
        </p:nvPicPr>
        <p:blipFill>
          <a:blip r:embed="rId3">
            <a:alphaModFix/>
          </a:blip>
          <a:stretch>
            <a:fillRect/>
          </a:stretch>
        </p:blipFill>
        <p:spPr>
          <a:xfrm>
            <a:off x="2506050" y="1647325"/>
            <a:ext cx="4438651" cy="830775"/>
          </a:xfrm>
          <a:prstGeom prst="rect">
            <a:avLst/>
          </a:prstGeom>
          <a:noFill/>
          <a:ln>
            <a:noFill/>
          </a:ln>
        </p:spPr>
      </p:pic>
      <p:pic>
        <p:nvPicPr>
          <p:cNvPr id="610" name="Google Shape;610;p81"/>
          <p:cNvPicPr preferRelativeResize="0"/>
          <p:nvPr/>
        </p:nvPicPr>
        <p:blipFill>
          <a:blip r:embed="rId4">
            <a:alphaModFix/>
          </a:blip>
          <a:stretch>
            <a:fillRect/>
          </a:stretch>
        </p:blipFill>
        <p:spPr>
          <a:xfrm>
            <a:off x="1165050" y="2560300"/>
            <a:ext cx="7207450" cy="2252325"/>
          </a:xfrm>
          <a:prstGeom prst="rect">
            <a:avLst/>
          </a:prstGeom>
          <a:noFill/>
          <a:ln>
            <a:noFill/>
          </a:ln>
        </p:spPr>
      </p:pic>
      <p:sp>
        <p:nvSpPr>
          <p:cNvPr id="611" name="Google Shape;611;p81"/>
          <p:cNvSpPr txBox="1"/>
          <p:nvPr/>
        </p:nvSpPr>
        <p:spPr>
          <a:xfrm>
            <a:off x="3856700" y="270575"/>
            <a:ext cx="25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lbert Sans"/>
                <a:ea typeface="Albert Sans"/>
                <a:cs typeface="Albert Sans"/>
                <a:sym typeface="Albert Sans"/>
              </a:rPr>
              <a:t>Prediction</a:t>
            </a:r>
            <a:endParaRPr sz="2400">
              <a:solidFill>
                <a:schemeClr val="dk1"/>
              </a:solidFill>
              <a:latin typeface="Albert Sans"/>
              <a:ea typeface="Albert Sans"/>
              <a:cs typeface="Albert Sans"/>
              <a:sym typeface="Albert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2"/>
          <p:cNvSpPr txBox="1"/>
          <p:nvPr>
            <p:ph idx="1" type="subTitle"/>
          </p:nvPr>
        </p:nvSpPr>
        <p:spPr>
          <a:xfrm>
            <a:off x="2923488" y="478350"/>
            <a:ext cx="32115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Evaluation metrics code </a:t>
            </a:r>
            <a:endParaRPr sz="2000"/>
          </a:p>
        </p:txBody>
      </p:sp>
      <p:pic>
        <p:nvPicPr>
          <p:cNvPr id="617" name="Google Shape;617;p82"/>
          <p:cNvPicPr preferRelativeResize="0"/>
          <p:nvPr/>
        </p:nvPicPr>
        <p:blipFill>
          <a:blip r:embed="rId3">
            <a:alphaModFix/>
          </a:blip>
          <a:stretch>
            <a:fillRect/>
          </a:stretch>
        </p:blipFill>
        <p:spPr>
          <a:xfrm>
            <a:off x="1548888" y="1245725"/>
            <a:ext cx="6046232" cy="35528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83"/>
          <p:cNvPicPr preferRelativeResize="0"/>
          <p:nvPr/>
        </p:nvPicPr>
        <p:blipFill rotWithShape="1">
          <a:blip r:embed="rId3">
            <a:alphaModFix/>
          </a:blip>
          <a:srcRect b="0" l="0" r="44413" t="88437"/>
          <a:stretch/>
        </p:blipFill>
        <p:spPr>
          <a:xfrm>
            <a:off x="862299" y="2878375"/>
            <a:ext cx="7925125" cy="1152225"/>
          </a:xfrm>
          <a:prstGeom prst="rect">
            <a:avLst/>
          </a:prstGeom>
          <a:noFill/>
          <a:ln>
            <a:noFill/>
          </a:ln>
        </p:spPr>
      </p:pic>
      <p:sp>
        <p:nvSpPr>
          <p:cNvPr id="623" name="Google Shape;623;p83"/>
          <p:cNvSpPr txBox="1"/>
          <p:nvPr>
            <p:ph idx="1" type="subTitle"/>
          </p:nvPr>
        </p:nvSpPr>
        <p:spPr>
          <a:xfrm>
            <a:off x="1661112" y="1351650"/>
            <a:ext cx="5708100" cy="1262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The Mean Absolute Error</a:t>
            </a:r>
            <a:endParaRPr sz="1700"/>
          </a:p>
          <a:p>
            <a:pPr indent="-336550" lvl="0" marL="457200" rtl="0" algn="l">
              <a:spcBef>
                <a:spcPts val="0"/>
              </a:spcBef>
              <a:spcAft>
                <a:spcPts val="0"/>
              </a:spcAft>
              <a:buSzPts val="1700"/>
              <a:buChar char="●"/>
            </a:pPr>
            <a:r>
              <a:rPr lang="en" sz="1700"/>
              <a:t>Root Mean Squared Error</a:t>
            </a:r>
            <a:endParaRPr sz="1700"/>
          </a:p>
          <a:p>
            <a:pPr indent="-342900" lvl="0" marL="457200" rtl="0" algn="l">
              <a:spcBef>
                <a:spcPts val="0"/>
              </a:spcBef>
              <a:spcAft>
                <a:spcPts val="0"/>
              </a:spcAft>
              <a:buClr>
                <a:srgbClr val="000000"/>
              </a:buClr>
              <a:buSzPts val="1800"/>
              <a:buChar char="●"/>
            </a:pPr>
            <a:r>
              <a:rPr lang="en" sz="1800">
                <a:solidFill>
                  <a:srgbClr val="000000"/>
                </a:solidFill>
              </a:rPr>
              <a:t>Coefficient of Determination (often just called R-squared)</a:t>
            </a:r>
            <a:endParaRPr sz="1800"/>
          </a:p>
        </p:txBody>
      </p:sp>
      <p:sp>
        <p:nvSpPr>
          <p:cNvPr id="624" name="Google Shape;624;p83"/>
          <p:cNvSpPr txBox="1"/>
          <p:nvPr/>
        </p:nvSpPr>
        <p:spPr>
          <a:xfrm>
            <a:off x="2867525" y="270700"/>
            <a:ext cx="3459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Albert Sans"/>
                <a:ea typeface="Albert Sans"/>
                <a:cs typeface="Albert Sans"/>
                <a:sym typeface="Albert Sans"/>
              </a:rPr>
              <a:t>Evaluation Metrics</a:t>
            </a:r>
            <a:endParaRPr sz="2000">
              <a:solidFill>
                <a:schemeClr val="dk1"/>
              </a:solidFill>
              <a:latin typeface="Albert Sans"/>
              <a:ea typeface="Albert Sans"/>
              <a:cs typeface="Albert Sans"/>
              <a:sym typeface="Albert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4"/>
          <p:cNvSpPr txBox="1"/>
          <p:nvPr>
            <p:ph idx="1" type="subTitle"/>
          </p:nvPr>
        </p:nvSpPr>
        <p:spPr>
          <a:xfrm>
            <a:off x="3195153" y="278825"/>
            <a:ext cx="3723000" cy="6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Accuracy of the model</a:t>
            </a:r>
            <a:endParaRPr sz="2200"/>
          </a:p>
        </p:txBody>
      </p:sp>
      <p:pic>
        <p:nvPicPr>
          <p:cNvPr id="630" name="Google Shape;630;p84"/>
          <p:cNvPicPr preferRelativeResize="0"/>
          <p:nvPr/>
        </p:nvPicPr>
        <p:blipFill rotWithShape="1">
          <a:blip r:embed="rId3">
            <a:alphaModFix/>
          </a:blip>
          <a:srcRect b="0" l="0" r="5926" t="0"/>
          <a:stretch/>
        </p:blipFill>
        <p:spPr>
          <a:xfrm>
            <a:off x="583538" y="981025"/>
            <a:ext cx="8315326" cy="1419050"/>
          </a:xfrm>
          <a:prstGeom prst="rect">
            <a:avLst/>
          </a:prstGeom>
          <a:noFill/>
          <a:ln>
            <a:noFill/>
          </a:ln>
        </p:spPr>
      </p:pic>
      <p:pic>
        <p:nvPicPr>
          <p:cNvPr id="631" name="Google Shape;631;p84"/>
          <p:cNvPicPr preferRelativeResize="0"/>
          <p:nvPr/>
        </p:nvPicPr>
        <p:blipFill rotWithShape="1">
          <a:blip r:embed="rId4">
            <a:alphaModFix/>
          </a:blip>
          <a:srcRect b="49538" l="0" r="2353" t="0"/>
          <a:stretch/>
        </p:blipFill>
        <p:spPr>
          <a:xfrm>
            <a:off x="145375" y="2556150"/>
            <a:ext cx="8853249" cy="22270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85"/>
          <p:cNvSpPr txBox="1"/>
          <p:nvPr>
            <p:ph type="title"/>
          </p:nvPr>
        </p:nvSpPr>
        <p:spPr>
          <a:xfrm>
            <a:off x="715100" y="2403300"/>
            <a:ext cx="7867500" cy="213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600"/>
              <a:t>Task 2 - #2 Model </a:t>
            </a:r>
            <a:endParaRPr sz="4600"/>
          </a:p>
          <a:p>
            <a:pPr indent="0" lvl="0" marL="0" rtl="0" algn="l">
              <a:spcBef>
                <a:spcPts val="0"/>
              </a:spcBef>
              <a:spcAft>
                <a:spcPts val="0"/>
              </a:spcAft>
              <a:buNone/>
            </a:pPr>
            <a:r>
              <a:rPr lang="en" sz="4600"/>
              <a:t>(GBT)</a:t>
            </a:r>
            <a:endParaRPr sz="4600"/>
          </a:p>
          <a:p>
            <a:pPr indent="0" lvl="0" marL="0" rtl="0" algn="l">
              <a:spcBef>
                <a:spcPts val="0"/>
              </a:spcBef>
              <a:spcAft>
                <a:spcPts val="0"/>
              </a:spcAft>
              <a:buNone/>
            </a:pPr>
            <a:r>
              <a:rPr lang="en" sz="3500"/>
              <a:t>Gradient-Boosted Tree Regression</a:t>
            </a:r>
            <a:endParaRPr sz="3500"/>
          </a:p>
        </p:txBody>
      </p:sp>
      <p:sp>
        <p:nvSpPr>
          <p:cNvPr id="637" name="Google Shape;637;p85"/>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03.7</a:t>
            </a:r>
            <a:endParaRPr/>
          </a:p>
        </p:txBody>
      </p:sp>
      <p:cxnSp>
        <p:nvCxnSpPr>
          <p:cNvPr id="638" name="Google Shape;638;p8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8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Gradient-Boosted Tree Regression</a:t>
            </a:r>
            <a:endParaRPr/>
          </a:p>
          <a:p>
            <a:pPr indent="0" lvl="0" marL="0" rtl="0" algn="l">
              <a:spcBef>
                <a:spcPts val="0"/>
              </a:spcBef>
              <a:spcAft>
                <a:spcPts val="0"/>
              </a:spcAft>
              <a:buNone/>
            </a:pPr>
            <a:r>
              <a:t/>
            </a:r>
            <a:endParaRPr/>
          </a:p>
        </p:txBody>
      </p:sp>
      <p:sp>
        <p:nvSpPr>
          <p:cNvPr id="644" name="Google Shape;644;p86"/>
          <p:cNvSpPr txBox="1"/>
          <p:nvPr>
            <p:ph idx="1" type="subTitle"/>
          </p:nvPr>
        </p:nvSpPr>
        <p:spPr>
          <a:xfrm>
            <a:off x="715105" y="1163680"/>
            <a:ext cx="8024100" cy="163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Work as sequentially training models</a:t>
            </a:r>
            <a:endParaRPr sz="1600"/>
          </a:p>
          <a:p>
            <a:pPr indent="-330200" lvl="0" marL="457200" rtl="0" algn="l">
              <a:spcBef>
                <a:spcPts val="0"/>
              </a:spcBef>
              <a:spcAft>
                <a:spcPts val="0"/>
              </a:spcAft>
              <a:buClr>
                <a:schemeClr val="lt2"/>
              </a:buClr>
              <a:buSzPts val="1600"/>
              <a:buChar char="■"/>
            </a:pPr>
            <a:r>
              <a:rPr lang="en" sz="1600"/>
              <a:t>Each new model is trained to minimize the loss function such as mean squared error of the previous models</a:t>
            </a:r>
            <a:endParaRPr sz="1600"/>
          </a:p>
          <a:p>
            <a:pPr indent="0" lvl="0" marL="0" rtl="0" algn="l">
              <a:lnSpc>
                <a:spcPct val="150000"/>
              </a:lnSpc>
              <a:spcBef>
                <a:spcPts val="0"/>
              </a:spcBef>
              <a:spcAft>
                <a:spcPts val="0"/>
              </a:spcAft>
              <a:buNone/>
            </a:pPr>
            <a:r>
              <a:t/>
            </a:r>
            <a:endParaRPr sz="1600"/>
          </a:p>
          <a:p>
            <a:pPr indent="0" lvl="0" marL="0" rtl="0" algn="l">
              <a:lnSpc>
                <a:spcPct val="150000"/>
              </a:lnSpc>
              <a:spcBef>
                <a:spcPts val="0"/>
              </a:spcBef>
              <a:spcAft>
                <a:spcPts val="0"/>
              </a:spcAft>
              <a:buNone/>
            </a:pPr>
            <a:r>
              <a:t/>
            </a:r>
            <a:endParaRPr sz="1600"/>
          </a:p>
        </p:txBody>
      </p:sp>
      <p:pic>
        <p:nvPicPr>
          <p:cNvPr id="645" name="Google Shape;645;p86"/>
          <p:cNvPicPr preferRelativeResize="0"/>
          <p:nvPr/>
        </p:nvPicPr>
        <p:blipFill>
          <a:blip r:embed="rId3">
            <a:alphaModFix/>
          </a:blip>
          <a:stretch>
            <a:fillRect/>
          </a:stretch>
        </p:blipFill>
        <p:spPr>
          <a:xfrm>
            <a:off x="2093136" y="2099125"/>
            <a:ext cx="5268025" cy="28773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GBT Fine Tuning</a:t>
            </a:r>
            <a:endParaRPr/>
          </a:p>
        </p:txBody>
      </p:sp>
      <p:graphicFrame>
        <p:nvGraphicFramePr>
          <p:cNvPr id="651" name="Google Shape;651;p87"/>
          <p:cNvGraphicFramePr/>
          <p:nvPr/>
        </p:nvGraphicFramePr>
        <p:xfrm>
          <a:off x="720050" y="1188725"/>
          <a:ext cx="3000000" cy="3000000"/>
        </p:xfrm>
        <a:graphic>
          <a:graphicData uri="http://schemas.openxmlformats.org/drawingml/2006/table">
            <a:tbl>
              <a:tblPr>
                <a:noFill/>
                <a:tableStyleId>{FC58B469-A7CC-4DD4-B106-2F5731AF3B14}</a:tableStyleId>
              </a:tblPr>
              <a:tblGrid>
                <a:gridCol w="2422775"/>
                <a:gridCol w="5281225"/>
              </a:tblGrid>
              <a:tr h="361525">
                <a:tc>
                  <a:txBody>
                    <a:bodyPr/>
                    <a:lstStyle/>
                    <a:p>
                      <a:pPr indent="0" lvl="0" marL="0" rtl="0" algn="l">
                        <a:spcBef>
                          <a:spcPts val="0"/>
                        </a:spcBef>
                        <a:spcAft>
                          <a:spcPts val="0"/>
                        </a:spcAft>
                        <a:buNone/>
                      </a:pPr>
                      <a:r>
                        <a:rPr b="1" lang="en" sz="1000" u="sng">
                          <a:solidFill>
                            <a:schemeClr val="dk1"/>
                          </a:solidFill>
                          <a:latin typeface="Albert Sans"/>
                          <a:ea typeface="Albert Sans"/>
                          <a:cs typeface="Albert Sans"/>
                          <a:sym typeface="Albert Sans"/>
                        </a:rPr>
                        <a:t>Learning rate</a:t>
                      </a:r>
                      <a:r>
                        <a:rPr lang="en" sz="1000">
                          <a:solidFill>
                            <a:schemeClr val="dk1"/>
                          </a:solidFill>
                          <a:latin typeface="Albert Sans"/>
                          <a:ea typeface="Albert Sans"/>
                          <a:cs typeface="Albert Sans"/>
                          <a:sym typeface="Albert Sans"/>
                        </a:rPr>
                        <a:t> (</a:t>
                      </a:r>
                      <a:r>
                        <a:rPr lang="en" sz="1000">
                          <a:solidFill>
                            <a:srgbClr val="188038"/>
                          </a:solidFill>
                          <a:latin typeface="Albert Sans"/>
                          <a:ea typeface="Albert Sans"/>
                          <a:cs typeface="Albert Sans"/>
                          <a:sym typeface="Albert Sans"/>
                        </a:rPr>
                        <a:t>stepSize</a:t>
                      </a:r>
                      <a:r>
                        <a:rPr lang="en" sz="1000">
                          <a:solidFill>
                            <a:schemeClr val="dk1"/>
                          </a:solidFill>
                          <a:latin typeface="Albert Sans"/>
                          <a:ea typeface="Albert Sans"/>
                          <a:cs typeface="Albert Sans"/>
                          <a:sym typeface="Albert Sans"/>
                        </a:rPr>
                        <a:t>)</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Scales the contribution of each tree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r:id="rId3"/>
                        </a:rPr>
                        <a:t>No.of</a:t>
                      </a:r>
                      <a:r>
                        <a:rPr b="1" lang="en" sz="1000" u="sng">
                          <a:solidFill>
                            <a:schemeClr val="dk1"/>
                          </a:solidFill>
                          <a:latin typeface="Albert Sans"/>
                          <a:ea typeface="Albert Sans"/>
                          <a:cs typeface="Albert Sans"/>
                          <a:sym typeface="Albert Sans"/>
                        </a:rPr>
                        <a:t> Tree</a:t>
                      </a:r>
                      <a:r>
                        <a:rPr lang="en" sz="1000">
                          <a:solidFill>
                            <a:schemeClr val="dk1"/>
                          </a:solidFill>
                          <a:latin typeface="Albert Sans"/>
                          <a:ea typeface="Albert Sans"/>
                          <a:cs typeface="Albert Sans"/>
                          <a:sym typeface="Albert Sans"/>
                        </a:rPr>
                        <a:t> (</a:t>
                      </a:r>
                      <a:r>
                        <a:rPr lang="en" sz="1000">
                          <a:solidFill>
                            <a:srgbClr val="188038"/>
                          </a:solidFill>
                          <a:latin typeface="Albert Sans"/>
                          <a:ea typeface="Albert Sans"/>
                          <a:cs typeface="Albert Sans"/>
                          <a:sym typeface="Albert Sans"/>
                        </a:rPr>
                        <a:t>maxIter</a:t>
                      </a:r>
                      <a:r>
                        <a:rPr lang="en" sz="1000">
                          <a:solidFill>
                            <a:schemeClr val="dk1"/>
                          </a:solidFill>
                          <a:latin typeface="Albert Sans"/>
                          <a:ea typeface="Albert Sans"/>
                          <a:cs typeface="Albert Sans"/>
                          <a:sym typeface="Albert Sans"/>
                        </a:rPr>
                        <a:t>)</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lbert Sans"/>
                          <a:ea typeface="Albert Sans"/>
                          <a:cs typeface="Albert Sans"/>
                          <a:sym typeface="Albert Sans"/>
                        </a:rPr>
                        <a:t>Controls the no.of tree to build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dk1"/>
                          </a:solidFill>
                          <a:latin typeface="Albert Sans"/>
                          <a:ea typeface="Albert Sans"/>
                          <a:cs typeface="Albert Sans"/>
                          <a:sym typeface="Albert Sans"/>
                        </a:rPr>
                        <a:t>Max Depth</a:t>
                      </a:r>
                      <a:r>
                        <a:rPr lang="en" sz="1000">
                          <a:solidFill>
                            <a:schemeClr val="dk1"/>
                          </a:solidFill>
                          <a:latin typeface="Albert Sans"/>
                          <a:ea typeface="Albert Sans"/>
                          <a:cs typeface="Albert Sans"/>
                          <a:sym typeface="Albert Sans"/>
                        </a:rPr>
                        <a:t> (</a:t>
                      </a:r>
                      <a:r>
                        <a:rPr lang="en" sz="1000">
                          <a:solidFill>
                            <a:srgbClr val="188038"/>
                          </a:solidFill>
                          <a:latin typeface="Albert Sans"/>
                          <a:ea typeface="Albert Sans"/>
                          <a:cs typeface="Albert Sans"/>
                          <a:sym typeface="Albert Sans"/>
                        </a:rPr>
                        <a:t>maxDepth</a:t>
                      </a:r>
                      <a:r>
                        <a:rPr lang="en" sz="1000">
                          <a:solidFill>
                            <a:schemeClr val="dk1"/>
                          </a:solidFill>
                          <a:latin typeface="Albert Sans"/>
                          <a:ea typeface="Albert Sans"/>
                          <a:cs typeface="Albert Sans"/>
                          <a:sym typeface="Albert Sans"/>
                        </a:rPr>
                        <a:t>)</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Control the no.of levels in each decision tree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dk1"/>
                          </a:solidFill>
                          <a:latin typeface="Albert Sans"/>
                          <a:ea typeface="Albert Sans"/>
                          <a:cs typeface="Albert Sans"/>
                          <a:sym typeface="Albert Sans"/>
                        </a:rPr>
                        <a:t>Subsampling Rate</a:t>
                      </a:r>
                      <a:r>
                        <a:rPr lang="en" sz="1000">
                          <a:solidFill>
                            <a:schemeClr val="dk1"/>
                          </a:solidFill>
                          <a:latin typeface="Albert Sans"/>
                          <a:ea typeface="Albert Sans"/>
                          <a:cs typeface="Albert Sans"/>
                          <a:sym typeface="Albert Sans"/>
                        </a:rPr>
                        <a:t> (</a:t>
                      </a:r>
                      <a:r>
                        <a:rPr lang="en" sz="1000">
                          <a:solidFill>
                            <a:srgbClr val="188038"/>
                          </a:solidFill>
                          <a:latin typeface="Albert Sans"/>
                          <a:ea typeface="Albert Sans"/>
                          <a:cs typeface="Albert Sans"/>
                          <a:sym typeface="Albert Sans"/>
                        </a:rPr>
                        <a:t>subsamplingRate</a:t>
                      </a:r>
                      <a:r>
                        <a:rPr lang="en" sz="1000">
                          <a:solidFill>
                            <a:schemeClr val="dk1"/>
                          </a:solidFill>
                          <a:latin typeface="Albert Sans"/>
                          <a:ea typeface="Albert Sans"/>
                          <a:cs typeface="Albert Sans"/>
                          <a:sym typeface="Albert Sans"/>
                        </a:rPr>
                        <a:t>)</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Controls the proportion of the data used to train each tree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dk1"/>
                          </a:solidFill>
                          <a:latin typeface="Albert Sans"/>
                          <a:ea typeface="Albert Sans"/>
                          <a:cs typeface="Albert Sans"/>
                          <a:sym typeface="Albert Sans"/>
                        </a:rPr>
                        <a:t>Random Seed Values</a:t>
                      </a:r>
                      <a:r>
                        <a:rPr lang="en" sz="1000">
                          <a:solidFill>
                            <a:schemeClr val="dk1"/>
                          </a:solidFill>
                          <a:latin typeface="Albert Sans"/>
                          <a:ea typeface="Albert Sans"/>
                          <a:cs typeface="Albert Sans"/>
                          <a:sym typeface="Albert Sans"/>
                        </a:rPr>
                        <a:t> (</a:t>
                      </a:r>
                      <a:r>
                        <a:rPr lang="en" sz="1000">
                          <a:solidFill>
                            <a:srgbClr val="188038"/>
                          </a:solidFill>
                          <a:latin typeface="Albert Sans"/>
                          <a:ea typeface="Albert Sans"/>
                          <a:cs typeface="Albert Sans"/>
                          <a:sym typeface="Albert Sans"/>
                        </a:rPr>
                        <a:t>seed</a:t>
                      </a:r>
                      <a:r>
                        <a:rPr lang="en" sz="1000">
                          <a:solidFill>
                            <a:schemeClr val="dk1"/>
                          </a:solidFill>
                          <a:latin typeface="Albert Sans"/>
                          <a:ea typeface="Albert Sans"/>
                          <a:cs typeface="Albert Sans"/>
                          <a:sym typeface="Albert Sans"/>
                        </a:rPr>
                        <a:t>)</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Ensures that the model’s training process to produce the same result for each execution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652" name="Google Shape;652;p87"/>
          <p:cNvPicPr preferRelativeResize="0"/>
          <p:nvPr/>
        </p:nvPicPr>
        <p:blipFill>
          <a:blip r:embed="rId4">
            <a:alphaModFix/>
          </a:blip>
          <a:stretch>
            <a:fillRect/>
          </a:stretch>
        </p:blipFill>
        <p:spPr>
          <a:xfrm>
            <a:off x="2463438" y="3101375"/>
            <a:ext cx="4217123" cy="1842350"/>
          </a:xfrm>
          <a:prstGeom prst="rect">
            <a:avLst/>
          </a:prstGeom>
          <a:noFill/>
          <a:ln>
            <a:noFill/>
          </a:ln>
        </p:spPr>
      </p:pic>
      <p:sp>
        <p:nvSpPr>
          <p:cNvPr id="653" name="Google Shape;653;p87"/>
          <p:cNvSpPr/>
          <p:nvPr/>
        </p:nvSpPr>
        <p:spPr>
          <a:xfrm>
            <a:off x="2463450" y="4524550"/>
            <a:ext cx="4217100" cy="19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88"/>
          <p:cNvSpPr txBox="1"/>
          <p:nvPr>
            <p:ph type="title"/>
          </p:nvPr>
        </p:nvSpPr>
        <p:spPr>
          <a:xfrm>
            <a:off x="322875" y="501375"/>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GBT Model Training</a:t>
            </a:r>
            <a:endParaRPr/>
          </a:p>
        </p:txBody>
      </p:sp>
      <p:pic>
        <p:nvPicPr>
          <p:cNvPr id="659" name="Google Shape;659;p88"/>
          <p:cNvPicPr preferRelativeResize="0"/>
          <p:nvPr/>
        </p:nvPicPr>
        <p:blipFill>
          <a:blip r:embed="rId3">
            <a:alphaModFix/>
          </a:blip>
          <a:stretch>
            <a:fillRect/>
          </a:stretch>
        </p:blipFill>
        <p:spPr>
          <a:xfrm>
            <a:off x="4491688" y="1868725"/>
            <a:ext cx="4217123" cy="1842350"/>
          </a:xfrm>
          <a:prstGeom prst="rect">
            <a:avLst/>
          </a:prstGeom>
          <a:noFill/>
          <a:ln>
            <a:noFill/>
          </a:ln>
        </p:spPr>
      </p:pic>
      <p:sp>
        <p:nvSpPr>
          <p:cNvPr id="660" name="Google Shape;660;p88"/>
          <p:cNvSpPr/>
          <p:nvPr/>
        </p:nvSpPr>
        <p:spPr>
          <a:xfrm>
            <a:off x="4491700" y="3291900"/>
            <a:ext cx="4217100" cy="19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pic>
        <p:nvPicPr>
          <p:cNvPr id="661" name="Google Shape;661;p88"/>
          <p:cNvPicPr preferRelativeResize="0"/>
          <p:nvPr/>
        </p:nvPicPr>
        <p:blipFill>
          <a:blip r:embed="rId4">
            <a:alphaModFix/>
          </a:blip>
          <a:stretch>
            <a:fillRect/>
          </a:stretch>
        </p:blipFill>
        <p:spPr>
          <a:xfrm>
            <a:off x="322875" y="1625560"/>
            <a:ext cx="4076600" cy="1924100"/>
          </a:xfrm>
          <a:prstGeom prst="rect">
            <a:avLst/>
          </a:prstGeom>
          <a:noFill/>
          <a:ln>
            <a:noFill/>
          </a:ln>
        </p:spPr>
      </p:pic>
      <p:pic>
        <p:nvPicPr>
          <p:cNvPr id="662" name="Google Shape;662;p88"/>
          <p:cNvPicPr preferRelativeResize="0"/>
          <p:nvPr/>
        </p:nvPicPr>
        <p:blipFill>
          <a:blip r:embed="rId5">
            <a:alphaModFix/>
          </a:blip>
          <a:stretch>
            <a:fillRect/>
          </a:stretch>
        </p:blipFill>
        <p:spPr>
          <a:xfrm>
            <a:off x="322875" y="3676910"/>
            <a:ext cx="3076575" cy="457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6" name="Shape 666"/>
        <p:cNvGrpSpPr/>
        <p:nvPr/>
      </p:nvGrpSpPr>
      <p:grpSpPr>
        <a:xfrm>
          <a:off x="0" y="0"/>
          <a:ext cx="0" cy="0"/>
          <a:chOff x="0" y="0"/>
          <a:chExt cx="0" cy="0"/>
        </a:xfrm>
      </p:grpSpPr>
      <p:sp>
        <p:nvSpPr>
          <p:cNvPr id="667" name="Google Shape;667;p89"/>
          <p:cNvSpPr txBox="1"/>
          <p:nvPr>
            <p:ph type="title"/>
          </p:nvPr>
        </p:nvSpPr>
        <p:spPr>
          <a:xfrm>
            <a:off x="322875" y="501375"/>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GBT Model Training</a:t>
            </a:r>
            <a:endParaRPr/>
          </a:p>
        </p:txBody>
      </p:sp>
      <p:pic>
        <p:nvPicPr>
          <p:cNvPr id="668" name="Google Shape;668;p89"/>
          <p:cNvPicPr preferRelativeResize="0"/>
          <p:nvPr/>
        </p:nvPicPr>
        <p:blipFill>
          <a:blip r:embed="rId3">
            <a:alphaModFix/>
          </a:blip>
          <a:stretch>
            <a:fillRect/>
          </a:stretch>
        </p:blipFill>
        <p:spPr>
          <a:xfrm>
            <a:off x="755575" y="1359350"/>
            <a:ext cx="6848475" cy="30384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0"/>
          <p:cNvSpPr txBox="1"/>
          <p:nvPr>
            <p:ph type="title"/>
          </p:nvPr>
        </p:nvSpPr>
        <p:spPr>
          <a:xfrm>
            <a:off x="715100" y="2343150"/>
            <a:ext cx="7708800" cy="213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600"/>
              <a:t>Task 2 - #3 Model</a:t>
            </a:r>
            <a:endParaRPr sz="4600"/>
          </a:p>
          <a:p>
            <a:pPr indent="0" lvl="0" marL="0" rtl="0" algn="l">
              <a:spcBef>
                <a:spcPts val="0"/>
              </a:spcBef>
              <a:spcAft>
                <a:spcPts val="0"/>
              </a:spcAft>
              <a:buNone/>
            </a:pPr>
            <a:r>
              <a:rPr lang="en" sz="4600"/>
              <a:t>(MLR)</a:t>
            </a:r>
            <a:endParaRPr sz="4600"/>
          </a:p>
          <a:p>
            <a:pPr indent="0" lvl="0" marL="0" rtl="0" algn="l">
              <a:spcBef>
                <a:spcPts val="0"/>
              </a:spcBef>
              <a:spcAft>
                <a:spcPts val="0"/>
              </a:spcAft>
              <a:buNone/>
            </a:pPr>
            <a:r>
              <a:rPr lang="en" sz="3500"/>
              <a:t>Multiple Linear Regression</a:t>
            </a:r>
            <a:endParaRPr sz="3500"/>
          </a:p>
        </p:txBody>
      </p:sp>
      <p:sp>
        <p:nvSpPr>
          <p:cNvPr id="674" name="Google Shape;674;p90"/>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03.8</a:t>
            </a:r>
            <a:endParaRPr/>
          </a:p>
        </p:txBody>
      </p:sp>
      <p:cxnSp>
        <p:nvCxnSpPr>
          <p:cNvPr id="675" name="Google Shape;675;p90">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91"/>
          <p:cNvSpPr txBox="1"/>
          <p:nvPr>
            <p:ph type="title"/>
          </p:nvPr>
        </p:nvSpPr>
        <p:spPr>
          <a:xfrm>
            <a:off x="1210625" y="1629775"/>
            <a:ext cx="7110300" cy="125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Linear regression models the relationship between a dependent variable and a </a:t>
            </a:r>
            <a:r>
              <a:rPr b="1" lang="en" sz="1600">
                <a:latin typeface="Alexandria"/>
                <a:ea typeface="Alexandria"/>
                <a:cs typeface="Alexandria"/>
                <a:sym typeface="Alexandria"/>
              </a:rPr>
              <a:t>single</a:t>
            </a:r>
            <a:r>
              <a:rPr lang="en" sz="1600"/>
              <a:t> independent variable by fitting a linear equation to the data.</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rPr lang="en" sz="1600"/>
              <a:t> Multiple Linear Regression models the relationship between a dependent variable and </a:t>
            </a:r>
            <a:r>
              <a:rPr b="1" lang="en" sz="1600">
                <a:latin typeface="Alexandria"/>
                <a:ea typeface="Alexandria"/>
                <a:cs typeface="Alexandria"/>
                <a:sym typeface="Alexandria"/>
              </a:rPr>
              <a:t>two or more</a:t>
            </a:r>
            <a:r>
              <a:rPr lang="en" sz="1600"/>
              <a:t> independent variables. </a:t>
            </a:r>
            <a:endParaRPr sz="1600"/>
          </a:p>
          <a:p>
            <a:pPr indent="0" lvl="0" marL="0" rtl="0" algn="ctr">
              <a:spcBef>
                <a:spcPts val="0"/>
              </a:spcBef>
              <a:spcAft>
                <a:spcPts val="0"/>
              </a:spcAft>
              <a:buNone/>
            </a:pPr>
            <a:r>
              <a:t/>
            </a:r>
            <a:endParaRPr/>
          </a:p>
          <a:p>
            <a:pPr indent="0" lvl="0" marL="0" rtl="0" algn="l">
              <a:spcBef>
                <a:spcPts val="0"/>
              </a:spcBef>
              <a:spcAft>
                <a:spcPts val="0"/>
              </a:spcAft>
              <a:buNone/>
            </a:pPr>
            <a:r>
              <a:t/>
            </a:r>
            <a:endParaRPr sz="600"/>
          </a:p>
        </p:txBody>
      </p:sp>
      <p:sp>
        <p:nvSpPr>
          <p:cNvPr id="681" name="Google Shape;681;p91"/>
          <p:cNvSpPr txBox="1"/>
          <p:nvPr/>
        </p:nvSpPr>
        <p:spPr>
          <a:xfrm>
            <a:off x="2352275" y="511275"/>
            <a:ext cx="4827000" cy="6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chemeClr val="dk1"/>
                </a:solidFill>
                <a:latin typeface="Albert Sans"/>
                <a:ea typeface="Albert Sans"/>
                <a:cs typeface="Albert Sans"/>
                <a:sym typeface="Albert Sans"/>
              </a:rPr>
              <a:t>WHAT IS THE DIFFERENCE? </a:t>
            </a:r>
            <a:endParaRPr sz="2600">
              <a:solidFill>
                <a:schemeClr val="dk1"/>
              </a:solidFill>
              <a:latin typeface="Albert Sans"/>
              <a:ea typeface="Albert Sans"/>
              <a:cs typeface="Albert Sans"/>
              <a:sym typeface="Albert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92"/>
          <p:cNvSpPr txBox="1"/>
          <p:nvPr>
            <p:ph idx="1" type="subTitle"/>
          </p:nvPr>
        </p:nvSpPr>
        <p:spPr>
          <a:xfrm>
            <a:off x="4590275" y="51675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Why choose multiple linear regression?</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a:t>
            </a:r>
            <a:r>
              <a:rPr lang="en"/>
              <a:t> </a:t>
            </a:r>
            <a:r>
              <a:rPr b="1" lang="en"/>
              <a:t>effectively</a:t>
            </a:r>
            <a:r>
              <a:rPr lang="en"/>
              <a:t> captures how several factors together influence a target variable which helps in providing a practical approach for predictive modeling in real-world scenarios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our case, it enables us to interpret and regularise the linear form to let us quantify the </a:t>
            </a:r>
            <a:r>
              <a:rPr b="1" lang="en"/>
              <a:t>predictor variables</a:t>
            </a:r>
            <a:r>
              <a:rPr lang="en"/>
              <a:t> ( bedrooms, bathrooms, square-feet, amenities, price_type etc.) , while giving a fast, reproducible baseline to compare with tree models.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87" name="Google Shape;687;p92"/>
          <p:cNvPicPr preferRelativeResize="0"/>
          <p:nvPr/>
        </p:nvPicPr>
        <p:blipFill>
          <a:blip r:embed="rId3">
            <a:alphaModFix/>
          </a:blip>
          <a:stretch>
            <a:fillRect/>
          </a:stretch>
        </p:blipFill>
        <p:spPr>
          <a:xfrm>
            <a:off x="341100" y="703098"/>
            <a:ext cx="3724151" cy="35334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93"/>
          <p:cNvSpPr txBox="1"/>
          <p:nvPr>
            <p:ph type="title"/>
          </p:nvPr>
        </p:nvSpPr>
        <p:spPr>
          <a:xfrm>
            <a:off x="270725" y="-31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MLR Fine Tuning</a:t>
            </a:r>
            <a:r>
              <a:rPr lang="en" sz="7500"/>
              <a:t> </a:t>
            </a:r>
            <a:endParaRPr sz="1900"/>
          </a:p>
        </p:txBody>
      </p:sp>
      <p:graphicFrame>
        <p:nvGraphicFramePr>
          <p:cNvPr id="693" name="Google Shape;693;p93"/>
          <p:cNvGraphicFramePr/>
          <p:nvPr/>
        </p:nvGraphicFramePr>
        <p:xfrm>
          <a:off x="740525" y="935650"/>
          <a:ext cx="3000000" cy="3000000"/>
        </p:xfrm>
        <a:graphic>
          <a:graphicData uri="http://schemas.openxmlformats.org/drawingml/2006/table">
            <a:tbl>
              <a:tblPr>
                <a:noFill/>
                <a:tableStyleId>{FC58B469-A7CC-4DD4-B106-2F5731AF3B14}</a:tableStyleId>
              </a:tblPr>
              <a:tblGrid>
                <a:gridCol w="3619500"/>
                <a:gridCol w="3619500"/>
              </a:tblGrid>
              <a:tr h="381000">
                <a:tc>
                  <a:txBody>
                    <a:bodyPr/>
                    <a:lstStyle/>
                    <a:p>
                      <a:pPr indent="0" lvl="0" marL="0" rtl="0" algn="l">
                        <a:spcBef>
                          <a:spcPts val="0"/>
                        </a:spcBef>
                        <a:spcAft>
                          <a:spcPts val="0"/>
                        </a:spcAft>
                        <a:buNone/>
                      </a:pPr>
                      <a:r>
                        <a:rPr lang="en" sz="1100" u="sng"/>
                        <a:t>Elastic Net mix </a:t>
                      </a:r>
                      <a:r>
                        <a:rPr lang="en" sz="1100"/>
                        <a:t>(</a:t>
                      </a:r>
                      <a:r>
                        <a:rPr lang="en" sz="1100">
                          <a:solidFill>
                            <a:srgbClr val="188038"/>
                          </a:solidFill>
                          <a:latin typeface="Roboto Mono"/>
                          <a:ea typeface="Roboto Mono"/>
                          <a:cs typeface="Roboto Mono"/>
                          <a:sym typeface="Roboto Mono"/>
                        </a:rPr>
                        <a:t>elasticNetParam</a:t>
                      </a:r>
                      <a:r>
                        <a:rPr lang="en" sz="1100"/>
                        <a:t>) </a:t>
                      </a:r>
                      <a:endParaRPr/>
                    </a:p>
                  </a:txBody>
                  <a:tcPr marT="91425" marB="91425" marR="91425" marL="91425"/>
                </a:tc>
                <a:tc>
                  <a:txBody>
                    <a:bodyPr/>
                    <a:lstStyle/>
                    <a:p>
                      <a:pPr indent="0" lvl="0" marL="0" rtl="0" algn="l">
                        <a:spcBef>
                          <a:spcPts val="0"/>
                        </a:spcBef>
                        <a:spcAft>
                          <a:spcPts val="0"/>
                        </a:spcAft>
                        <a:buNone/>
                      </a:pPr>
                      <a:r>
                        <a:rPr lang="en" sz="1300"/>
                        <a:t>How much </a:t>
                      </a:r>
                      <a:r>
                        <a:rPr b="1" lang="en" sz="1300"/>
                        <a:t>L1 vs L2</a:t>
                      </a:r>
                      <a:r>
                        <a:rPr lang="en" sz="1300"/>
                        <a:t> regularization to use</a:t>
                      </a:r>
                      <a:endParaRPr sz="1600"/>
                    </a:p>
                  </a:txBody>
                  <a:tcPr marT="91425" marB="91425" marR="91425" marL="91425"/>
                </a:tc>
              </a:tr>
              <a:tr h="381000">
                <a:tc>
                  <a:txBody>
                    <a:bodyPr/>
                    <a:lstStyle/>
                    <a:p>
                      <a:pPr indent="0" lvl="0" marL="0" rtl="0" algn="l">
                        <a:spcBef>
                          <a:spcPts val="0"/>
                        </a:spcBef>
                        <a:spcAft>
                          <a:spcPts val="0"/>
                        </a:spcAft>
                        <a:buNone/>
                      </a:pPr>
                      <a:r>
                        <a:rPr lang="en" sz="1100" u="sng"/>
                        <a:t>Max iterations</a:t>
                      </a:r>
                      <a:r>
                        <a:rPr lang="en" sz="1100"/>
                        <a:t> (</a:t>
                      </a:r>
                      <a:r>
                        <a:rPr lang="en" sz="1100">
                          <a:solidFill>
                            <a:srgbClr val="188038"/>
                          </a:solidFill>
                          <a:latin typeface="Roboto Mono"/>
                          <a:ea typeface="Roboto Mono"/>
                          <a:cs typeface="Roboto Mono"/>
                          <a:sym typeface="Roboto Mono"/>
                        </a:rPr>
                        <a:t>maxIter</a:t>
                      </a:r>
                      <a:r>
                        <a:rPr lang="en" sz="1100"/>
                        <a:t>)</a:t>
                      </a:r>
                      <a:endParaRPr/>
                    </a:p>
                  </a:txBody>
                  <a:tcPr marT="91425" marB="91425" marR="91425" marL="91425"/>
                </a:tc>
                <a:tc>
                  <a:txBody>
                    <a:bodyPr/>
                    <a:lstStyle/>
                    <a:p>
                      <a:pPr indent="0" lvl="0" marL="0" rtl="0" algn="l">
                        <a:spcBef>
                          <a:spcPts val="0"/>
                        </a:spcBef>
                        <a:spcAft>
                          <a:spcPts val="0"/>
                        </a:spcAft>
                        <a:buNone/>
                      </a:pPr>
                      <a:r>
                        <a:rPr lang="en"/>
                        <a:t>Maximum Optimizer steps </a:t>
                      </a:r>
                      <a:endParaRPr/>
                    </a:p>
                  </a:txBody>
                  <a:tcPr marT="91425" marB="91425" marR="91425" marL="91425"/>
                </a:tc>
              </a:tr>
              <a:tr h="381000">
                <a:tc>
                  <a:txBody>
                    <a:bodyPr/>
                    <a:lstStyle/>
                    <a:p>
                      <a:pPr indent="0" lvl="0" marL="0" rtl="0" algn="l">
                        <a:spcBef>
                          <a:spcPts val="0"/>
                        </a:spcBef>
                        <a:spcAft>
                          <a:spcPts val="0"/>
                        </a:spcAft>
                        <a:buNone/>
                      </a:pPr>
                      <a:r>
                        <a:rPr lang="en" sz="1100" u="sng"/>
                        <a:t>Aggregation depth</a:t>
                      </a:r>
                      <a:r>
                        <a:rPr lang="en" sz="1100"/>
                        <a:t> (</a:t>
                      </a:r>
                      <a:r>
                        <a:rPr lang="en" sz="1100">
                          <a:solidFill>
                            <a:srgbClr val="188038"/>
                          </a:solidFill>
                          <a:latin typeface="Roboto Mono"/>
                          <a:ea typeface="Roboto Mono"/>
                          <a:cs typeface="Roboto Mono"/>
                          <a:sym typeface="Roboto Mono"/>
                        </a:rPr>
                        <a:t>aggregationDepth</a:t>
                      </a:r>
                      <a:r>
                        <a:rPr lang="en" sz="1100"/>
                        <a:t>)</a:t>
                      </a:r>
                      <a:endParaRPr/>
                    </a:p>
                  </a:txBody>
                  <a:tcPr marT="91425" marB="91425" marR="91425" marL="91425"/>
                </a:tc>
                <a:tc>
                  <a:txBody>
                    <a:bodyPr/>
                    <a:lstStyle/>
                    <a:p>
                      <a:pPr indent="0" lvl="0" marL="0" rtl="0" algn="l">
                        <a:spcBef>
                          <a:spcPts val="0"/>
                        </a:spcBef>
                        <a:spcAft>
                          <a:spcPts val="0"/>
                        </a:spcAft>
                        <a:buNone/>
                      </a:pPr>
                      <a:r>
                        <a:rPr lang="en"/>
                        <a:t>Tree depth for distributed aggregations</a:t>
                      </a:r>
                      <a:endParaRPr/>
                    </a:p>
                  </a:txBody>
                  <a:tcPr marT="91425" marB="91425" marR="91425" marL="91425"/>
                </a:tc>
              </a:tr>
              <a:tr h="381000">
                <a:tc>
                  <a:txBody>
                    <a:bodyPr/>
                    <a:lstStyle/>
                    <a:p>
                      <a:pPr indent="0" lvl="0" marL="0" rtl="0" algn="l">
                        <a:spcBef>
                          <a:spcPts val="0"/>
                        </a:spcBef>
                        <a:spcAft>
                          <a:spcPts val="0"/>
                        </a:spcAft>
                        <a:buNone/>
                      </a:pPr>
                      <a:r>
                        <a:rPr lang="en" sz="1100" u="sng"/>
                        <a:t>Regularization strength</a:t>
                      </a:r>
                      <a:r>
                        <a:rPr lang="en" sz="1100"/>
                        <a:t> (</a:t>
                      </a:r>
                      <a:r>
                        <a:rPr lang="en" sz="1100">
                          <a:solidFill>
                            <a:srgbClr val="188038"/>
                          </a:solidFill>
                          <a:latin typeface="Roboto Mono"/>
                          <a:ea typeface="Roboto Mono"/>
                          <a:cs typeface="Roboto Mono"/>
                          <a:sym typeface="Roboto Mono"/>
                        </a:rPr>
                        <a:t>regParam</a:t>
                      </a:r>
                      <a:r>
                        <a:rPr lang="en" sz="1100"/>
                        <a:t>)</a:t>
                      </a:r>
                      <a:endParaRPr/>
                    </a:p>
                  </a:txBody>
                  <a:tcPr marT="91425" marB="91425" marR="91425" marL="91425"/>
                </a:tc>
                <a:tc>
                  <a:txBody>
                    <a:bodyPr/>
                    <a:lstStyle/>
                    <a:p>
                      <a:pPr indent="0" lvl="0" marL="0" rtl="0" algn="l">
                        <a:spcBef>
                          <a:spcPts val="0"/>
                        </a:spcBef>
                        <a:spcAft>
                          <a:spcPts val="0"/>
                        </a:spcAft>
                        <a:buNone/>
                      </a:pPr>
                      <a:r>
                        <a:rPr lang="en" sz="1300"/>
                        <a:t>Overall </a:t>
                      </a:r>
                      <a:r>
                        <a:rPr b="1" lang="en" sz="1300"/>
                        <a:t>penalty size</a:t>
                      </a:r>
                      <a:r>
                        <a:rPr lang="en" sz="1300"/>
                        <a:t> λ applied to coefficients</a:t>
                      </a:r>
                      <a:endParaRPr sz="1600"/>
                    </a:p>
                  </a:txBody>
                  <a:tcPr marT="91425" marB="91425" marR="91425" marL="91425"/>
                </a:tc>
              </a:tr>
            </a:tbl>
          </a:graphicData>
        </a:graphic>
      </p:graphicFrame>
      <p:pic>
        <p:nvPicPr>
          <p:cNvPr id="694" name="Google Shape;694;p93"/>
          <p:cNvPicPr preferRelativeResize="0"/>
          <p:nvPr/>
        </p:nvPicPr>
        <p:blipFill>
          <a:blip r:embed="rId3">
            <a:alphaModFix/>
          </a:blip>
          <a:stretch>
            <a:fillRect/>
          </a:stretch>
        </p:blipFill>
        <p:spPr>
          <a:xfrm>
            <a:off x="2907700" y="2804375"/>
            <a:ext cx="2904648" cy="196149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4"/>
          <p:cNvSpPr txBox="1"/>
          <p:nvPr>
            <p:ph type="title"/>
          </p:nvPr>
        </p:nvSpPr>
        <p:spPr>
          <a:xfrm>
            <a:off x="325525" y="40020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MLR Model Training </a:t>
            </a:r>
            <a:endParaRPr sz="2400"/>
          </a:p>
        </p:txBody>
      </p:sp>
      <p:sp>
        <p:nvSpPr>
          <p:cNvPr id="700" name="Google Shape;700;p94"/>
          <p:cNvSpPr txBox="1"/>
          <p:nvPr/>
        </p:nvSpPr>
        <p:spPr>
          <a:xfrm>
            <a:off x="675650" y="1546100"/>
            <a:ext cx="4181700" cy="30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pic>
        <p:nvPicPr>
          <p:cNvPr id="701" name="Google Shape;701;p94"/>
          <p:cNvPicPr preferRelativeResize="0"/>
          <p:nvPr/>
        </p:nvPicPr>
        <p:blipFill>
          <a:blip r:embed="rId3">
            <a:alphaModFix/>
          </a:blip>
          <a:stretch>
            <a:fillRect/>
          </a:stretch>
        </p:blipFill>
        <p:spPr>
          <a:xfrm>
            <a:off x="325525" y="1284375"/>
            <a:ext cx="3981851" cy="1870628"/>
          </a:xfrm>
          <a:prstGeom prst="rect">
            <a:avLst/>
          </a:prstGeom>
          <a:noFill/>
          <a:ln>
            <a:noFill/>
          </a:ln>
        </p:spPr>
      </p:pic>
      <p:pic>
        <p:nvPicPr>
          <p:cNvPr id="702" name="Google Shape;702;p94"/>
          <p:cNvPicPr preferRelativeResize="0"/>
          <p:nvPr/>
        </p:nvPicPr>
        <p:blipFill>
          <a:blip r:embed="rId4">
            <a:alphaModFix/>
          </a:blip>
          <a:stretch>
            <a:fillRect/>
          </a:stretch>
        </p:blipFill>
        <p:spPr>
          <a:xfrm>
            <a:off x="305523" y="3433075"/>
            <a:ext cx="4021850" cy="608625"/>
          </a:xfrm>
          <a:prstGeom prst="rect">
            <a:avLst/>
          </a:prstGeom>
          <a:noFill/>
          <a:ln>
            <a:noFill/>
          </a:ln>
        </p:spPr>
      </p:pic>
      <p:pic>
        <p:nvPicPr>
          <p:cNvPr id="703" name="Google Shape;703;p94"/>
          <p:cNvPicPr preferRelativeResize="0"/>
          <p:nvPr/>
        </p:nvPicPr>
        <p:blipFill>
          <a:blip r:embed="rId5">
            <a:alphaModFix/>
          </a:blip>
          <a:stretch>
            <a:fillRect/>
          </a:stretch>
        </p:blipFill>
        <p:spPr>
          <a:xfrm>
            <a:off x="4924550" y="1284375"/>
            <a:ext cx="3981850" cy="2674764"/>
          </a:xfrm>
          <a:prstGeom prst="rect">
            <a:avLst/>
          </a:prstGeom>
          <a:noFill/>
          <a:ln>
            <a:noFill/>
          </a:ln>
        </p:spPr>
      </p:pic>
      <p:sp>
        <p:nvSpPr>
          <p:cNvPr id="704" name="Google Shape;704;p94"/>
          <p:cNvSpPr/>
          <p:nvPr/>
        </p:nvSpPr>
        <p:spPr>
          <a:xfrm>
            <a:off x="4924550" y="1502550"/>
            <a:ext cx="3981900" cy="19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5"/>
          <p:cNvSpPr txBox="1"/>
          <p:nvPr>
            <p:ph type="title"/>
          </p:nvPr>
        </p:nvSpPr>
        <p:spPr>
          <a:xfrm>
            <a:off x="355975" y="205425"/>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MLR Model Training </a:t>
            </a:r>
            <a:endParaRPr/>
          </a:p>
        </p:txBody>
      </p:sp>
      <p:pic>
        <p:nvPicPr>
          <p:cNvPr id="710" name="Google Shape;710;p95"/>
          <p:cNvPicPr preferRelativeResize="0"/>
          <p:nvPr/>
        </p:nvPicPr>
        <p:blipFill>
          <a:blip r:embed="rId3">
            <a:alphaModFix/>
          </a:blip>
          <a:stretch>
            <a:fillRect/>
          </a:stretch>
        </p:blipFill>
        <p:spPr>
          <a:xfrm>
            <a:off x="1059375" y="1075875"/>
            <a:ext cx="6797908" cy="33795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6"/>
          <p:cNvSpPr txBox="1"/>
          <p:nvPr>
            <p:ph type="title"/>
          </p:nvPr>
        </p:nvSpPr>
        <p:spPr>
          <a:xfrm>
            <a:off x="715100" y="2343150"/>
            <a:ext cx="7708800" cy="13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Task 2 </a:t>
            </a:r>
            <a:endParaRPr sz="4600"/>
          </a:p>
          <a:p>
            <a:pPr indent="0" lvl="0" marL="0" rtl="0" algn="l">
              <a:spcBef>
                <a:spcPts val="0"/>
              </a:spcBef>
              <a:spcAft>
                <a:spcPts val="0"/>
              </a:spcAft>
              <a:buNone/>
            </a:pPr>
            <a:r>
              <a:rPr lang="en" sz="3500"/>
              <a:t>Models Evaluation &amp; Comparison</a:t>
            </a:r>
            <a:endParaRPr sz="3500"/>
          </a:p>
        </p:txBody>
      </p:sp>
      <p:sp>
        <p:nvSpPr>
          <p:cNvPr id="716" name="Google Shape;716;p96"/>
          <p:cNvSpPr txBox="1"/>
          <p:nvPr>
            <p:ph idx="2" type="title"/>
          </p:nvPr>
        </p:nvSpPr>
        <p:spPr>
          <a:xfrm>
            <a:off x="715100" y="866775"/>
            <a:ext cx="7708800" cy="120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03.9</a:t>
            </a:r>
            <a:endParaRPr/>
          </a:p>
        </p:txBody>
      </p:sp>
      <p:cxnSp>
        <p:nvCxnSpPr>
          <p:cNvPr id="717" name="Google Shape;717;p96">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Determination </a:t>
            </a:r>
            <a:r>
              <a:rPr lang="en"/>
              <a:t>Metrics</a:t>
            </a:r>
            <a:r>
              <a:rPr lang="en"/>
              <a:t> to Evaluate the Performance</a:t>
            </a:r>
            <a:endParaRPr/>
          </a:p>
        </p:txBody>
      </p:sp>
      <p:sp>
        <p:nvSpPr>
          <p:cNvPr id="723" name="Google Shape;723;p97"/>
          <p:cNvSpPr txBox="1"/>
          <p:nvPr>
            <p:ph idx="2" type="subTitle"/>
          </p:nvPr>
        </p:nvSpPr>
        <p:spPr>
          <a:xfrm>
            <a:off x="674863" y="1571150"/>
            <a:ext cx="2386500" cy="81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Mean Absolute Error</a:t>
            </a:r>
            <a:endParaRPr/>
          </a:p>
        </p:txBody>
      </p:sp>
      <p:sp>
        <p:nvSpPr>
          <p:cNvPr id="724" name="Google Shape;724;p97"/>
          <p:cNvSpPr txBox="1"/>
          <p:nvPr>
            <p:ph idx="4" type="subTitle"/>
          </p:nvPr>
        </p:nvSpPr>
        <p:spPr>
          <a:xfrm>
            <a:off x="3319513" y="1613441"/>
            <a:ext cx="2386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Root Mean Squared Error</a:t>
            </a:r>
            <a:endParaRPr/>
          </a:p>
        </p:txBody>
      </p:sp>
      <p:sp>
        <p:nvSpPr>
          <p:cNvPr id="725" name="Google Shape;725;p97"/>
          <p:cNvSpPr txBox="1"/>
          <p:nvPr>
            <p:ph idx="6" type="subTitle"/>
          </p:nvPr>
        </p:nvSpPr>
        <p:spPr>
          <a:xfrm>
            <a:off x="6159350" y="1613450"/>
            <a:ext cx="2386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Root-Squared (R^2)</a:t>
            </a:r>
            <a:endParaRPr/>
          </a:p>
        </p:txBody>
      </p:sp>
      <p:pic>
        <p:nvPicPr>
          <p:cNvPr id="726" name="Google Shape;726;p97"/>
          <p:cNvPicPr preferRelativeResize="0"/>
          <p:nvPr/>
        </p:nvPicPr>
        <p:blipFill>
          <a:blip r:embed="rId3">
            <a:alphaModFix/>
          </a:blip>
          <a:stretch>
            <a:fillRect/>
          </a:stretch>
        </p:blipFill>
        <p:spPr>
          <a:xfrm>
            <a:off x="674863" y="2423789"/>
            <a:ext cx="2466975" cy="771525"/>
          </a:xfrm>
          <a:prstGeom prst="rect">
            <a:avLst/>
          </a:prstGeom>
          <a:noFill/>
          <a:ln>
            <a:noFill/>
          </a:ln>
        </p:spPr>
      </p:pic>
      <p:pic>
        <p:nvPicPr>
          <p:cNvPr id="727" name="Google Shape;727;p97"/>
          <p:cNvPicPr preferRelativeResize="0"/>
          <p:nvPr/>
        </p:nvPicPr>
        <p:blipFill>
          <a:blip r:embed="rId4">
            <a:alphaModFix/>
          </a:blip>
          <a:stretch>
            <a:fillRect/>
          </a:stretch>
        </p:blipFill>
        <p:spPr>
          <a:xfrm>
            <a:off x="3319513" y="2390451"/>
            <a:ext cx="2505075" cy="838200"/>
          </a:xfrm>
          <a:prstGeom prst="rect">
            <a:avLst/>
          </a:prstGeom>
          <a:noFill/>
          <a:ln>
            <a:noFill/>
          </a:ln>
        </p:spPr>
      </p:pic>
      <p:pic>
        <p:nvPicPr>
          <p:cNvPr id="728" name="Google Shape;728;p97"/>
          <p:cNvPicPr preferRelativeResize="0"/>
          <p:nvPr/>
        </p:nvPicPr>
        <p:blipFill>
          <a:blip r:embed="rId5">
            <a:alphaModFix/>
          </a:blip>
          <a:stretch>
            <a:fillRect/>
          </a:stretch>
        </p:blipFill>
        <p:spPr>
          <a:xfrm>
            <a:off x="6159350" y="2476176"/>
            <a:ext cx="2200275" cy="666750"/>
          </a:xfrm>
          <a:prstGeom prst="rect">
            <a:avLst/>
          </a:prstGeom>
          <a:noFill/>
          <a:ln>
            <a:noFill/>
          </a:ln>
        </p:spPr>
      </p:pic>
      <p:sp>
        <p:nvSpPr>
          <p:cNvPr id="729" name="Google Shape;729;p97"/>
          <p:cNvSpPr txBox="1"/>
          <p:nvPr>
            <p:ph idx="1" type="subTitle"/>
          </p:nvPr>
        </p:nvSpPr>
        <p:spPr>
          <a:xfrm>
            <a:off x="674863" y="3279304"/>
            <a:ext cx="2386500" cy="16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r>
              <a:rPr lang="en"/>
              <a:t>easures</a:t>
            </a:r>
            <a:r>
              <a:rPr lang="en"/>
              <a:t> the average of the residuals in the dataset.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`RegressionEvaluator(labelCol = 'price_rate', metricName = 'mae')`</a:t>
            </a:r>
            <a:endParaRPr/>
          </a:p>
        </p:txBody>
      </p:sp>
      <p:sp>
        <p:nvSpPr>
          <p:cNvPr id="730" name="Google Shape;730;p97"/>
          <p:cNvSpPr txBox="1"/>
          <p:nvPr>
            <p:ph idx="3" type="subTitle"/>
          </p:nvPr>
        </p:nvSpPr>
        <p:spPr>
          <a:xfrm>
            <a:off x="3319513" y="3279310"/>
            <a:ext cx="2386500" cy="16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Measures the standard deviation of residuals.</a:t>
            </a:r>
            <a:endParaRPr/>
          </a:p>
          <a:p>
            <a:pPr indent="0" lvl="0" marL="0" rtl="0" algn="l">
              <a:spcBef>
                <a:spcPts val="1600"/>
              </a:spcBef>
              <a:spcAft>
                <a:spcPts val="1600"/>
              </a:spcAft>
              <a:buNone/>
            </a:pPr>
            <a:r>
              <a:rPr lang="en"/>
              <a:t>`RegressionEvaluator(labelCol = 'price_rate', metricName = 'rmse')`</a:t>
            </a:r>
            <a:endParaRPr/>
          </a:p>
        </p:txBody>
      </p:sp>
      <p:sp>
        <p:nvSpPr>
          <p:cNvPr id="731" name="Google Shape;731;p97"/>
          <p:cNvSpPr txBox="1"/>
          <p:nvPr>
            <p:ph idx="5" type="subTitle"/>
          </p:nvPr>
        </p:nvSpPr>
        <p:spPr>
          <a:xfrm>
            <a:off x="6159350" y="3279309"/>
            <a:ext cx="2386500" cy="16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Represents the proportion of the variance in the dependent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`RegressionEvaluator(labelCol = 'price_rate', metricName = 'r2')`</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Comparison of the models’ performance</a:t>
            </a:r>
            <a:endParaRPr/>
          </a:p>
        </p:txBody>
      </p:sp>
      <p:sp>
        <p:nvSpPr>
          <p:cNvPr id="737" name="Google Shape;737;p98"/>
          <p:cNvSpPr txBox="1"/>
          <p:nvPr>
            <p:ph idx="2" type="subTitle"/>
          </p:nvPr>
        </p:nvSpPr>
        <p:spPr>
          <a:xfrm>
            <a:off x="715100" y="1571150"/>
            <a:ext cx="2386500" cy="81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Random Forest Regression</a:t>
            </a:r>
            <a:endParaRPr/>
          </a:p>
        </p:txBody>
      </p:sp>
      <p:sp>
        <p:nvSpPr>
          <p:cNvPr id="738" name="Google Shape;738;p98"/>
          <p:cNvSpPr txBox="1"/>
          <p:nvPr>
            <p:ph idx="4" type="subTitle"/>
          </p:nvPr>
        </p:nvSpPr>
        <p:spPr>
          <a:xfrm>
            <a:off x="3506175" y="1613441"/>
            <a:ext cx="2386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Gradient-Boosted Tree Regression</a:t>
            </a:r>
            <a:endParaRPr/>
          </a:p>
        </p:txBody>
      </p:sp>
      <p:sp>
        <p:nvSpPr>
          <p:cNvPr id="739" name="Google Shape;739;p98"/>
          <p:cNvSpPr txBox="1"/>
          <p:nvPr>
            <p:ph idx="6" type="subTitle"/>
          </p:nvPr>
        </p:nvSpPr>
        <p:spPr>
          <a:xfrm>
            <a:off x="6159350" y="1613450"/>
            <a:ext cx="2386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Multiple Linear Regression</a:t>
            </a:r>
            <a:endParaRPr/>
          </a:p>
        </p:txBody>
      </p:sp>
      <p:grpSp>
        <p:nvGrpSpPr>
          <p:cNvPr id="740" name="Google Shape;740;p98"/>
          <p:cNvGrpSpPr/>
          <p:nvPr/>
        </p:nvGrpSpPr>
        <p:grpSpPr>
          <a:xfrm>
            <a:off x="6106376" y="2433525"/>
            <a:ext cx="1924253" cy="1392180"/>
            <a:chOff x="6190625" y="2433525"/>
            <a:chExt cx="1954350" cy="1392180"/>
          </a:xfrm>
        </p:grpSpPr>
        <p:pic>
          <p:nvPicPr>
            <p:cNvPr id="741" name="Google Shape;741;p98"/>
            <p:cNvPicPr preferRelativeResize="0"/>
            <p:nvPr/>
          </p:nvPicPr>
          <p:blipFill>
            <a:blip r:embed="rId3">
              <a:alphaModFix/>
            </a:blip>
            <a:stretch>
              <a:fillRect/>
            </a:stretch>
          </p:blipFill>
          <p:spPr>
            <a:xfrm>
              <a:off x="6190625" y="2433525"/>
              <a:ext cx="1954350" cy="485775"/>
            </a:xfrm>
            <a:prstGeom prst="rect">
              <a:avLst/>
            </a:prstGeom>
            <a:noFill/>
            <a:ln>
              <a:noFill/>
            </a:ln>
          </p:spPr>
        </p:pic>
        <p:pic>
          <p:nvPicPr>
            <p:cNvPr id="742" name="Google Shape;742;p98"/>
            <p:cNvPicPr preferRelativeResize="0"/>
            <p:nvPr/>
          </p:nvPicPr>
          <p:blipFill>
            <a:blip r:embed="rId4">
              <a:alphaModFix/>
            </a:blip>
            <a:stretch>
              <a:fillRect/>
            </a:stretch>
          </p:blipFill>
          <p:spPr>
            <a:xfrm>
              <a:off x="6190625" y="2905382"/>
              <a:ext cx="1954350" cy="485775"/>
            </a:xfrm>
            <a:prstGeom prst="rect">
              <a:avLst/>
            </a:prstGeom>
            <a:noFill/>
            <a:ln>
              <a:noFill/>
            </a:ln>
          </p:spPr>
        </p:pic>
        <p:pic>
          <p:nvPicPr>
            <p:cNvPr id="743" name="Google Shape;743;p98"/>
            <p:cNvPicPr preferRelativeResize="0"/>
            <p:nvPr/>
          </p:nvPicPr>
          <p:blipFill>
            <a:blip r:embed="rId5">
              <a:alphaModFix/>
            </a:blip>
            <a:stretch>
              <a:fillRect/>
            </a:stretch>
          </p:blipFill>
          <p:spPr>
            <a:xfrm>
              <a:off x="6190625" y="3339930"/>
              <a:ext cx="1954350" cy="485775"/>
            </a:xfrm>
            <a:prstGeom prst="rect">
              <a:avLst/>
            </a:prstGeom>
            <a:noFill/>
            <a:ln>
              <a:noFill/>
            </a:ln>
          </p:spPr>
        </p:pic>
      </p:grpSp>
      <p:pic>
        <p:nvPicPr>
          <p:cNvPr id="744" name="Google Shape;744;p98"/>
          <p:cNvPicPr preferRelativeResize="0"/>
          <p:nvPr/>
        </p:nvPicPr>
        <p:blipFill>
          <a:blip r:embed="rId6">
            <a:alphaModFix/>
          </a:blip>
          <a:stretch>
            <a:fillRect/>
          </a:stretch>
        </p:blipFill>
        <p:spPr>
          <a:xfrm>
            <a:off x="687375" y="2470038"/>
            <a:ext cx="1920240" cy="1298448"/>
          </a:xfrm>
          <a:prstGeom prst="rect">
            <a:avLst/>
          </a:prstGeom>
          <a:noFill/>
          <a:ln>
            <a:noFill/>
          </a:ln>
        </p:spPr>
      </p:pic>
      <p:pic>
        <p:nvPicPr>
          <p:cNvPr id="745" name="Google Shape;745;p98"/>
          <p:cNvPicPr preferRelativeResize="0"/>
          <p:nvPr/>
        </p:nvPicPr>
        <p:blipFill>
          <a:blip r:embed="rId7">
            <a:alphaModFix/>
          </a:blip>
          <a:stretch>
            <a:fillRect/>
          </a:stretch>
        </p:blipFill>
        <p:spPr>
          <a:xfrm>
            <a:off x="3545525" y="2470050"/>
            <a:ext cx="1924049" cy="1302900"/>
          </a:xfrm>
          <a:prstGeom prst="rect">
            <a:avLst/>
          </a:prstGeom>
          <a:noFill/>
          <a:ln cap="flat" cmpd="sng" w="76200">
            <a:solidFill>
              <a:srgbClr val="FF0000"/>
            </a:solidFill>
            <a:prstDash val="solid"/>
            <a:round/>
            <a:headEnd len="sm" w="sm" type="none"/>
            <a:tailEnd len="sm" w="sm" type="none"/>
          </a:ln>
        </p:spPr>
      </p:pic>
      <p:sp>
        <p:nvSpPr>
          <p:cNvPr id="746" name="Google Shape;746;p98"/>
          <p:cNvSpPr txBox="1"/>
          <p:nvPr>
            <p:ph idx="1" type="subTitle"/>
          </p:nvPr>
        </p:nvSpPr>
        <p:spPr>
          <a:xfrm>
            <a:off x="687375" y="3957702"/>
            <a:ext cx="8024100" cy="8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a:t>
            </a:r>
            <a:r>
              <a:rPr lang="en" sz="1600" u="sng"/>
              <a:t>lower value of MAE and RMSE</a:t>
            </a:r>
            <a:r>
              <a:rPr lang="en" sz="1600"/>
              <a:t> implies </a:t>
            </a:r>
            <a:r>
              <a:rPr lang="en" sz="1600" u="sng"/>
              <a:t>higher accuracy</a:t>
            </a:r>
            <a:r>
              <a:rPr lang="en" sz="1600"/>
              <a:t> of a regression model. However a </a:t>
            </a:r>
            <a:r>
              <a:rPr lang="en" sz="1600" u="sng"/>
              <a:t>higher value of R^2 is considered desirable</a:t>
            </a:r>
            <a:r>
              <a:rPr lang="en" sz="1600"/>
              <a:t>.</a:t>
            </a:r>
            <a:endParaRPr sz="16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0" name="Shape 750"/>
        <p:cNvGrpSpPr/>
        <p:nvPr/>
      </p:nvGrpSpPr>
      <p:grpSpPr>
        <a:xfrm>
          <a:off x="0" y="0"/>
          <a:ext cx="0" cy="0"/>
          <a:chOff x="0" y="0"/>
          <a:chExt cx="0" cy="0"/>
        </a:xfrm>
      </p:grpSpPr>
      <p:sp>
        <p:nvSpPr>
          <p:cNvPr id="751" name="Google Shape;751;p99"/>
          <p:cNvSpPr txBox="1"/>
          <p:nvPr>
            <p:ph type="title"/>
          </p:nvPr>
        </p:nvSpPr>
        <p:spPr>
          <a:xfrm>
            <a:off x="815375" y="4247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Comparison of the models’ performance</a:t>
            </a:r>
            <a:endParaRPr sz="2600"/>
          </a:p>
        </p:txBody>
      </p:sp>
      <p:sp>
        <p:nvSpPr>
          <p:cNvPr id="752" name="Google Shape;752;p99"/>
          <p:cNvSpPr txBox="1"/>
          <p:nvPr>
            <p:ph type="title"/>
          </p:nvPr>
        </p:nvSpPr>
        <p:spPr>
          <a:xfrm>
            <a:off x="815375" y="1625875"/>
            <a:ext cx="7713900" cy="1308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From our observation of the evaluation metrics,</a:t>
            </a:r>
            <a:r>
              <a:rPr lang="en" sz="2900"/>
              <a:t> </a:t>
            </a:r>
            <a:r>
              <a:rPr lang="en" sz="2200"/>
              <a:t>Gradient-Boosted Tree Regression seems to be more robust.</a:t>
            </a:r>
            <a:endParaRPr sz="29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0"/>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Conclusion</a:t>
            </a:r>
            <a:endParaRPr sz="4600"/>
          </a:p>
        </p:txBody>
      </p:sp>
      <p:sp>
        <p:nvSpPr>
          <p:cNvPr id="758" name="Google Shape;758;p100"/>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cxnSp>
        <p:nvCxnSpPr>
          <p:cNvPr id="759" name="Google Shape;759;p100">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01"/>
          <p:cNvSpPr txBox="1"/>
          <p:nvPr>
            <p:ph type="title"/>
          </p:nvPr>
        </p:nvSpPr>
        <p:spPr>
          <a:xfrm>
            <a:off x="632475" y="53850"/>
            <a:ext cx="64941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65" name="Google Shape;765;p101"/>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a:pPr>
            <a:r>
              <a:rPr lang="en" u="sng">
                <a:solidFill>
                  <a:schemeClr val="dk1"/>
                </a:solidFill>
                <a:latin typeface="Albert Sans"/>
                <a:ea typeface="Albert Sans"/>
                <a:cs typeface="Albert Sans"/>
                <a:sym typeface="Albert Sans"/>
              </a:rPr>
              <a:t>Scalability</a:t>
            </a:r>
            <a:r>
              <a:rPr lang="en" u="sng">
                <a:solidFill>
                  <a:schemeClr val="dk1"/>
                </a:solidFill>
                <a:latin typeface="Albert Sans"/>
                <a:ea typeface="Albert Sans"/>
                <a:cs typeface="Albert Sans"/>
                <a:sym typeface="Albert Sans"/>
              </a:rPr>
              <a:t> and </a:t>
            </a:r>
            <a:r>
              <a:rPr lang="en" u="sng">
                <a:solidFill>
                  <a:schemeClr val="dk1"/>
                </a:solidFill>
                <a:latin typeface="Albert Sans"/>
                <a:ea typeface="Albert Sans"/>
                <a:cs typeface="Albert Sans"/>
                <a:sym typeface="Albert Sans"/>
              </a:rPr>
              <a:t>performance</a:t>
            </a:r>
            <a:r>
              <a:rPr lang="en" u="sng">
                <a:solidFill>
                  <a:schemeClr val="dk1"/>
                </a:solidFill>
                <a:latin typeface="Albert Sans"/>
                <a:ea typeface="Albert Sans"/>
                <a:cs typeface="Albert Sans"/>
                <a:sym typeface="Albert Sans"/>
              </a:rPr>
              <a:t> wise: </a:t>
            </a:r>
            <a:endParaRPr u="sng">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AutoNum type="alphaLcPeriod"/>
            </a:pPr>
            <a:r>
              <a:rPr b="1" lang="en" sz="1300">
                <a:latin typeface="Albert Sans"/>
                <a:ea typeface="Albert Sans"/>
                <a:cs typeface="Albert Sans"/>
                <a:sym typeface="Albert Sans"/>
              </a:rPr>
              <a:t>Scikit-Learn</a:t>
            </a:r>
            <a:endParaRPr b="1" sz="1300">
              <a:latin typeface="Albert Sans"/>
              <a:ea typeface="Albert Sans"/>
              <a:cs typeface="Albert Sans"/>
              <a:sym typeface="Albert Sans"/>
            </a:endParaRPr>
          </a:p>
          <a:p>
            <a:pPr indent="0" lvl="0" marL="914400" rtl="0" algn="l">
              <a:spcBef>
                <a:spcPts val="0"/>
              </a:spcBef>
              <a:spcAft>
                <a:spcPts val="0"/>
              </a:spcAft>
              <a:buNone/>
            </a:pPr>
            <a:r>
              <a:t/>
            </a:r>
            <a:endParaRPr b="1"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Best suited for small to medium datasets that fit in the memory (RAM) of a single machine.</a:t>
            </a:r>
            <a:endParaRPr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In-memory computations are fast for these dataset sizes.</a:t>
            </a:r>
            <a:endParaRPr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Struggles or becomes unusable with very large datasets that don’t fit into local memory.</a:t>
            </a:r>
            <a:endParaRPr sz="1300">
              <a:latin typeface="Albert Sans"/>
              <a:ea typeface="Albert Sans"/>
              <a:cs typeface="Albert Sans"/>
              <a:sym typeface="Albert Sans"/>
            </a:endParaRPr>
          </a:p>
          <a:p>
            <a:pPr indent="0" lvl="0" marL="1828800" rtl="0" algn="l">
              <a:spcBef>
                <a:spcPts val="0"/>
              </a:spcBef>
              <a:spcAft>
                <a:spcPts val="0"/>
              </a:spcAft>
              <a:buNone/>
            </a:pPr>
            <a:r>
              <a:t/>
            </a:r>
            <a:endParaRPr sz="1300">
              <a:latin typeface="Albert Sans"/>
              <a:ea typeface="Albert Sans"/>
              <a:cs typeface="Albert Sans"/>
              <a:sym typeface="Albert Sans"/>
            </a:endParaRPr>
          </a:p>
          <a:p>
            <a:pPr indent="-311150" lvl="1" marL="914400" rtl="0" algn="l">
              <a:spcBef>
                <a:spcPts val="0"/>
              </a:spcBef>
              <a:spcAft>
                <a:spcPts val="0"/>
              </a:spcAft>
              <a:buSzPts val="1300"/>
              <a:buFont typeface="Albert Sans"/>
              <a:buAutoNum type="alphaLcPeriod"/>
            </a:pPr>
            <a:r>
              <a:rPr b="1" lang="en" sz="1300">
                <a:latin typeface="Albert Sans"/>
                <a:ea typeface="Albert Sans"/>
                <a:cs typeface="Albert Sans"/>
                <a:sym typeface="Albert Sans"/>
              </a:rPr>
              <a:t>Spark MLib</a:t>
            </a:r>
            <a:endParaRPr b="1" sz="1300">
              <a:latin typeface="Albert Sans"/>
              <a:ea typeface="Albert Sans"/>
              <a:cs typeface="Albert Sans"/>
              <a:sym typeface="Albert Sans"/>
            </a:endParaRPr>
          </a:p>
          <a:p>
            <a:pPr indent="0" lvl="0" marL="0" rtl="0" algn="l">
              <a:spcBef>
                <a:spcPts val="0"/>
              </a:spcBef>
              <a:spcAft>
                <a:spcPts val="0"/>
              </a:spcAft>
              <a:buNone/>
            </a:pPr>
            <a:r>
              <a:t/>
            </a:r>
            <a:endParaRPr b="1"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Designed for distributed large-scale data processing.</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Can handle datasets that are too large for a single machine, by distributing data and computation across a cluster of servers.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Adds cluster and cluster management overhead making it slower and </a:t>
            </a:r>
            <a:r>
              <a:rPr lang="en" sz="1300">
                <a:latin typeface="Albert Sans"/>
                <a:ea typeface="Albert Sans"/>
                <a:cs typeface="Albert Sans"/>
                <a:sym typeface="Albert Sans"/>
              </a:rPr>
              <a:t>more</a:t>
            </a:r>
            <a:r>
              <a:rPr lang="en" sz="1300">
                <a:latin typeface="Albert Sans"/>
                <a:ea typeface="Albert Sans"/>
                <a:cs typeface="Albert Sans"/>
                <a:sym typeface="Albert Sans"/>
              </a:rPr>
              <a:t> complex for small datasets</a:t>
            </a:r>
            <a:endParaRPr sz="1300">
              <a:latin typeface="Albert Sans"/>
              <a:ea typeface="Albert Sans"/>
              <a:cs typeface="Albert Sans"/>
              <a:sym typeface="Albert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2"/>
          <p:cNvSpPr txBox="1"/>
          <p:nvPr>
            <p:ph type="title"/>
          </p:nvPr>
        </p:nvSpPr>
        <p:spPr>
          <a:xfrm>
            <a:off x="632475" y="53850"/>
            <a:ext cx="64941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71" name="Google Shape;771;p102"/>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startAt="2"/>
            </a:pPr>
            <a:r>
              <a:rPr lang="en" u="sng">
                <a:solidFill>
                  <a:schemeClr val="dk1"/>
                </a:solidFill>
                <a:latin typeface="Albert Sans"/>
                <a:ea typeface="Albert Sans"/>
                <a:cs typeface="Albert Sans"/>
                <a:sym typeface="Albert Sans"/>
              </a:rPr>
              <a:t>Usability and </a:t>
            </a:r>
            <a:r>
              <a:rPr lang="en" u="sng">
                <a:solidFill>
                  <a:schemeClr val="dk1"/>
                </a:solidFill>
                <a:latin typeface="Albert Sans"/>
                <a:ea typeface="Albert Sans"/>
                <a:cs typeface="Albert Sans"/>
                <a:sym typeface="Albert Sans"/>
              </a:rPr>
              <a:t>Flexibility</a:t>
            </a:r>
            <a:endParaRPr u="sng">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AutoNum type="alphaLcPeriod"/>
            </a:pPr>
            <a:r>
              <a:rPr b="1" lang="en" sz="1300">
                <a:latin typeface="Albert Sans"/>
                <a:ea typeface="Albert Sans"/>
                <a:cs typeface="Albert Sans"/>
                <a:sym typeface="Albert Sans"/>
              </a:rPr>
              <a:t>Scikit-Learn</a:t>
            </a:r>
            <a:endParaRPr b="1" sz="1300">
              <a:latin typeface="Albert Sans"/>
              <a:ea typeface="Albert Sans"/>
              <a:cs typeface="Albert Sans"/>
              <a:sym typeface="Albert Sans"/>
            </a:endParaRPr>
          </a:p>
          <a:p>
            <a:pPr indent="0" lvl="0" marL="914400" rtl="0" algn="l">
              <a:spcBef>
                <a:spcPts val="0"/>
              </a:spcBef>
              <a:spcAft>
                <a:spcPts val="0"/>
              </a:spcAft>
              <a:buNone/>
            </a:pPr>
            <a:r>
              <a:t/>
            </a:r>
            <a:endParaRPr b="1"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Strong, simple and </a:t>
            </a:r>
            <a:r>
              <a:rPr lang="en" sz="1300">
                <a:latin typeface="Albert Sans"/>
                <a:ea typeface="Albert Sans"/>
                <a:cs typeface="Albert Sans"/>
                <a:sym typeface="Albert Sans"/>
              </a:rPr>
              <a:t>intuitive</a:t>
            </a:r>
            <a:r>
              <a:rPr lang="en" sz="1300">
                <a:latin typeface="Albert Sans"/>
                <a:ea typeface="Albert Sans"/>
                <a:cs typeface="Albert Sans"/>
                <a:sym typeface="Albert Sans"/>
              </a:rPr>
              <a:t> with imports and syntaxes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Has a strong integration with pandas and numpy for data preparation manipulation </a:t>
            </a:r>
            <a:endParaRPr sz="1300">
              <a:latin typeface="Albert Sans"/>
              <a:ea typeface="Albert Sans"/>
              <a:cs typeface="Albert Sans"/>
              <a:sym typeface="Albert Sans"/>
            </a:endParaRPr>
          </a:p>
          <a:p>
            <a:pPr indent="0" lvl="0" marL="1828800" rtl="0" algn="l">
              <a:spcBef>
                <a:spcPts val="0"/>
              </a:spcBef>
              <a:spcAft>
                <a:spcPts val="0"/>
              </a:spcAft>
              <a:buNone/>
            </a:pPr>
            <a:r>
              <a:t/>
            </a:r>
            <a:endParaRPr sz="1300">
              <a:latin typeface="Albert Sans"/>
              <a:ea typeface="Albert Sans"/>
              <a:cs typeface="Albert Sans"/>
              <a:sym typeface="Albert Sans"/>
            </a:endParaRPr>
          </a:p>
          <a:p>
            <a:pPr indent="-311150" lvl="1" marL="914400" rtl="0" algn="l">
              <a:spcBef>
                <a:spcPts val="0"/>
              </a:spcBef>
              <a:spcAft>
                <a:spcPts val="0"/>
              </a:spcAft>
              <a:buSzPts val="1300"/>
              <a:buFont typeface="Albert Sans"/>
              <a:buAutoNum type="alphaLcPeriod"/>
            </a:pPr>
            <a:r>
              <a:rPr b="1" lang="en" sz="1300">
                <a:latin typeface="Albert Sans"/>
                <a:ea typeface="Albert Sans"/>
                <a:cs typeface="Albert Sans"/>
                <a:sym typeface="Albert Sans"/>
              </a:rPr>
              <a:t>Spark MLib</a:t>
            </a:r>
            <a:endParaRPr b="1" sz="1300">
              <a:latin typeface="Albert Sans"/>
              <a:ea typeface="Albert Sans"/>
              <a:cs typeface="Albert Sans"/>
              <a:sym typeface="Albert Sans"/>
            </a:endParaRPr>
          </a:p>
          <a:p>
            <a:pPr indent="0" lvl="0" marL="0" rtl="0" algn="l">
              <a:spcBef>
                <a:spcPts val="0"/>
              </a:spcBef>
              <a:spcAft>
                <a:spcPts val="0"/>
              </a:spcAft>
              <a:buNone/>
            </a:pPr>
            <a:r>
              <a:t/>
            </a:r>
            <a:endParaRPr b="1"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Less intuitive for if you are used to pandas and numpy syntaxes.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Is strongly based on Spark DataFrames and Pipelines.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It has both Python and Scala interfaces, but Python (PySpark) can have more overhead</a:t>
            </a:r>
            <a:endParaRPr sz="1300">
              <a:latin typeface="Albert Sans"/>
              <a:ea typeface="Albert Sans"/>
              <a:cs typeface="Albert Sans"/>
              <a:sym typeface="Albert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03"/>
          <p:cNvSpPr txBox="1"/>
          <p:nvPr>
            <p:ph type="title"/>
          </p:nvPr>
        </p:nvSpPr>
        <p:spPr>
          <a:xfrm>
            <a:off x="632475" y="53850"/>
            <a:ext cx="64941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77" name="Google Shape;777;p103"/>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startAt="3"/>
            </a:pPr>
            <a:r>
              <a:rPr lang="en" u="sng">
                <a:solidFill>
                  <a:schemeClr val="dk1"/>
                </a:solidFill>
                <a:latin typeface="Albert Sans"/>
                <a:ea typeface="Albert Sans"/>
                <a:cs typeface="Albert Sans"/>
                <a:sym typeface="Albert Sans"/>
              </a:rPr>
              <a:t>Feature set and model coverage</a:t>
            </a:r>
            <a:endParaRPr u="sng">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AutoNum type="alphaLcPeriod"/>
            </a:pPr>
            <a:r>
              <a:rPr b="1" lang="en" sz="1300">
                <a:latin typeface="Albert Sans"/>
                <a:ea typeface="Albert Sans"/>
                <a:cs typeface="Albert Sans"/>
                <a:sym typeface="Albert Sans"/>
              </a:rPr>
              <a:t>Scikit-Learn</a:t>
            </a:r>
            <a:endParaRPr b="1" sz="1300">
              <a:latin typeface="Albert Sans"/>
              <a:ea typeface="Albert Sans"/>
              <a:cs typeface="Albert Sans"/>
              <a:sym typeface="Albert Sans"/>
            </a:endParaRPr>
          </a:p>
          <a:p>
            <a:pPr indent="0" lvl="0" marL="914400" rtl="0" algn="l">
              <a:spcBef>
                <a:spcPts val="0"/>
              </a:spcBef>
              <a:spcAft>
                <a:spcPts val="0"/>
              </a:spcAft>
              <a:buNone/>
            </a:pPr>
            <a:r>
              <a:t/>
            </a:r>
            <a:endParaRPr b="1" sz="1300">
              <a:latin typeface="Albert Sans"/>
              <a:ea typeface="Albert Sans"/>
              <a:cs typeface="Albert Sans"/>
              <a:sym typeface="Albert Sans"/>
            </a:endParaRPr>
          </a:p>
          <a:p>
            <a:pPr indent="-330200" lvl="0" marL="914400" rtl="0" algn="l">
              <a:spcBef>
                <a:spcPts val="0"/>
              </a:spcBef>
              <a:spcAft>
                <a:spcPts val="0"/>
              </a:spcAft>
              <a:buClr>
                <a:schemeClr val="dk1"/>
              </a:buClr>
              <a:buSzPts val="1600"/>
              <a:buFont typeface="Albert Sans"/>
              <a:buChar char="-"/>
            </a:pPr>
            <a:r>
              <a:rPr lang="en" sz="1300">
                <a:latin typeface="Albert Sans"/>
                <a:ea typeface="Albert Sans"/>
                <a:cs typeface="Albert Sans"/>
                <a:sym typeface="Albert Sans"/>
              </a:rPr>
              <a:t>Offers a broader set of algorithms and preprocessing techniques.</a:t>
            </a:r>
            <a:endParaRPr sz="15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Frequent updates, state-of-the-art methods, and advanced hyperparameter tuning.</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Deep support for pipelines, feature selection, cross-validation, metrics, and model introspection</a:t>
            </a:r>
            <a:endParaRPr sz="1300">
              <a:latin typeface="Albert Sans"/>
              <a:ea typeface="Albert Sans"/>
              <a:cs typeface="Albert Sans"/>
              <a:sym typeface="Albert Sans"/>
            </a:endParaRPr>
          </a:p>
          <a:p>
            <a:pPr indent="0" lvl="0" marL="1828800" rtl="0" algn="l">
              <a:spcBef>
                <a:spcPts val="0"/>
              </a:spcBef>
              <a:spcAft>
                <a:spcPts val="0"/>
              </a:spcAft>
              <a:buNone/>
            </a:pPr>
            <a:r>
              <a:t/>
            </a:r>
            <a:endParaRPr sz="1300">
              <a:latin typeface="Albert Sans"/>
              <a:ea typeface="Albert Sans"/>
              <a:cs typeface="Albert Sans"/>
              <a:sym typeface="Albert Sans"/>
            </a:endParaRPr>
          </a:p>
          <a:p>
            <a:pPr indent="-311150" lvl="1" marL="914400" rtl="0" algn="l">
              <a:spcBef>
                <a:spcPts val="0"/>
              </a:spcBef>
              <a:spcAft>
                <a:spcPts val="0"/>
              </a:spcAft>
              <a:buSzPts val="1300"/>
              <a:buFont typeface="Albert Sans"/>
              <a:buAutoNum type="alphaLcPeriod"/>
            </a:pPr>
            <a:r>
              <a:rPr b="1" lang="en" sz="1300">
                <a:latin typeface="Albert Sans"/>
                <a:ea typeface="Albert Sans"/>
                <a:cs typeface="Albert Sans"/>
                <a:sym typeface="Albert Sans"/>
              </a:rPr>
              <a:t>Spark MLib</a:t>
            </a:r>
            <a:endParaRPr b="1" sz="1300">
              <a:latin typeface="Albert Sans"/>
              <a:ea typeface="Albert Sans"/>
              <a:cs typeface="Albert Sans"/>
              <a:sym typeface="Albert Sans"/>
            </a:endParaRPr>
          </a:p>
          <a:p>
            <a:pPr indent="0" lvl="0" marL="0" rtl="0" algn="l">
              <a:spcBef>
                <a:spcPts val="0"/>
              </a:spcBef>
              <a:spcAft>
                <a:spcPts val="0"/>
              </a:spcAft>
              <a:buNone/>
            </a:pPr>
            <a:r>
              <a:t/>
            </a:r>
            <a:endParaRPr b="1" sz="1300">
              <a:latin typeface="Albert Sans"/>
              <a:ea typeface="Albert Sans"/>
              <a:cs typeface="Albert Sans"/>
              <a:sym typeface="Albert Sans"/>
            </a:endParaRPr>
          </a:p>
          <a:p>
            <a:pPr indent="-311150" lvl="0" marL="914400" rtl="0" algn="l">
              <a:spcBef>
                <a:spcPts val="0"/>
              </a:spcBef>
              <a:spcAft>
                <a:spcPts val="0"/>
              </a:spcAft>
              <a:buSzPts val="1300"/>
              <a:buChar char="-"/>
            </a:pPr>
            <a:r>
              <a:rPr lang="en" sz="1300">
                <a:latin typeface="Albert Sans"/>
                <a:ea typeface="Albert Sans"/>
                <a:cs typeface="Albert Sans"/>
                <a:sym typeface="Albert Sans"/>
              </a:rPr>
              <a:t>Covers main Machine Learning algorithms (such as linear models, tree-based models, clustering, recommenders, etc.).</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Fewer model options, less parameter fine-tuning, and usually lags behind sklearn in adopting new methods.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Pipelines and feature engineering tools focus on distributed processing.</a:t>
            </a:r>
            <a:endParaRPr sz="1500">
              <a:latin typeface="Albert Sans"/>
              <a:ea typeface="Albert Sans"/>
              <a:cs typeface="Albert Sans"/>
              <a:sym typeface="Albert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04"/>
          <p:cNvSpPr txBox="1"/>
          <p:nvPr>
            <p:ph type="title"/>
          </p:nvPr>
        </p:nvSpPr>
        <p:spPr>
          <a:xfrm>
            <a:off x="632475" y="53850"/>
            <a:ext cx="64941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83" name="Google Shape;783;p104"/>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startAt="4"/>
            </a:pPr>
            <a:r>
              <a:rPr lang="en" u="sng">
                <a:solidFill>
                  <a:schemeClr val="dk1"/>
                </a:solidFill>
                <a:latin typeface="Albert Sans"/>
                <a:ea typeface="Albert Sans"/>
                <a:cs typeface="Albert Sans"/>
                <a:sym typeface="Albert Sans"/>
              </a:rPr>
              <a:t>Integration and ecosystem</a:t>
            </a:r>
            <a:endParaRPr u="sng">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AutoNum type="alphaLcPeriod"/>
            </a:pPr>
            <a:r>
              <a:rPr b="1" lang="en" sz="1300">
                <a:latin typeface="Albert Sans"/>
                <a:ea typeface="Albert Sans"/>
                <a:cs typeface="Albert Sans"/>
                <a:sym typeface="Albert Sans"/>
              </a:rPr>
              <a:t>Scikit-Learn</a:t>
            </a:r>
            <a:endParaRPr b="1" sz="1300">
              <a:latin typeface="Albert Sans"/>
              <a:ea typeface="Albert Sans"/>
              <a:cs typeface="Albert Sans"/>
              <a:sym typeface="Albert Sans"/>
            </a:endParaRPr>
          </a:p>
          <a:p>
            <a:pPr indent="0" lvl="0" marL="914400" rtl="0" algn="l">
              <a:spcBef>
                <a:spcPts val="0"/>
              </a:spcBef>
              <a:spcAft>
                <a:spcPts val="0"/>
              </a:spcAft>
              <a:buNone/>
            </a:pPr>
            <a:r>
              <a:t/>
            </a:r>
            <a:endParaRPr b="1"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Has Easy integration with pandas, matplotlib, seaborn, ensorFlow, PyTorch, and most of the Python data ecosystem.</a:t>
            </a:r>
            <a:endParaRPr sz="1300">
              <a:latin typeface="Albert Sans"/>
              <a:ea typeface="Albert Sans"/>
              <a:cs typeface="Albert Sans"/>
              <a:sym typeface="Albert Sans"/>
            </a:endParaRPr>
          </a:p>
          <a:p>
            <a:pPr indent="0" lvl="0" marL="1828800" rtl="0" algn="l">
              <a:spcBef>
                <a:spcPts val="0"/>
              </a:spcBef>
              <a:spcAft>
                <a:spcPts val="0"/>
              </a:spcAft>
              <a:buNone/>
            </a:pPr>
            <a:r>
              <a:t/>
            </a:r>
            <a:endParaRPr sz="1300">
              <a:latin typeface="Albert Sans"/>
              <a:ea typeface="Albert Sans"/>
              <a:cs typeface="Albert Sans"/>
              <a:sym typeface="Albert Sans"/>
            </a:endParaRPr>
          </a:p>
          <a:p>
            <a:pPr indent="-311150" lvl="1" marL="914400" rtl="0" algn="l">
              <a:spcBef>
                <a:spcPts val="0"/>
              </a:spcBef>
              <a:spcAft>
                <a:spcPts val="0"/>
              </a:spcAft>
              <a:buSzPts val="1300"/>
              <a:buFont typeface="Albert Sans"/>
              <a:buAutoNum type="alphaLcPeriod"/>
            </a:pPr>
            <a:r>
              <a:rPr b="1" lang="en" sz="1300">
                <a:latin typeface="Albert Sans"/>
                <a:ea typeface="Albert Sans"/>
                <a:cs typeface="Albert Sans"/>
                <a:sym typeface="Albert Sans"/>
              </a:rPr>
              <a:t>Spark MLib</a:t>
            </a:r>
            <a:endParaRPr b="1" sz="1300">
              <a:latin typeface="Albert Sans"/>
              <a:ea typeface="Albert Sans"/>
              <a:cs typeface="Albert Sans"/>
              <a:sym typeface="Albert Sans"/>
            </a:endParaRPr>
          </a:p>
          <a:p>
            <a:pPr indent="0" lvl="0" marL="0" rtl="0" algn="l">
              <a:spcBef>
                <a:spcPts val="0"/>
              </a:spcBef>
              <a:spcAft>
                <a:spcPts val="0"/>
              </a:spcAft>
              <a:buNone/>
            </a:pPr>
            <a:r>
              <a:t/>
            </a:r>
            <a:endParaRPr b="1"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Tight integration with the full Spark ecosystem (Spark SQL, streaming, graph, etc.)</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Often used as part of larger ETL/data engineering workflows.</a:t>
            </a:r>
            <a:endParaRPr sz="1300">
              <a:latin typeface="Albert Sans"/>
              <a:ea typeface="Albert Sans"/>
              <a:cs typeface="Albert Sans"/>
              <a:sym typeface="Albert Sans"/>
            </a:endParaRPr>
          </a:p>
          <a:p>
            <a:pPr indent="0" lvl="0" marL="0" rtl="0" algn="l">
              <a:spcBef>
                <a:spcPts val="0"/>
              </a:spcBef>
              <a:spcAft>
                <a:spcPts val="0"/>
              </a:spcAft>
              <a:buNone/>
            </a:pPr>
            <a:r>
              <a:t/>
            </a:r>
            <a:endParaRPr sz="1300">
              <a:latin typeface="Albert Sans"/>
              <a:ea typeface="Albert Sans"/>
              <a:cs typeface="Albert Sans"/>
              <a:sym typeface="Albert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05"/>
          <p:cNvSpPr txBox="1"/>
          <p:nvPr>
            <p:ph type="title"/>
          </p:nvPr>
        </p:nvSpPr>
        <p:spPr>
          <a:xfrm>
            <a:off x="632475" y="53850"/>
            <a:ext cx="64941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89" name="Google Shape;789;p105"/>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startAt="5"/>
            </a:pPr>
            <a:r>
              <a:rPr lang="en" u="sng">
                <a:solidFill>
                  <a:schemeClr val="dk1"/>
                </a:solidFill>
                <a:latin typeface="Albert Sans"/>
                <a:ea typeface="Albert Sans"/>
                <a:cs typeface="Albert Sans"/>
                <a:sym typeface="Albert Sans"/>
              </a:rPr>
              <a:t>Model training, debugging and evaluation</a:t>
            </a:r>
            <a:endParaRPr u="sng">
              <a:solidFill>
                <a:schemeClr val="dk1"/>
              </a:solidFill>
              <a:latin typeface="Albert Sans"/>
              <a:ea typeface="Albert Sans"/>
              <a:cs typeface="Albert Sans"/>
              <a:sym typeface="Albert Sans"/>
            </a:endParaRPr>
          </a:p>
          <a:p>
            <a:pPr indent="0" lvl="0" marL="457200" rtl="0" algn="l">
              <a:spcBef>
                <a:spcPts val="0"/>
              </a:spcBef>
              <a:spcAft>
                <a:spcPts val="0"/>
              </a:spcAft>
              <a:buNone/>
            </a:pPr>
            <a:r>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AutoNum type="alphaLcPeriod"/>
            </a:pPr>
            <a:r>
              <a:rPr b="1" lang="en" sz="1300">
                <a:latin typeface="Albert Sans"/>
                <a:ea typeface="Albert Sans"/>
                <a:cs typeface="Albert Sans"/>
                <a:sym typeface="Albert Sans"/>
              </a:rPr>
              <a:t>Scikit-Learn</a:t>
            </a:r>
            <a:endParaRPr b="1" sz="1300">
              <a:latin typeface="Albert Sans"/>
              <a:ea typeface="Albert Sans"/>
              <a:cs typeface="Albert Sans"/>
              <a:sym typeface="Albert Sans"/>
            </a:endParaRPr>
          </a:p>
          <a:p>
            <a:pPr indent="0" lvl="0" marL="914400" rtl="0" algn="l">
              <a:spcBef>
                <a:spcPts val="0"/>
              </a:spcBef>
              <a:spcAft>
                <a:spcPts val="0"/>
              </a:spcAft>
              <a:buNone/>
            </a:pPr>
            <a:r>
              <a:t/>
            </a:r>
            <a:endParaRPr b="1" sz="1300">
              <a:latin typeface="Albert Sans"/>
              <a:ea typeface="Albert Sans"/>
              <a:cs typeface="Albert Sans"/>
              <a:sym typeface="Albert Sans"/>
            </a:endParaRPr>
          </a:p>
          <a:p>
            <a:pPr indent="-317500" lvl="0" marL="914400" rtl="0" algn="l">
              <a:spcBef>
                <a:spcPts val="0"/>
              </a:spcBef>
              <a:spcAft>
                <a:spcPts val="0"/>
              </a:spcAft>
              <a:buClr>
                <a:schemeClr val="dk1"/>
              </a:buClr>
              <a:buSzPts val="1400"/>
              <a:buFont typeface="Albert Sans"/>
              <a:buChar char="-"/>
            </a:pPr>
            <a:r>
              <a:rPr lang="en" sz="1300">
                <a:latin typeface="Albert Sans"/>
                <a:ea typeface="Albert Sans"/>
                <a:cs typeface="Albert Sans"/>
                <a:sym typeface="Albert Sans"/>
              </a:rPr>
              <a:t>Easier for quick prototyping, debugging, interpreting results, and experimenting.</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Model evaluation and transformation are straightforward.</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Subject to dataset size, the larger the dataset the more time it might take to run the Machine learning algorithms</a:t>
            </a:r>
            <a:endParaRPr sz="1300">
              <a:latin typeface="Albert Sans"/>
              <a:ea typeface="Albert Sans"/>
              <a:cs typeface="Albert Sans"/>
              <a:sym typeface="Albert Sans"/>
            </a:endParaRPr>
          </a:p>
          <a:p>
            <a:pPr indent="0" lvl="0" marL="1828800" rtl="0" algn="l">
              <a:spcBef>
                <a:spcPts val="0"/>
              </a:spcBef>
              <a:spcAft>
                <a:spcPts val="0"/>
              </a:spcAft>
              <a:buNone/>
            </a:pPr>
            <a:r>
              <a:t/>
            </a:r>
            <a:endParaRPr sz="1300">
              <a:latin typeface="Albert Sans"/>
              <a:ea typeface="Albert Sans"/>
              <a:cs typeface="Albert Sans"/>
              <a:sym typeface="Albert Sans"/>
            </a:endParaRPr>
          </a:p>
          <a:p>
            <a:pPr indent="-311150" lvl="1" marL="914400" rtl="0" algn="l">
              <a:spcBef>
                <a:spcPts val="0"/>
              </a:spcBef>
              <a:spcAft>
                <a:spcPts val="0"/>
              </a:spcAft>
              <a:buSzPts val="1300"/>
              <a:buFont typeface="Albert Sans"/>
              <a:buAutoNum type="alphaLcPeriod"/>
            </a:pPr>
            <a:r>
              <a:rPr b="1" lang="en" sz="1300">
                <a:latin typeface="Albert Sans"/>
                <a:ea typeface="Albert Sans"/>
                <a:cs typeface="Albert Sans"/>
                <a:sym typeface="Albert Sans"/>
              </a:rPr>
              <a:t>Spark MLib</a:t>
            </a:r>
            <a:endParaRPr b="1" sz="1300">
              <a:latin typeface="Albert Sans"/>
              <a:ea typeface="Albert Sans"/>
              <a:cs typeface="Albert Sans"/>
              <a:sym typeface="Albert Sans"/>
            </a:endParaRPr>
          </a:p>
          <a:p>
            <a:pPr indent="0" lvl="0" marL="0" rtl="0" algn="l">
              <a:spcBef>
                <a:spcPts val="0"/>
              </a:spcBef>
              <a:spcAft>
                <a:spcPts val="0"/>
              </a:spcAft>
              <a:buNone/>
            </a:pPr>
            <a:r>
              <a:t/>
            </a:r>
            <a:endParaRPr b="1"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More boilerplate and less visibility into internals.</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Debugging can be harder due to distributed nature, especially when errors occur across many nodes. It’s a tough challenge.</a:t>
            </a:r>
            <a:endParaRPr sz="1300">
              <a:latin typeface="Albert Sans"/>
              <a:ea typeface="Albert Sans"/>
              <a:cs typeface="Albert Sans"/>
              <a:sym typeface="Albert Sans"/>
            </a:endParaRPr>
          </a:p>
          <a:p>
            <a:pPr indent="-311150" lvl="0" marL="914400" rtl="0" algn="l">
              <a:spcBef>
                <a:spcPts val="0"/>
              </a:spcBef>
              <a:spcAft>
                <a:spcPts val="0"/>
              </a:spcAft>
              <a:buSzPts val="1300"/>
              <a:buFont typeface="Albert Sans"/>
              <a:buChar char="-"/>
            </a:pPr>
            <a:r>
              <a:rPr lang="en" sz="1300">
                <a:latin typeface="Albert Sans"/>
                <a:ea typeface="Albert Sans"/>
                <a:cs typeface="Albert Sans"/>
                <a:sym typeface="Albert Sans"/>
              </a:rPr>
              <a:t>Good for production on very large/streaming data, but not for exploratory/statistical work.</a:t>
            </a:r>
            <a:endParaRPr sz="1300">
              <a:latin typeface="Albert Sans"/>
              <a:ea typeface="Albert Sans"/>
              <a:cs typeface="Albert Sans"/>
              <a:sym typeface="Albert Sans"/>
            </a:endParaRPr>
          </a:p>
          <a:p>
            <a:pPr indent="0" lvl="0" marL="0" rtl="0" algn="l">
              <a:spcBef>
                <a:spcPts val="0"/>
              </a:spcBef>
              <a:spcAft>
                <a:spcPts val="0"/>
              </a:spcAft>
              <a:buNone/>
            </a:pPr>
            <a:r>
              <a:t/>
            </a:r>
            <a:endParaRPr sz="1300">
              <a:latin typeface="Albert Sans"/>
              <a:ea typeface="Albert Sans"/>
              <a:cs typeface="Albert Sans"/>
              <a:sym typeface="Albert San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6"/>
          <p:cNvSpPr txBox="1"/>
          <p:nvPr>
            <p:ph type="title"/>
          </p:nvPr>
        </p:nvSpPr>
        <p:spPr>
          <a:xfrm>
            <a:off x="632475" y="53850"/>
            <a:ext cx="8229300" cy="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Conclusion </a:t>
            </a:r>
            <a:br>
              <a:rPr lang="en" sz="2500"/>
            </a:br>
            <a:br>
              <a:rPr lang="en" sz="2500"/>
            </a:br>
            <a:r>
              <a:rPr lang="en" sz="1700"/>
              <a:t>Summary of </a:t>
            </a:r>
            <a:r>
              <a:rPr b="1" lang="en" sz="1700">
                <a:solidFill>
                  <a:srgbClr val="000000"/>
                </a:solidFill>
                <a:latin typeface="Arial"/>
                <a:ea typeface="Arial"/>
                <a:cs typeface="Arial"/>
                <a:sym typeface="Arial"/>
              </a:rPr>
              <a:t>Comparison Report: Spark MLlib vs Scikit-Learn</a:t>
            </a:r>
            <a:endParaRPr b="1" sz="17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400"/>
              </a:spcBef>
              <a:spcAft>
                <a:spcPts val="0"/>
              </a:spcAft>
              <a:buNone/>
            </a:pPr>
            <a:r>
              <a:t/>
            </a:r>
            <a:endParaRPr sz="2500"/>
          </a:p>
        </p:txBody>
      </p:sp>
      <p:sp>
        <p:nvSpPr>
          <p:cNvPr id="795" name="Google Shape;795;p106"/>
          <p:cNvSpPr txBox="1"/>
          <p:nvPr/>
        </p:nvSpPr>
        <p:spPr>
          <a:xfrm>
            <a:off x="846925" y="1363350"/>
            <a:ext cx="7219500" cy="321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t/>
            </a:r>
            <a:endParaRPr b="1" sz="1300"/>
          </a:p>
          <a:p>
            <a:pPr indent="-311150" lvl="0" marL="457200" rtl="0" algn="l">
              <a:lnSpc>
                <a:spcPct val="115000"/>
              </a:lnSpc>
              <a:spcBef>
                <a:spcPts val="1200"/>
              </a:spcBef>
              <a:spcAft>
                <a:spcPts val="0"/>
              </a:spcAft>
              <a:buSzPts val="1300"/>
              <a:buChar char="●"/>
            </a:pPr>
            <a:r>
              <a:rPr lang="en" sz="1300">
                <a:latin typeface="Albert Sans"/>
                <a:ea typeface="Albert Sans"/>
                <a:cs typeface="Albert Sans"/>
                <a:sym typeface="Albert Sans"/>
              </a:rPr>
              <a:t>Use </a:t>
            </a:r>
            <a:r>
              <a:rPr b="1" lang="en" sz="1300">
                <a:latin typeface="Albert Sans"/>
                <a:ea typeface="Albert Sans"/>
                <a:cs typeface="Albert Sans"/>
                <a:sym typeface="Albert Sans"/>
              </a:rPr>
              <a:t>Scikit-Learn</a:t>
            </a:r>
            <a:r>
              <a:rPr lang="en" sz="1300">
                <a:latin typeface="Albert Sans"/>
                <a:ea typeface="Albert Sans"/>
                <a:cs typeface="Albert Sans"/>
                <a:sym typeface="Albert Sans"/>
              </a:rPr>
              <a:t> when your data fits on one machine, you want rapid prototyping, interpretability, and access to the latest ML innovations.</a:t>
            </a:r>
            <a:br>
              <a:rPr lang="en" sz="1300">
                <a:latin typeface="Albert Sans"/>
                <a:ea typeface="Albert Sans"/>
                <a:cs typeface="Albert Sans"/>
                <a:sym typeface="Albert Sans"/>
              </a:rPr>
            </a:br>
            <a:endParaRPr sz="1300">
              <a:latin typeface="Albert Sans"/>
              <a:ea typeface="Albert Sans"/>
              <a:cs typeface="Albert Sans"/>
              <a:sym typeface="Albert Sans"/>
            </a:endParaRPr>
          </a:p>
          <a:p>
            <a:pPr indent="-311150" lvl="0" marL="457200" rtl="0" algn="l">
              <a:lnSpc>
                <a:spcPct val="115000"/>
              </a:lnSpc>
              <a:spcBef>
                <a:spcPts val="0"/>
              </a:spcBef>
              <a:spcAft>
                <a:spcPts val="0"/>
              </a:spcAft>
              <a:buSzPts val="1300"/>
              <a:buChar char="●"/>
            </a:pPr>
            <a:r>
              <a:rPr lang="en" sz="1300">
                <a:latin typeface="Albert Sans"/>
                <a:ea typeface="Albert Sans"/>
                <a:cs typeface="Albert Sans"/>
                <a:sym typeface="Albert Sans"/>
              </a:rPr>
              <a:t>Use </a:t>
            </a:r>
            <a:r>
              <a:rPr b="1" lang="en" sz="1300">
                <a:latin typeface="Albert Sans"/>
                <a:ea typeface="Albert Sans"/>
                <a:cs typeface="Albert Sans"/>
                <a:sym typeface="Albert Sans"/>
              </a:rPr>
              <a:t>Spark MLlib</a:t>
            </a:r>
            <a:r>
              <a:rPr lang="en" sz="1300">
                <a:latin typeface="Albert Sans"/>
                <a:ea typeface="Albert Sans"/>
                <a:cs typeface="Albert Sans"/>
                <a:sym typeface="Albert Sans"/>
              </a:rPr>
              <a:t> when your dataset is very large, distributed data processing is required, or you’re embedding ML into a Spark-based ETL or big data workflow.</a:t>
            </a:r>
            <a:br>
              <a:rPr lang="en" sz="1300">
                <a:latin typeface="Albert Sans"/>
                <a:ea typeface="Albert Sans"/>
                <a:cs typeface="Albert Sans"/>
                <a:sym typeface="Albert Sans"/>
              </a:rPr>
            </a:br>
            <a:endParaRPr sz="1300">
              <a:latin typeface="Albert Sans"/>
              <a:ea typeface="Albert Sans"/>
              <a:cs typeface="Albert Sans"/>
              <a:sym typeface="Albert Sans"/>
            </a:endParaRPr>
          </a:p>
          <a:p>
            <a:pPr indent="-311150" lvl="0" marL="457200" rtl="0" algn="l">
              <a:lnSpc>
                <a:spcPct val="115000"/>
              </a:lnSpc>
              <a:spcBef>
                <a:spcPts val="0"/>
              </a:spcBef>
              <a:spcAft>
                <a:spcPts val="0"/>
              </a:spcAft>
              <a:buSzPts val="1300"/>
              <a:buFont typeface="Albert Sans"/>
              <a:buChar char="●"/>
            </a:pPr>
            <a:r>
              <a:rPr lang="en" sz="1300">
                <a:latin typeface="Albert Sans"/>
                <a:ea typeface="Albert Sans"/>
                <a:cs typeface="Albert Sans"/>
                <a:sym typeface="Albert Sans"/>
              </a:rPr>
              <a:t>For many real-world projects, teams might prototype models in </a:t>
            </a:r>
            <a:r>
              <a:rPr b="1" lang="en" sz="1300">
                <a:latin typeface="Albert Sans"/>
                <a:ea typeface="Albert Sans"/>
                <a:cs typeface="Albert Sans"/>
                <a:sym typeface="Albert Sans"/>
              </a:rPr>
              <a:t>Scikit-Learn </a:t>
            </a:r>
            <a:r>
              <a:rPr lang="en" sz="1300">
                <a:latin typeface="Albert Sans"/>
                <a:ea typeface="Albert Sans"/>
                <a:cs typeface="Albert Sans"/>
                <a:sym typeface="Albert Sans"/>
              </a:rPr>
              <a:t>and move only necessary production code to </a:t>
            </a:r>
            <a:r>
              <a:rPr b="1" lang="en" sz="1300">
                <a:latin typeface="Albert Sans"/>
                <a:ea typeface="Albert Sans"/>
                <a:cs typeface="Albert Sans"/>
                <a:sym typeface="Albert Sans"/>
              </a:rPr>
              <a:t>Spark MLlib</a:t>
            </a:r>
            <a:r>
              <a:rPr lang="en" sz="1300">
                <a:latin typeface="Albert Sans"/>
                <a:ea typeface="Albert Sans"/>
                <a:cs typeface="Albert Sans"/>
                <a:sym typeface="Albert Sans"/>
              </a:rPr>
              <a:t> when scaling is required.</a:t>
            </a:r>
            <a:endParaRPr sz="1300">
              <a:latin typeface="Albert Sans"/>
              <a:ea typeface="Albert Sans"/>
              <a:cs typeface="Albert Sans"/>
              <a:sym typeface="Albert Sans"/>
            </a:endParaRPr>
          </a:p>
          <a:p>
            <a:pPr indent="0" lvl="0" marL="0" rtl="0" algn="l">
              <a:spcBef>
                <a:spcPts val="1200"/>
              </a:spcBef>
              <a:spcAft>
                <a:spcPts val="0"/>
              </a:spcAft>
              <a:buNone/>
            </a:pPr>
            <a:r>
              <a:t/>
            </a:r>
            <a:endParaRPr sz="1300" u="sng">
              <a:solidFill>
                <a:schemeClr val="dk1"/>
              </a:solidFill>
              <a:latin typeface="Albert Sans"/>
              <a:ea typeface="Albert Sans"/>
              <a:cs typeface="Albert Sans"/>
              <a:sym typeface="Albert San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07"/>
          <p:cNvSpPr txBox="1"/>
          <p:nvPr>
            <p:ph idx="4294967295" type="ctrTitle"/>
          </p:nvPr>
        </p:nvSpPr>
        <p:spPr>
          <a:xfrm>
            <a:off x="2021325" y="1570150"/>
            <a:ext cx="5617800" cy="164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7000"/>
              <a:t>Thank You!</a:t>
            </a:r>
            <a:endParaRPr sz="7000"/>
          </a:p>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08"/>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806" name="Google Shape;806;p108"/>
          <p:cNvSpPr txBox="1"/>
          <p:nvPr>
            <p:ph idx="4294967295" type="body"/>
          </p:nvPr>
        </p:nvSpPr>
        <p:spPr>
          <a:xfrm>
            <a:off x="715100" y="1083700"/>
            <a:ext cx="7713900" cy="3627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https://medium.com/@wl8380/how-to-mount-google-drive-in-google-colab-c688ec8eccb7</a:t>
            </a:r>
            <a:endParaRPr/>
          </a:p>
          <a:p>
            <a:pPr indent="0" lvl="0" marL="0" rtl="0" algn="l">
              <a:spcBef>
                <a:spcPts val="1000"/>
              </a:spcBef>
              <a:spcAft>
                <a:spcPts val="0"/>
              </a:spcAft>
              <a:buNone/>
            </a:pPr>
            <a:r>
              <a:rPr lang="en" u="sng">
                <a:solidFill>
                  <a:schemeClr val="hlink"/>
                </a:solidFill>
                <a:hlinkClick r:id="rId4"/>
              </a:rPr>
              <a:t>https://spark.apache.org/docs/latest/sql-data-sources-csv.html</a:t>
            </a:r>
            <a:endParaRPr/>
          </a:p>
          <a:p>
            <a:pPr indent="0" lvl="0" marL="0" rtl="0" algn="l">
              <a:spcBef>
                <a:spcPts val="1000"/>
              </a:spcBef>
              <a:spcAft>
                <a:spcPts val="0"/>
              </a:spcAft>
              <a:buNone/>
            </a:pPr>
            <a:r>
              <a:rPr lang="en" u="sng">
                <a:solidFill>
                  <a:schemeClr val="hlink"/>
                </a:solidFill>
                <a:hlinkClick r:id="rId5"/>
              </a:rPr>
              <a:t>https://www.geeksforgeeks.org/python/detect-encoding-of-csv-file-in-python</a:t>
            </a:r>
            <a:endParaRPr/>
          </a:p>
          <a:p>
            <a:pPr indent="0" lvl="0" marL="0" rtl="0" algn="l">
              <a:spcBef>
                <a:spcPts val="1000"/>
              </a:spcBef>
              <a:spcAft>
                <a:spcPts val="0"/>
              </a:spcAft>
              <a:buNone/>
            </a:pPr>
            <a:r>
              <a:rPr lang="en" u="sng">
                <a:solidFill>
                  <a:schemeClr val="hlink"/>
                </a:solidFill>
                <a:hlinkClick r:id="rId6"/>
              </a:rPr>
              <a:t>https://www.geeksforgeeks.org/computer-science-fundamentals/reading-rows-from-a-csv-file-in-python/</a:t>
            </a:r>
            <a:endParaRPr/>
          </a:p>
          <a:p>
            <a:pPr indent="0" lvl="0" marL="0" rtl="0" algn="l">
              <a:spcBef>
                <a:spcPts val="1000"/>
              </a:spcBef>
              <a:spcAft>
                <a:spcPts val="0"/>
              </a:spcAft>
              <a:buNone/>
            </a:pPr>
            <a:r>
              <a:rPr lang="en" u="sng">
                <a:solidFill>
                  <a:schemeClr val="hlink"/>
                </a:solidFill>
                <a:hlinkClick r:id="rId7"/>
              </a:rPr>
              <a:t>https://sparkbyexamples.com/pyspark/how-to-import-pyspark-in-python-script</a:t>
            </a:r>
            <a:endParaRPr/>
          </a:p>
          <a:p>
            <a:pPr indent="0" lvl="0" marL="0" rtl="0" algn="l">
              <a:spcBef>
                <a:spcPts val="1000"/>
              </a:spcBef>
              <a:spcAft>
                <a:spcPts val="0"/>
              </a:spcAft>
              <a:buNone/>
            </a:pPr>
            <a:r>
              <a:rPr lang="en" u="sng">
                <a:solidFill>
                  <a:schemeClr val="hlink"/>
                </a:solidFill>
                <a:hlinkClick r:id="rId8"/>
              </a:rPr>
              <a:t>https://www.datacamp.com/tutorial/pyspark-read-csv</a:t>
            </a:r>
            <a:endParaRPr/>
          </a:p>
          <a:p>
            <a:pPr indent="0" lvl="0" marL="0" rtl="0" algn="l">
              <a:spcBef>
                <a:spcPts val="1000"/>
              </a:spcBef>
              <a:spcAft>
                <a:spcPts val="0"/>
              </a:spcAft>
              <a:buNone/>
            </a:pPr>
            <a:r>
              <a:rPr lang="en" u="sng">
                <a:solidFill>
                  <a:schemeClr val="hlink"/>
                </a:solidFill>
                <a:hlinkClick r:id="rId9"/>
              </a:rPr>
              <a:t>https://spark.apache.org/docs/latest/sql-data-sources-csv.html</a:t>
            </a:r>
            <a:endParaRPr/>
          </a:p>
          <a:p>
            <a:pPr indent="0" lvl="0" marL="0" rtl="0" algn="l">
              <a:spcBef>
                <a:spcPts val="1000"/>
              </a:spcBef>
              <a:spcAft>
                <a:spcPts val="0"/>
              </a:spcAft>
              <a:buNone/>
            </a:pPr>
            <a:r>
              <a:rPr lang="en" u="sng">
                <a:solidFill>
                  <a:schemeClr val="hlink"/>
                </a:solidFill>
                <a:hlinkClick r:id="rId10"/>
              </a:rPr>
              <a:t>https://www.datacamp.com/tutorial/pyspark-read-csv</a:t>
            </a:r>
            <a:endParaRPr/>
          </a:p>
          <a:p>
            <a:pPr indent="0" lvl="0" marL="0" rtl="0" algn="l">
              <a:spcBef>
                <a:spcPts val="1000"/>
              </a:spcBef>
              <a:spcAft>
                <a:spcPts val="0"/>
              </a:spcAft>
              <a:buNone/>
            </a:pPr>
            <a:r>
              <a:rPr lang="en" u="sng">
                <a:solidFill>
                  <a:schemeClr val="hlink"/>
                </a:solidFill>
                <a:hlinkClick r:id="rId11"/>
              </a:rPr>
              <a:t>https://spark.apache.org/docs/latest/sql-ref-datatypes.html</a:t>
            </a:r>
            <a:endParaRPr/>
          </a:p>
          <a:p>
            <a:pPr indent="0" lvl="0" marL="0" rtl="0" algn="l">
              <a:spcBef>
                <a:spcPts val="1000"/>
              </a:spcBef>
              <a:spcAft>
                <a:spcPts val="0"/>
              </a:spcAft>
              <a:buNone/>
            </a:pPr>
            <a:r>
              <a:rPr lang="en" u="sng">
                <a:solidFill>
                  <a:schemeClr val="hlink"/>
                </a:solidFill>
                <a:hlinkClick r:id="rId12"/>
              </a:rPr>
              <a:t>https://sparkbyexamples.com/pyspark/pyspark-update-a-column-with-value/</a:t>
            </a:r>
            <a:endParaRPr/>
          </a:p>
          <a:p>
            <a:pPr indent="0" lvl="0" marL="0" rtl="0" algn="l">
              <a:spcBef>
                <a:spcPts val="1000"/>
              </a:spcBef>
              <a:spcAft>
                <a:spcPts val="1000"/>
              </a:spcAft>
              <a:buNone/>
            </a:pPr>
            <a:r>
              <a:rPr lang="en" u="sng">
                <a:solidFill>
                  <a:schemeClr val="hlink"/>
                </a:solidFill>
                <a:hlinkClick r:id="rId13"/>
              </a:rPr>
              <a:t>https://sparkbyexamples.com/pyspark/pyspark-fillna-fill-replace-null-values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9"/>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812" name="Google Shape;812;p109"/>
          <p:cNvSpPr txBox="1"/>
          <p:nvPr>
            <p:ph idx="4294967295" type="body"/>
          </p:nvPr>
        </p:nvSpPr>
        <p:spPr>
          <a:xfrm>
            <a:off x="715100" y="1083700"/>
            <a:ext cx="7713900" cy="3627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https://stackoverflow.com/questions/56160196/how-to-extract-the-numeric-part-from-a-string-column-in-spark</a:t>
            </a:r>
            <a:endParaRPr/>
          </a:p>
          <a:p>
            <a:pPr indent="0" lvl="0" marL="0" rtl="0" algn="l">
              <a:spcBef>
                <a:spcPts val="1000"/>
              </a:spcBef>
              <a:spcAft>
                <a:spcPts val="0"/>
              </a:spcAft>
              <a:buNone/>
            </a:pPr>
            <a:r>
              <a:rPr lang="en" u="sng">
                <a:solidFill>
                  <a:schemeClr val="hlink"/>
                </a:solidFill>
                <a:hlinkClick r:id="rId4"/>
              </a:rPr>
              <a:t>https://www.geeksforgeeks.org/data-science/pair-plots-using-scatter-matrix-in-pandas/</a:t>
            </a:r>
            <a:endParaRPr/>
          </a:p>
          <a:p>
            <a:pPr indent="0" lvl="0" marL="0" rtl="0" algn="l">
              <a:spcBef>
                <a:spcPts val="1000"/>
              </a:spcBef>
              <a:spcAft>
                <a:spcPts val="0"/>
              </a:spcAft>
              <a:buNone/>
            </a:pPr>
            <a:r>
              <a:rPr lang="en" u="sng">
                <a:solidFill>
                  <a:schemeClr val="hlink"/>
                </a:solidFill>
                <a:hlinkClick r:id="rId5"/>
              </a:rPr>
              <a:t>https://stackoverflow.com/questions/50958721/convert-a-spark-dataframe-to-pandas-df</a:t>
            </a:r>
            <a:endParaRPr/>
          </a:p>
          <a:p>
            <a:pPr indent="0" lvl="0" marL="0" rtl="0" algn="l">
              <a:spcBef>
                <a:spcPts val="1000"/>
              </a:spcBef>
              <a:spcAft>
                <a:spcPts val="0"/>
              </a:spcAft>
              <a:buNone/>
            </a:pPr>
            <a:r>
              <a:rPr lang="en" u="sng">
                <a:solidFill>
                  <a:schemeClr val="hlink"/>
                </a:solidFill>
                <a:hlinkClick r:id="rId6"/>
              </a:rPr>
              <a:t>https://www.statology.org/pyspark-select-rows-based-on-column-values/</a:t>
            </a:r>
            <a:endParaRPr/>
          </a:p>
          <a:p>
            <a:pPr indent="0" lvl="0" marL="0" rtl="0" algn="l">
              <a:spcBef>
                <a:spcPts val="1000"/>
              </a:spcBef>
              <a:spcAft>
                <a:spcPts val="0"/>
              </a:spcAft>
              <a:buNone/>
            </a:pPr>
            <a:r>
              <a:rPr lang="en" u="sng">
                <a:solidFill>
                  <a:schemeClr val="hlink"/>
                </a:solidFill>
                <a:hlinkClick r:id="rId7"/>
              </a:rPr>
              <a:t>https://www.geeksforgeeks.org/python/how-to-create-boxplot-from-pandas-dataframe/</a:t>
            </a:r>
            <a:endParaRPr/>
          </a:p>
          <a:p>
            <a:pPr indent="0" lvl="0" marL="0" rtl="0" algn="l">
              <a:spcBef>
                <a:spcPts val="1000"/>
              </a:spcBef>
              <a:spcAft>
                <a:spcPts val="0"/>
              </a:spcAft>
              <a:buNone/>
            </a:pPr>
            <a:r>
              <a:rPr lang="en" u="sng">
                <a:solidFill>
                  <a:schemeClr val="hlink"/>
                </a:solidFill>
                <a:hlinkClick r:id="rId8"/>
              </a:rPr>
              <a:t>https://www.geeksforgeeks.org/python/drop-rows-in-pyspark-dataframe-with-condition/</a:t>
            </a:r>
            <a:endParaRPr/>
          </a:p>
          <a:p>
            <a:pPr indent="0" lvl="0" marL="0" rtl="0" algn="l">
              <a:spcBef>
                <a:spcPts val="1000"/>
              </a:spcBef>
              <a:spcAft>
                <a:spcPts val="0"/>
              </a:spcAft>
              <a:buNone/>
            </a:pPr>
            <a:r>
              <a:rPr lang="en" u="sng">
                <a:solidFill>
                  <a:schemeClr val="hlink"/>
                </a:solidFill>
                <a:hlinkClick r:id="rId9"/>
              </a:rPr>
              <a:t>https://spark.apache.org/docs/latest/api/python/reference/api/pyspark.ml.feature.RFormula.htm</a:t>
            </a:r>
            <a:endParaRPr/>
          </a:p>
          <a:p>
            <a:pPr indent="0" lvl="0" marL="0" rtl="0" algn="l">
              <a:spcBef>
                <a:spcPts val="1000"/>
              </a:spcBef>
              <a:spcAft>
                <a:spcPts val="0"/>
              </a:spcAft>
              <a:buNone/>
            </a:pPr>
            <a:r>
              <a:rPr lang="en" u="sng">
                <a:solidFill>
                  <a:schemeClr val="hlink"/>
                </a:solidFill>
                <a:hlinkClick r:id="rId10"/>
              </a:rPr>
              <a:t>https://community.getorchestra.io/apache-foundation/apache-spark-java-api-rformula/</a:t>
            </a:r>
            <a:endParaRPr/>
          </a:p>
          <a:p>
            <a:pPr indent="0" lvl="0" marL="0" rtl="0" algn="l">
              <a:spcBef>
                <a:spcPts val="1000"/>
              </a:spcBef>
              <a:spcAft>
                <a:spcPts val="0"/>
              </a:spcAft>
              <a:buNone/>
            </a:pPr>
            <a:r>
              <a:rPr lang="en" u="sng">
                <a:solidFill>
                  <a:schemeClr val="hlink"/>
                </a:solidFill>
                <a:hlinkClick r:id="rId11"/>
              </a:rPr>
              <a:t>https://www.geeksforgeeks.org/python/spark-split-array-to-separate-column/</a:t>
            </a:r>
            <a:endParaRPr/>
          </a:p>
          <a:p>
            <a:pPr indent="0" lvl="0" marL="0" rtl="0" algn="l">
              <a:spcBef>
                <a:spcPts val="1000"/>
              </a:spcBef>
              <a:spcAft>
                <a:spcPts val="1000"/>
              </a:spcAft>
              <a:buNone/>
            </a:pPr>
            <a:r>
              <a:rPr lang="en" u="sng">
                <a:solidFill>
                  <a:schemeClr val="hlink"/>
                </a:solidFill>
                <a:hlinkClick r:id="rId12"/>
              </a:rPr>
              <a:t>https://spark.apache.org/docs/latest/api/python/reference/pyspark.sql/functions.html#array-functions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1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818" name="Google Shape;818;p110"/>
          <p:cNvSpPr txBox="1"/>
          <p:nvPr>
            <p:ph idx="4294967295" type="body"/>
          </p:nvPr>
        </p:nvSpPr>
        <p:spPr>
          <a:xfrm>
            <a:off x="715100" y="1083700"/>
            <a:ext cx="7713900" cy="3627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https://medium.com/@shuklaprashant9264/iterate-over-elements-of-array-column-in-pyspark-dataframe-6ec92467d3e4</a:t>
            </a:r>
            <a:endParaRPr/>
          </a:p>
          <a:p>
            <a:pPr indent="0" lvl="0" marL="0" rtl="0" algn="l">
              <a:spcBef>
                <a:spcPts val="1000"/>
              </a:spcBef>
              <a:spcAft>
                <a:spcPts val="0"/>
              </a:spcAft>
              <a:buNone/>
            </a:pPr>
            <a:r>
              <a:rPr lang="en" u="sng">
                <a:solidFill>
                  <a:schemeClr val="hlink"/>
                </a:solidFill>
                <a:hlinkClick r:id="rId4"/>
              </a:rPr>
              <a:t>https://spark.apache.org/docs/latest/api/python/reference/pyspark.sql/api/pyspark.sql.functions.explode_outer.html#pyspark.sql.functions.explode_outer</a:t>
            </a:r>
            <a:endParaRPr/>
          </a:p>
          <a:p>
            <a:pPr indent="0" lvl="0" marL="0" rtl="0" algn="l">
              <a:spcBef>
                <a:spcPts val="1000"/>
              </a:spcBef>
              <a:spcAft>
                <a:spcPts val="0"/>
              </a:spcAft>
              <a:buNone/>
            </a:pPr>
            <a:r>
              <a:rPr lang="en" u="sng">
                <a:solidFill>
                  <a:schemeClr val="hlink"/>
                </a:solidFill>
                <a:hlinkClick r:id="rId5"/>
              </a:rPr>
              <a:t>https://antonhaugen.medium.com/feature-selection-with-pyspark-a172d214f0b7</a:t>
            </a:r>
            <a:endParaRPr/>
          </a:p>
          <a:p>
            <a:pPr indent="0" lvl="0" marL="0" rtl="0" algn="l">
              <a:spcBef>
                <a:spcPts val="1000"/>
              </a:spcBef>
              <a:spcAft>
                <a:spcPts val="0"/>
              </a:spcAft>
              <a:buNone/>
            </a:pPr>
            <a:r>
              <a:rPr lang="en" u="sng">
                <a:solidFill>
                  <a:schemeClr val="hlink"/>
                </a:solidFill>
                <a:hlinkClick r:id="rId6"/>
              </a:rPr>
              <a:t>https://www.statology.org/pyspark-train-test-split/</a:t>
            </a:r>
            <a:endParaRPr/>
          </a:p>
          <a:p>
            <a:pPr indent="0" lvl="0" marL="0" rtl="0" algn="l">
              <a:spcBef>
                <a:spcPts val="1000"/>
              </a:spcBef>
              <a:spcAft>
                <a:spcPts val="0"/>
              </a:spcAft>
              <a:buNone/>
            </a:pPr>
            <a:r>
              <a:rPr lang="en" u="sng">
                <a:solidFill>
                  <a:schemeClr val="hlink"/>
                </a:solidFill>
                <a:hlinkClick r:id="rId7"/>
              </a:rPr>
              <a:t>https://sparkbyexamples.com/pyspark/pyspark-count-distinct-from-dataframe/</a:t>
            </a:r>
            <a:endParaRPr/>
          </a:p>
          <a:p>
            <a:pPr indent="0" lvl="0" marL="0" rtl="0" algn="l">
              <a:spcBef>
                <a:spcPts val="1000"/>
              </a:spcBef>
              <a:spcAft>
                <a:spcPts val="0"/>
              </a:spcAft>
              <a:buNone/>
            </a:pPr>
            <a:r>
              <a:rPr lang="en" u="sng">
                <a:solidFill>
                  <a:schemeClr val="hlink"/>
                </a:solidFill>
                <a:hlinkClick r:id="rId8"/>
              </a:rPr>
              <a:t>https://www.statology.org/pyspark-count-null-values/</a:t>
            </a:r>
            <a:endParaRPr/>
          </a:p>
          <a:p>
            <a:pPr indent="0" lvl="0" marL="0" rtl="0" algn="l">
              <a:spcBef>
                <a:spcPts val="1000"/>
              </a:spcBef>
              <a:spcAft>
                <a:spcPts val="0"/>
              </a:spcAft>
              <a:buNone/>
            </a:pPr>
            <a:r>
              <a:rPr lang="en" u="sng">
                <a:solidFill>
                  <a:schemeClr val="hlink"/>
                </a:solidFill>
                <a:hlinkClick r:id="rId9"/>
              </a:rPr>
              <a:t>https://www.geeksforgeeks.org/machine-learning/ml-gradient-boosting/</a:t>
            </a:r>
            <a:endParaRPr/>
          </a:p>
          <a:p>
            <a:pPr indent="0" lvl="0" marL="0" rtl="0" algn="l">
              <a:spcBef>
                <a:spcPts val="1000"/>
              </a:spcBef>
              <a:spcAft>
                <a:spcPts val="0"/>
              </a:spcAft>
              <a:buNone/>
            </a:pPr>
            <a:r>
              <a:rPr lang="en" u="sng">
                <a:solidFill>
                  <a:schemeClr val="hlink"/>
                </a:solidFill>
                <a:hlinkClick r:id="rId10"/>
              </a:rPr>
              <a:t>https://www.geeksforgeeks.org/machine-learning/gradient-descent-algorithm-and-its-variants/</a:t>
            </a:r>
            <a:endParaRPr/>
          </a:p>
          <a:p>
            <a:pPr indent="0" lvl="0" marL="0" rtl="0" algn="l">
              <a:spcBef>
                <a:spcPts val="1000"/>
              </a:spcBef>
              <a:spcAft>
                <a:spcPts val="0"/>
              </a:spcAft>
              <a:buNone/>
            </a:pPr>
            <a:r>
              <a:rPr lang="en" u="sng">
                <a:solidFill>
                  <a:schemeClr val="hlink"/>
                </a:solidFill>
                <a:hlinkClick r:id="rId11"/>
              </a:rPr>
              <a:t>https://www.datacamp.com/tutorial/guide-to-the-gradient-boosting-algorithm</a:t>
            </a:r>
            <a:endParaRPr/>
          </a:p>
          <a:p>
            <a:pPr indent="0" lvl="0" marL="0" rtl="0" algn="l">
              <a:spcBef>
                <a:spcPts val="1000"/>
              </a:spcBef>
              <a:spcAft>
                <a:spcPts val="1000"/>
              </a:spcAft>
              <a:buNone/>
            </a:pPr>
            <a:r>
              <a:rPr lang="en" u="sng">
                <a:solidFill>
                  <a:schemeClr val="hlink"/>
                </a:solidFill>
                <a:hlinkClick r:id="rId12"/>
              </a:rPr>
              <a:t>https://spark.apache.org/docs/latest/api/python/reference/api/pyspark.ml.classification.GBTClassifier.html</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1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824" name="Google Shape;824;p111"/>
          <p:cNvSpPr txBox="1"/>
          <p:nvPr>
            <p:ph idx="4294967295" type="body"/>
          </p:nvPr>
        </p:nvSpPr>
        <p:spPr>
          <a:xfrm>
            <a:off x="715100" y="1083700"/>
            <a:ext cx="7713900" cy="3627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https://www.machinelearningplus.com/pyspark/pyspark-gradient-boosting-model/</a:t>
            </a:r>
            <a:endParaRPr/>
          </a:p>
          <a:p>
            <a:pPr indent="0" lvl="0" marL="0" rtl="0" algn="l">
              <a:spcBef>
                <a:spcPts val="1000"/>
              </a:spcBef>
              <a:spcAft>
                <a:spcPts val="0"/>
              </a:spcAft>
              <a:buNone/>
            </a:pPr>
            <a:r>
              <a:rPr lang="en" u="sng">
                <a:solidFill>
                  <a:schemeClr val="hlink"/>
                </a:solidFill>
                <a:hlinkClick r:id="rId4"/>
              </a:rPr>
              <a:t>https://medium.com/analytics-vidhya/mae-mse-rmse-coefficient-of-determination-adjusted-r-squared-which-metric-is-better-cd0326a5697e</a:t>
            </a:r>
            <a:endParaRPr/>
          </a:p>
          <a:p>
            <a:pPr indent="0" lvl="0" marL="0" rtl="0" algn="l">
              <a:spcBef>
                <a:spcPts val="1000"/>
              </a:spcBef>
              <a:spcAft>
                <a:spcPts val="0"/>
              </a:spcAft>
              <a:buNone/>
            </a:pPr>
            <a:r>
              <a:rPr lang="en" u="sng">
                <a:solidFill>
                  <a:schemeClr val="hlink"/>
                </a:solidFill>
                <a:hlinkClick r:id="rId5"/>
              </a:rPr>
              <a:t>https://www.geeksforgeeks.org/machine-learning/ml-linear-regression/</a:t>
            </a:r>
            <a:endParaRPr/>
          </a:p>
          <a:p>
            <a:pPr indent="0" lvl="0" marL="0" rtl="0" algn="l">
              <a:spcBef>
                <a:spcPts val="1000"/>
              </a:spcBef>
              <a:spcAft>
                <a:spcPts val="0"/>
              </a:spcAft>
              <a:buNone/>
            </a:pPr>
            <a:r>
              <a:rPr lang="en" u="sng">
                <a:solidFill>
                  <a:schemeClr val="hlink"/>
                </a:solidFill>
                <a:hlinkClick r:id="rId6"/>
              </a:rPr>
              <a:t>https://www.geeksforgeeks.org/machine-learning/ml-multiple-linear-regression-using-python/</a:t>
            </a:r>
            <a:endParaRPr/>
          </a:p>
          <a:p>
            <a:pPr indent="0" lvl="0" marL="0" rtl="0" algn="l">
              <a:spcBef>
                <a:spcPts val="1000"/>
              </a:spcBef>
              <a:spcAft>
                <a:spcPts val="0"/>
              </a:spcAft>
              <a:buNone/>
            </a:pPr>
            <a:r>
              <a:rPr lang="en" u="sng">
                <a:solidFill>
                  <a:schemeClr val="hlink"/>
                </a:solidFill>
                <a:hlinkClick r:id="rId7"/>
              </a:rPr>
              <a:t>https://en.wikipedia.org/wiki/Tikhonov_regularization</a:t>
            </a:r>
            <a:endParaRPr/>
          </a:p>
          <a:p>
            <a:pPr indent="0" lvl="0" marL="0" rtl="0" algn="l">
              <a:spcBef>
                <a:spcPts val="1000"/>
              </a:spcBef>
              <a:spcAft>
                <a:spcPts val="0"/>
              </a:spcAft>
              <a:buNone/>
            </a:pPr>
            <a:r>
              <a:rPr lang="en" u="sng">
                <a:solidFill>
                  <a:schemeClr val="hlink"/>
                </a:solidFill>
                <a:hlinkClick r:id="rId8"/>
              </a:rPr>
              <a:t>https://en.wikipedia.org/wiki/Lasso_(statistics))</a:t>
            </a:r>
            <a:endParaRPr/>
          </a:p>
          <a:p>
            <a:pPr indent="0" lvl="0" marL="0" rtl="0" algn="l">
              <a:spcBef>
                <a:spcPts val="1000"/>
              </a:spcBef>
              <a:spcAft>
                <a:spcPts val="0"/>
              </a:spcAft>
              <a:buNone/>
            </a:pPr>
            <a:r>
              <a:rPr lang="en" u="sng">
                <a:solidFill>
                  <a:schemeClr val="hlink"/>
                </a:solidFill>
                <a:hlinkClick r:id="rId9"/>
              </a:rPr>
              <a:t>https://spark.apache.org/docs/latest/ml-classification-regression.html#linear-regression</a:t>
            </a:r>
            <a:endParaRPr/>
          </a:p>
          <a:p>
            <a:pPr indent="0" lvl="0" marL="0" rtl="0" algn="l">
              <a:spcBef>
                <a:spcPts val="1000"/>
              </a:spcBef>
              <a:spcAft>
                <a:spcPts val="0"/>
              </a:spcAft>
              <a:buNone/>
            </a:pPr>
            <a:r>
              <a:rPr lang="en" u="sng">
                <a:solidFill>
                  <a:schemeClr val="hlink"/>
                </a:solidFill>
                <a:hlinkClick r:id="rId10"/>
              </a:rPr>
              <a:t>https://www.meegle.com/en_us/topics/fine-tuning/fine-tuning-for-linear-regression</a:t>
            </a:r>
            <a:endParaRPr/>
          </a:p>
          <a:p>
            <a:pPr indent="0" lvl="0" marL="0" rtl="0" algn="l">
              <a:spcBef>
                <a:spcPts val="1000"/>
              </a:spcBef>
              <a:spcAft>
                <a:spcPts val="0"/>
              </a:spcAft>
              <a:buNone/>
            </a:pPr>
            <a:r>
              <a:rPr lang="en" u="sng">
                <a:solidFill>
                  <a:schemeClr val="hlink"/>
                </a:solidFill>
                <a:hlinkClick r:id="rId11"/>
              </a:rPr>
              <a:t>https://spark.apache.org/docs/latest/api/python/reference/api/pyspark.ml.regression.LinearRegression.html#pyspark.ml.regression.LinearRegression.maxIter</a:t>
            </a:r>
            <a:endParaRPr/>
          </a:p>
          <a:p>
            <a:pPr indent="0" lvl="0" marL="0" rtl="0" algn="l">
              <a:spcBef>
                <a:spcPts val="1000"/>
              </a:spcBef>
              <a:spcAft>
                <a:spcPts val="0"/>
              </a:spcAft>
              <a:buNone/>
            </a:pPr>
            <a:r>
              <a:rPr lang="en" u="sng">
                <a:solidFill>
                  <a:schemeClr val="hlink"/>
                </a:solidFill>
                <a:hlinkClick r:id="rId12"/>
              </a:rPr>
              <a:t>https://spark.apache.org/docs/latest/ml-classification-regression.html#linear-regression </a:t>
            </a:r>
            <a:endParaRPr/>
          </a:p>
          <a:p>
            <a:pPr indent="0" lvl="0" marL="0" rtl="0" algn="l">
              <a:spcBef>
                <a:spcPts val="1000"/>
              </a:spcBef>
              <a:spcAft>
                <a:spcPts val="100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830" name="Google Shape;830;p112"/>
          <p:cNvSpPr txBox="1"/>
          <p:nvPr>
            <p:ph idx="4294967295" type="body"/>
          </p:nvPr>
        </p:nvSpPr>
        <p:spPr>
          <a:xfrm>
            <a:off x="715100" y="1083700"/>
            <a:ext cx="7713900" cy="3627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u="sng">
                <a:solidFill>
                  <a:schemeClr val="hlink"/>
                </a:solidFill>
                <a:hlinkClick r:id="rId3"/>
              </a:rPr>
              <a:t>ttps://www.geeksforgeeks.org/machine-learning/ml-multiple-linear-regression-using-python/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